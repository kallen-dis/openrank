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Override ContentType="application/vnd.openxmlformats-officedocument.presentationml.slide+xml" PartName="/ppt/slides/slide.xml"/>
  <Override ContentType="application/vnd.openxmlformats-officedocument.presentationml.slide+xml" PartName="/ppt/slides/slide2.xml"/>
  <Override ContentType="application/vnd.openxmlformats-officedocument.presentationml.slide+xml" PartName="/ppt/slides/slide3.xml"/>
  <Default Extension="jpg" ContentType="image/jpeg"/>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custom-properties+xml" PartName="/docProps/custom.xml"/>
</Types>
</file>

<file path=_rels/.rels><?xml version="1.0" encoding="UTF-8" standalone="yes"?>
<Relationships xmlns="http://schemas.openxmlformats.org/package/2006/relationships">
<Relationship Target="ppt/presentation.xml" Type="http://schemas.openxmlformats.org/officeDocument/2006/relationships/officeDocument" Id="rId1"/>
<Relationship Target="docProps/thumbnail.jpeg" Type="http://schemas.openxmlformats.org/package/2006/relationships/metadata/thumbnail" Id="rId2"/>
<Relationship Target="docProps/core.xml" Type="http://schemas.openxmlformats.org/package/2006/relationships/metadata/core-properties" Id="rId3"/>
<Relationship Target="docProps/app.xml" Type="http://schemas.openxmlformats.org/officeDocument/2006/relationships/extended-properties" Id="rId4"/>
<Relationship Target="docProps/custom.xml" Type="http://schemas.openxmlformats.org/officeDocument/2006/relationships/custom-properties" Id="rId5"/>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2192000" cy="6858000" type="screen16x9"/>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p="http://schemas.openxmlformats.org/presentationml/2006/main" xmlns:r="http://schemas.openxmlformats.org/officeDocument/2006/relationships">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lastView="sldThumbnailView">
  <p:normalViewPr>
    <p:restoredLeft sz="16520"/>
    <p:restoredTop sz="94674"/>
  </p:normalViewPr>
  <p:slideViewPr>
    <p:cSldViewPr snapToGrid="0">
      <p:cViewPr varScale="1">
        <p:scale>
          <a:sx d="100" n="124"/>
          <a:sy d="100" n="124"/>
        </p:scale>
        <p:origin x="224" y="168"/>
      </p:cViewPr>
      <p:guideLst/>
    </p:cSldViewPr>
  </p:slideViewPr>
  <p:notesTextViewPr>
    <p:cViewPr>
      <p:scale>
        <a:sx d="1" n="1"/>
        <a:sy d="1" n="1"/>
      </p:scale>
      <p:origin x="0" y="0"/>
    </p:cViewPr>
  </p:notesTextViewPr>
  <p:gridSpacing cx="72008" cy="72008"/>
</p:viewPr>
</file>

<file path=ppt/_rels/presentation.xml.rels><?xml version="1.0" encoding="UTF-8" standalone="yes"?>
<Relationships xmlns="http://schemas.openxmlformats.org/package/2006/relationships">
<Relationship Target="slideMasters/slideMaster1.xml" Type="http://schemas.openxmlformats.org/officeDocument/2006/relationships/slideMaster" Id="rId1"/>
<Relationship Target="presProps.xml" Type="http://schemas.openxmlformats.org/officeDocument/2006/relationships/presProps" Id="rId2"/>
<Relationship Target="viewProps.xml" Type="http://schemas.openxmlformats.org/officeDocument/2006/relationships/viewProps" Id="rId3"/>
<Relationship Target="theme/theme1.xml" Type="http://schemas.openxmlformats.org/officeDocument/2006/relationships/theme" Id="rId4"/>
<Relationship Target="tableStyles.xml" Type="http://schemas.openxmlformats.org/officeDocument/2006/relationships/tableStyles" Id="rId5"/>
<Relationship Target="slides/slide1.xml" Type="http://schemas.openxmlformats.org/officeDocument/2006/relationships/slide" Id="rId6"/>
<Relationship Target="slides/slide.xml" Type="http://schemas.openxmlformats.org/officeDocument/2006/relationships/slide" Id="rId7"/>
<Relationship Target="slides/slide2.xml" Type="http://schemas.openxmlformats.org/officeDocument/2006/relationships/slide" Id="rId8"/>
<Relationship Target="slides/slide3.xml" Type="http://schemas.openxmlformats.org/officeDocument/2006/relationships/slide" Id="rId9"/>
<Relationship Target="slides/slide4.xml" Type="http://schemas.openxmlformats.org/officeDocument/2006/relationships/slide" Id="rId10"/>
<Relationship Target="slides/slide5.xml" Type="http://schemas.openxmlformats.org/officeDocument/2006/relationships/slide" Id="rId11"/>
<Relationship Target="slides/slide6.xml" Type="http://schemas.openxmlformats.org/officeDocument/2006/relationships/slide" Id="rId12"/>
<Relationship Target="slides/slide7.xml" Type="http://schemas.openxmlformats.org/officeDocument/2006/relationships/slide" Id="rId13"/>
<Relationship Target="slides/slide8.xml" Type="http://schemas.openxmlformats.org/officeDocument/2006/relationships/slide" Id="rId14"/>
<Relationship Target="slides/slide9.xml" Type="http://schemas.openxmlformats.org/officeDocument/2006/relationships/slide" Id="rId15"/>
<Relationship Target="slides/slide10.xml" Type="http://schemas.openxmlformats.org/officeDocument/2006/relationships/slide" Id="rId16"/>
<Relationship Target="slides/slide11.xml" Type="http://schemas.openxmlformats.org/officeDocument/2006/relationships/slide" Id="rId17"/>
<Relationship Target="slides/slide12.xml" Type="http://schemas.openxmlformats.org/officeDocument/2006/relationships/slide" Id="rId18"/>
<Relationship Target="slides/slide13.xml" Type="http://schemas.openxmlformats.org/officeDocument/2006/relationships/slide" Id="rId19"/>
<Relationship Target="slides/slide14.xml" Type="http://schemas.openxmlformats.org/officeDocument/2006/relationships/slide" Id="rId20"/>
<Relationship Target="slides/slide15.xml" Type="http://schemas.openxmlformats.org/officeDocument/2006/relationships/slide" Id="rId21"/>
<Relationship Target="slides/slide16.xml" Type="http://schemas.openxmlformats.org/officeDocument/2006/relationships/slide" Id="rId22"/>
<Relationship Target="slides/slide17.xml" Type="http://schemas.openxmlformats.org/officeDocument/2006/relationships/slide" Id="rId23"/>
<Relationship Target="slides/slide18.xml" Type="http://schemas.openxmlformats.org/officeDocument/2006/relationships/slide" Id="rId24"/>
<Relationship Target="slides/slide19.xml" Type="http://schemas.openxmlformats.org/officeDocument/2006/relationships/slide" Id="rId25"/>
<Relationship Target="slides/slide20.xml" Type="http://schemas.openxmlformats.org/officeDocument/2006/relationships/slide" Id="rId26"/>
<Relationship Target="slides/slide21.xml" Type="http://schemas.openxmlformats.org/officeDocument/2006/relationships/slide" Id="rId27"/>
<Relationship Target="slides/slide22.xml" Type="http://schemas.openxmlformats.org/officeDocument/2006/relationships/slide" Id="rId28"/>
<Relationship Target="slides/slide23.xml" Type="http://schemas.openxmlformats.org/officeDocument/2006/relationships/slide" Id="rId29"/>
<Relationship Target="slides/slide24.xml" Type="http://schemas.openxmlformats.org/officeDocument/2006/relationships/slide" Id="rId30"/>
<Relationship Target="slides/slide25.xml" Type="http://schemas.openxmlformats.org/officeDocument/2006/relationships/slide" Id="rId31"/>
<Relationship Target="slides/slide26.xml" Type="http://schemas.openxmlformats.org/officeDocument/2006/relationships/slide" Id="rId32"/>
</Relationships>

</file>

<file path=ppt/slideLayouts/_rels/slideLayout1.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_rels/slideLayout2.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_rels/slideLayout3.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_rels/slideLayout4.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_rels/slideLayout5.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_rels/slideLayout6.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_rels/slideLayout7.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_rels/slideLayout8.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_rels/slideLayout9.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_rels/slideLayout10.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_rels/slideLayout11.xml.rels><?xml version="1.0" encoding="UTF-8" standalone="yes"?>
<Relationships xmlns="http://schemas.openxmlformats.org/package/2006/relationships">
<Relationship Target="../slideMasters/slideMaster1.xml" Type="http://schemas.openxmlformats.org/officeDocument/2006/relationships/slideMaster" Id="rId1"/>
</Relationships>

</file>

<file path=ppt/slideLayouts/slideLayout1.xml><?xml version="1.0" encoding="utf-8"?>
<p:sldLayout xmlns:a="http://schemas.openxmlformats.org/drawingml/2006/main" xmlns:ooxmlsdk="ooxmlsdk" xmlns:p="http://schemas.openxmlformats.org/presentationml/2006/main" xmlns:r="http://schemas.openxmlformats.org/officeDocument/2006/relationships" preserve="1" type="title">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ooxmlsdkcls="c:A16_CT_CreationId" id="{AFF4D715-50C3-B803-A8ED-E297CF0F23CC}"/>
              </a:ext>
            </a:extLst>
          </p:cNvPr>
          <p:cNvSpPr>
            <a:spLocks noGrp="1"/>
          </p:cNvSpPr>
          <p:nvPr>
            <p:ph type="ctrTitle"/>
          </p:nvPr>
        </p:nvSpPr>
        <p:spPr>
          <a:xfrm>
            <a:off x="1524000" y="1122363"/>
            <a:ext cx="9144000" cy="2387600"/>
          </a:xfrm>
        </p:spPr>
        <p:txBody>
          <a:bodyPr anchor="b"/>
          <a:lstStyle>
            <a:lvl1pPr algn="ctr">
              <a:defRPr sz="6000"/>
            </a:lvl1pPr>
          </a:lstStyle>
          <a:p>
            <a:r>
              <a:rPr altLang="en-US" kumimoji="1" lang="zh-CN"/>
              <a:t>单击此处编辑母版标题样式</a:t>
            </a:r>
          </a:p>
        </p:txBody>
      </p:sp>
      <p:sp>
        <p:nvSpPr>
          <p:cNvPr id="3" name="副标题 2">
            <a:extLst>
              <a:ext uri="{FF2B5EF4-FFF2-40B4-BE49-F238E27FC236}">
                <a16:creationId xmlns:a16="http://schemas.microsoft.com/office/drawing/2014/main" xmlns:ooxmlsdkcls="c:A16_CT_CreationId" id="{72D1C8FA-4E74-3C2B-B2E1-90179EE0F86D}"/>
              </a:ext>
            </a:extLst>
          </p:cNvPr>
          <p:cNvSpPr>
            <a:spLocks noGrp="1"/>
          </p:cNvSpPr>
          <p:nvPr>
            <p:ph idx="1" type="subTitle"/>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en-US" kumimoji="1" lang="zh-CN"/>
              <a:t>单击此处编辑母版副标题样式</a:t>
            </a:r>
          </a:p>
        </p:txBody>
      </p:sp>
      <p:sp>
        <p:nvSpPr>
          <p:cNvPr id="4" name="日期占位符 3">
            <a:extLst>
              <a:ext uri="{FF2B5EF4-FFF2-40B4-BE49-F238E27FC236}">
                <a16:creationId xmlns:a16="http://schemas.microsoft.com/office/drawing/2014/main" xmlns:ooxmlsdkcls="c:A16_CT_CreationId" id="{EAF96F5C-20E8-D5B3-4B51-E00FBADC2408}"/>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5" name="页脚占位符 4">
            <a:extLst>
              <a:ext uri="{FF2B5EF4-FFF2-40B4-BE49-F238E27FC236}">
                <a16:creationId xmlns:a16="http://schemas.microsoft.com/office/drawing/2014/main" xmlns:ooxmlsdkcls="c:A16_CT_CreationId" id="{5DCA3150-268E-E144-EB8E-C83266A4625E}"/>
              </a:ext>
            </a:extLst>
          </p:cNvPr>
          <p:cNvSpPr>
            <a:spLocks noGrp="1"/>
          </p:cNvSpPr>
          <p:nvPr>
            <p:ph idx="11" sz="quarter" type="ftr"/>
          </p:nvPr>
        </p:nvSpPr>
        <p:spPr/>
        <p:txBody>
          <a:bodyPr/>
          <a:lstStyle/>
          <a:p>
            <a:endParaRPr altLang="en-US" kumimoji="1" lang="zh-CN"/>
          </a:p>
        </p:txBody>
      </p:sp>
      <p:sp>
        <p:nvSpPr>
          <p:cNvPr id="6" name="灯片编号占位符 5">
            <a:extLst>
              <a:ext uri="{FF2B5EF4-FFF2-40B4-BE49-F238E27FC236}">
                <a16:creationId xmlns:a16="http://schemas.microsoft.com/office/drawing/2014/main" xmlns:ooxmlsdkcls="c:A16_CT_CreationId" id="{62C9375F-A225-D342-874D-7AF26BF34C8D}"/>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1213152611"/>
      </p:ext>
    </p:extLst>
  </p:cSld>
  <p:clrMapOvr>
    <a:masterClrMapping/>
  </p:clrMapOvr>
  <p:extLst>
    <p:ext uri="ooxmlsdk">
      <ooxmlsdk:mediaFallback xmlns:ooxmlsdkcls="c:OOXMLSDK_CT_MediaFallback" target="/slidelayout//ppt/slideLayouts/slideLayout1.xml.png" type="slideLayout"/>
    </p:ext>
  </p:extLst>
</p:sldLayout>
</file>

<file path=ppt/slideLayouts/slideLayout2.xml><?xml version="1.0" encoding="utf-8"?>
<p:sldLayout xmlns:a="http://schemas.openxmlformats.org/drawingml/2006/main" xmlns:ooxmlsdk="ooxmlsdk" xmlns:p="http://schemas.openxmlformats.org/presentationml/2006/main" xmlns:r="http://schemas.openxmlformats.org/officeDocument/2006/relationships" preserve="1"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ooxmlsdkcls="c:A16_CT_CreationId" id="{B05BA219-D050-862C-E65B-9683A36767D5}"/>
              </a:ext>
            </a:extLst>
          </p:cNvPr>
          <p:cNvSpPr>
            <a:spLocks noGrp="1"/>
          </p:cNvSpPr>
          <p:nvPr>
            <p:ph type="title"/>
          </p:nvPr>
        </p:nvSpPr>
        <p:spPr/>
        <p:txBody>
          <a:bodyPr/>
          <a:lstStyle/>
          <a:p>
            <a:r>
              <a:rPr altLang="en-US" kumimoji="1" lang="zh-CN"/>
              <a:t>单击此处编辑母版标题样式</a:t>
            </a:r>
          </a:p>
        </p:txBody>
      </p:sp>
      <p:sp>
        <p:nvSpPr>
          <p:cNvPr id="3" name="内容占位符 2">
            <a:extLst>
              <a:ext uri="{FF2B5EF4-FFF2-40B4-BE49-F238E27FC236}">
                <a16:creationId xmlns:a16="http://schemas.microsoft.com/office/drawing/2014/main" xmlns:ooxmlsdkcls="c:A16_CT_CreationId" id="{773736A5-1585-C5FA-D2FE-8F5ED137793F}"/>
              </a:ext>
            </a:extLst>
          </p:cNvPr>
          <p:cNvSpPr>
            <a:spLocks noGrp="1"/>
          </p:cNvSpPr>
          <p:nvPr>
            <p:ph idx="1"/>
          </p:nvPr>
        </p:nvSpPr>
        <p:spPr/>
        <p:txBody>
          <a:bodyPr/>
          <a:lstStyle/>
          <a:p>
            <a:pPr lvl="0"/>
            <a:r>
              <a:rPr altLang="en-US" kumimoji="1" lang="zh-CN"/>
              <a:t>单击此处编辑母版文本样式</a:t>
            </a:r>
          </a:p>
          <a:p>
            <a:pPr lvl="1"/>
            <a:r>
              <a:rPr altLang="en-US" kumimoji="1" lang="zh-CN"/>
              <a:t>二级</a:t>
            </a:r>
          </a:p>
          <a:p>
            <a:pPr lvl="2"/>
            <a:r>
              <a:rPr altLang="en-US" kumimoji="1" lang="zh-CN"/>
              <a:t>三级</a:t>
            </a:r>
          </a:p>
          <a:p>
            <a:pPr lvl="3"/>
            <a:r>
              <a:rPr altLang="en-US" kumimoji="1" lang="zh-CN"/>
              <a:t>四级</a:t>
            </a:r>
          </a:p>
          <a:p>
            <a:pPr lvl="4"/>
            <a:r>
              <a:rPr altLang="en-US" kumimoji="1" lang="zh-CN"/>
              <a:t>五级</a:t>
            </a:r>
          </a:p>
        </p:txBody>
      </p:sp>
      <p:sp>
        <p:nvSpPr>
          <p:cNvPr id="4" name="日期占位符 3">
            <a:extLst>
              <a:ext uri="{FF2B5EF4-FFF2-40B4-BE49-F238E27FC236}">
                <a16:creationId xmlns:a16="http://schemas.microsoft.com/office/drawing/2014/main" xmlns:ooxmlsdkcls="c:A16_CT_CreationId" id="{76E2F4FD-E8D7-1C42-14C4-121EA09928CE}"/>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5" name="页脚占位符 4">
            <a:extLst>
              <a:ext uri="{FF2B5EF4-FFF2-40B4-BE49-F238E27FC236}">
                <a16:creationId xmlns:a16="http://schemas.microsoft.com/office/drawing/2014/main" xmlns:ooxmlsdkcls="c:A16_CT_CreationId" id="{7BD03D1D-7811-D79C-3E26-008C62664539}"/>
              </a:ext>
            </a:extLst>
          </p:cNvPr>
          <p:cNvSpPr>
            <a:spLocks noGrp="1"/>
          </p:cNvSpPr>
          <p:nvPr>
            <p:ph idx="11" sz="quarter" type="ftr"/>
          </p:nvPr>
        </p:nvSpPr>
        <p:spPr/>
        <p:txBody>
          <a:bodyPr/>
          <a:lstStyle/>
          <a:p>
            <a:endParaRPr altLang="en-US" kumimoji="1" lang="zh-CN"/>
          </a:p>
        </p:txBody>
      </p:sp>
      <p:sp>
        <p:nvSpPr>
          <p:cNvPr id="6" name="灯片编号占位符 5">
            <a:extLst>
              <a:ext uri="{FF2B5EF4-FFF2-40B4-BE49-F238E27FC236}">
                <a16:creationId xmlns:a16="http://schemas.microsoft.com/office/drawing/2014/main" xmlns:ooxmlsdkcls="c:A16_CT_CreationId" id="{9F5FEE4B-101F-62CC-E69D-F081B97B9CBC}"/>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2047147540"/>
      </p:ext>
    </p:extLst>
  </p:cSld>
  <p:clrMapOvr>
    <a:masterClrMapping/>
  </p:clrMapOvr>
  <p:extLst>
    <p:ext uri="ooxmlsdk">
      <ooxmlsdk:mediaFallback xmlns:ooxmlsdkcls="c:OOXMLSDK_CT_MediaFallback" target="/slidelayout//ppt/slideLayouts/slideLayout2.xml.png" type="slideLayout"/>
    </p:ext>
  </p:extLst>
</p:sldLayout>
</file>

<file path=ppt/slideLayouts/slideLayout3.xml><?xml version="1.0" encoding="utf-8"?>
<p:sldLayout xmlns:a="http://schemas.openxmlformats.org/drawingml/2006/main" xmlns:ooxmlsdk="ooxmlsdk" xmlns:p="http://schemas.openxmlformats.org/presentationml/2006/main" xmlns:r="http://schemas.openxmlformats.org/officeDocument/2006/relationships" preserve="1" type="secHead">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ooxmlsdkcls="c:A16_CT_CreationId" id="{4B30E9EE-8C71-67D4-A2BC-53B1069862C7}"/>
              </a:ext>
            </a:extLst>
          </p:cNvPr>
          <p:cNvSpPr>
            <a:spLocks noGrp="1"/>
          </p:cNvSpPr>
          <p:nvPr>
            <p:ph type="title"/>
          </p:nvPr>
        </p:nvSpPr>
        <p:spPr>
          <a:xfrm>
            <a:off x="831850" y="1709738"/>
            <a:ext cx="10515600" cy="2852737"/>
          </a:xfrm>
        </p:spPr>
        <p:txBody>
          <a:bodyPr anchor="b"/>
          <a:lstStyle>
            <a:lvl1pPr>
              <a:defRPr sz="6000"/>
            </a:lvl1pPr>
          </a:lstStyle>
          <a:p>
            <a:r>
              <a:rPr altLang="en-US" kumimoji="1" lang="zh-CN"/>
              <a:t>单击此处编辑母版标题样式</a:t>
            </a:r>
          </a:p>
        </p:txBody>
      </p:sp>
      <p:sp>
        <p:nvSpPr>
          <p:cNvPr id="3" name="文本占位符 2">
            <a:extLst>
              <a:ext uri="{FF2B5EF4-FFF2-40B4-BE49-F238E27FC236}">
                <a16:creationId xmlns:a16="http://schemas.microsoft.com/office/drawing/2014/main" xmlns:ooxmlsdkcls="c:A16_CT_CreationId" id="{6C09279D-06F0-EFDE-9CD6-193A29D31A41}"/>
              </a:ext>
            </a:extLst>
          </p:cNvPr>
          <p:cNvSpPr>
            <a:spLocks noGrp="1"/>
          </p:cNvSpPr>
          <p:nvPr>
            <p:ph idx="1" type="body"/>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en-US" kumimoji="1" lang="zh-CN"/>
              <a:t>单击此处编辑母版文本样式</a:t>
            </a:r>
          </a:p>
        </p:txBody>
      </p:sp>
      <p:sp>
        <p:nvSpPr>
          <p:cNvPr id="4" name="日期占位符 3">
            <a:extLst>
              <a:ext uri="{FF2B5EF4-FFF2-40B4-BE49-F238E27FC236}">
                <a16:creationId xmlns:a16="http://schemas.microsoft.com/office/drawing/2014/main" xmlns:ooxmlsdkcls="c:A16_CT_CreationId" id="{23B3CCE7-DC65-DA1D-3E8E-70130CD6E894}"/>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5" name="页脚占位符 4">
            <a:extLst>
              <a:ext uri="{FF2B5EF4-FFF2-40B4-BE49-F238E27FC236}">
                <a16:creationId xmlns:a16="http://schemas.microsoft.com/office/drawing/2014/main" xmlns:ooxmlsdkcls="c:A16_CT_CreationId" id="{99B74EE2-CD7D-A99C-E5D2-1366E53CABFC}"/>
              </a:ext>
            </a:extLst>
          </p:cNvPr>
          <p:cNvSpPr>
            <a:spLocks noGrp="1"/>
          </p:cNvSpPr>
          <p:nvPr>
            <p:ph idx="11" sz="quarter" type="ftr"/>
          </p:nvPr>
        </p:nvSpPr>
        <p:spPr/>
        <p:txBody>
          <a:bodyPr/>
          <a:lstStyle/>
          <a:p>
            <a:endParaRPr altLang="en-US" kumimoji="1" lang="zh-CN"/>
          </a:p>
        </p:txBody>
      </p:sp>
      <p:sp>
        <p:nvSpPr>
          <p:cNvPr id="6" name="灯片编号占位符 5">
            <a:extLst>
              <a:ext uri="{FF2B5EF4-FFF2-40B4-BE49-F238E27FC236}">
                <a16:creationId xmlns:a16="http://schemas.microsoft.com/office/drawing/2014/main" xmlns:ooxmlsdkcls="c:A16_CT_CreationId" id="{5252B1E2-E5C3-92D1-FF78-B950DDC1B42D}"/>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4205822510"/>
      </p:ext>
    </p:extLst>
  </p:cSld>
  <p:clrMapOvr>
    <a:masterClrMapping/>
  </p:clrMapOvr>
  <p:extLst>
    <p:ext uri="ooxmlsdk">
      <ooxmlsdk:mediaFallback xmlns:ooxmlsdkcls="c:OOXMLSDK_CT_MediaFallback" target="/slidelayout//ppt/slideLayouts/slideLayout3.xml.png" type="slideLayout"/>
    </p:ext>
  </p:extLst>
</p:sldLayout>
</file>

<file path=ppt/slideLayouts/slideLayout4.xml><?xml version="1.0" encoding="utf-8"?>
<p:sldLayout xmlns:a="http://schemas.openxmlformats.org/drawingml/2006/main" xmlns:ooxmlsdk="ooxmlsdk" xmlns:p="http://schemas.openxmlformats.org/presentationml/2006/main" xmlns:r="http://schemas.openxmlformats.org/officeDocument/2006/relationships" preserve="1" type="twoObj">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ooxmlsdkcls="c:A16_CT_CreationId" id="{A8C4817C-99A1-757B-E4AD-A40320272ACD}"/>
              </a:ext>
            </a:extLst>
          </p:cNvPr>
          <p:cNvSpPr>
            <a:spLocks noGrp="1"/>
          </p:cNvSpPr>
          <p:nvPr>
            <p:ph type="title"/>
          </p:nvPr>
        </p:nvSpPr>
        <p:spPr/>
        <p:txBody>
          <a:bodyPr/>
          <a:lstStyle/>
          <a:p>
            <a:r>
              <a:rPr altLang="en-US" kumimoji="1" lang="zh-CN"/>
              <a:t>单击此处编辑母版标题样式</a:t>
            </a:r>
          </a:p>
        </p:txBody>
      </p:sp>
      <p:sp>
        <p:nvSpPr>
          <p:cNvPr id="3" name="内容占位符 2">
            <a:extLst>
              <a:ext uri="{FF2B5EF4-FFF2-40B4-BE49-F238E27FC236}">
                <a16:creationId xmlns:a16="http://schemas.microsoft.com/office/drawing/2014/main" xmlns:ooxmlsdkcls="c:A16_CT_CreationId" id="{2C17D338-6AC5-3B05-1915-B1578DB8BD84}"/>
              </a:ext>
            </a:extLst>
          </p:cNvPr>
          <p:cNvSpPr>
            <a:spLocks noGrp="1"/>
          </p:cNvSpPr>
          <p:nvPr>
            <p:ph idx="1" sz="half"/>
          </p:nvPr>
        </p:nvSpPr>
        <p:spPr>
          <a:xfrm>
            <a:off x="838200" y="1825625"/>
            <a:ext cx="5181600" cy="4351338"/>
          </a:xfrm>
        </p:spPr>
        <p:txBody>
          <a:bodyPr/>
          <a:lstStyle/>
          <a:p>
            <a:pPr lvl="0"/>
            <a:r>
              <a:rPr altLang="en-US" kumimoji="1" lang="zh-CN"/>
              <a:t>单击此处编辑母版文本样式</a:t>
            </a:r>
          </a:p>
          <a:p>
            <a:pPr lvl="1"/>
            <a:r>
              <a:rPr altLang="en-US" kumimoji="1" lang="zh-CN"/>
              <a:t>二级</a:t>
            </a:r>
          </a:p>
          <a:p>
            <a:pPr lvl="2"/>
            <a:r>
              <a:rPr altLang="en-US" kumimoji="1" lang="zh-CN"/>
              <a:t>三级</a:t>
            </a:r>
          </a:p>
          <a:p>
            <a:pPr lvl="3"/>
            <a:r>
              <a:rPr altLang="en-US" kumimoji="1" lang="zh-CN"/>
              <a:t>四级</a:t>
            </a:r>
          </a:p>
          <a:p>
            <a:pPr lvl="4"/>
            <a:r>
              <a:rPr altLang="en-US" kumimoji="1" lang="zh-CN"/>
              <a:t>五级</a:t>
            </a:r>
          </a:p>
        </p:txBody>
      </p:sp>
      <p:sp>
        <p:nvSpPr>
          <p:cNvPr id="4" name="内容占位符 3">
            <a:extLst>
              <a:ext uri="{FF2B5EF4-FFF2-40B4-BE49-F238E27FC236}">
                <a16:creationId xmlns:a16="http://schemas.microsoft.com/office/drawing/2014/main" xmlns:ooxmlsdkcls="c:A16_CT_CreationId" id="{0F8E3BF0-2279-8BF3-1C0E-03C9E7BF3BF7}"/>
              </a:ext>
            </a:extLst>
          </p:cNvPr>
          <p:cNvSpPr>
            <a:spLocks noGrp="1"/>
          </p:cNvSpPr>
          <p:nvPr>
            <p:ph idx="2" sz="half"/>
          </p:nvPr>
        </p:nvSpPr>
        <p:spPr>
          <a:xfrm>
            <a:off x="6172200" y="1825625"/>
            <a:ext cx="5181600" cy="4351338"/>
          </a:xfrm>
        </p:spPr>
        <p:txBody>
          <a:bodyPr/>
          <a:lstStyle/>
          <a:p>
            <a:pPr lvl="0"/>
            <a:r>
              <a:rPr altLang="en-US" kumimoji="1" lang="zh-CN"/>
              <a:t>单击此处编辑母版文本样式</a:t>
            </a:r>
          </a:p>
          <a:p>
            <a:pPr lvl="1"/>
            <a:r>
              <a:rPr altLang="en-US" kumimoji="1" lang="zh-CN"/>
              <a:t>二级</a:t>
            </a:r>
          </a:p>
          <a:p>
            <a:pPr lvl="2"/>
            <a:r>
              <a:rPr altLang="en-US" kumimoji="1" lang="zh-CN"/>
              <a:t>三级</a:t>
            </a:r>
          </a:p>
          <a:p>
            <a:pPr lvl="3"/>
            <a:r>
              <a:rPr altLang="en-US" kumimoji="1" lang="zh-CN"/>
              <a:t>四级</a:t>
            </a:r>
          </a:p>
          <a:p>
            <a:pPr lvl="4"/>
            <a:r>
              <a:rPr altLang="en-US" kumimoji="1" lang="zh-CN"/>
              <a:t>五级</a:t>
            </a:r>
          </a:p>
        </p:txBody>
      </p:sp>
      <p:sp>
        <p:nvSpPr>
          <p:cNvPr id="5" name="日期占位符 4">
            <a:extLst>
              <a:ext uri="{FF2B5EF4-FFF2-40B4-BE49-F238E27FC236}">
                <a16:creationId xmlns:a16="http://schemas.microsoft.com/office/drawing/2014/main" xmlns:ooxmlsdkcls="c:A16_CT_CreationId" id="{5EB8EC9A-56DC-2B36-BF93-CCB1A8E3E9AE}"/>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6" name="页脚占位符 5">
            <a:extLst>
              <a:ext uri="{FF2B5EF4-FFF2-40B4-BE49-F238E27FC236}">
                <a16:creationId xmlns:a16="http://schemas.microsoft.com/office/drawing/2014/main" xmlns:ooxmlsdkcls="c:A16_CT_CreationId" id="{1F3D304B-FAC1-533F-1456-38E73C2AFC52}"/>
              </a:ext>
            </a:extLst>
          </p:cNvPr>
          <p:cNvSpPr>
            <a:spLocks noGrp="1"/>
          </p:cNvSpPr>
          <p:nvPr>
            <p:ph idx="11" sz="quarter" type="ftr"/>
          </p:nvPr>
        </p:nvSpPr>
        <p:spPr/>
        <p:txBody>
          <a:bodyPr/>
          <a:lstStyle/>
          <a:p>
            <a:endParaRPr altLang="en-US" kumimoji="1" lang="zh-CN"/>
          </a:p>
        </p:txBody>
      </p:sp>
      <p:sp>
        <p:nvSpPr>
          <p:cNvPr id="7" name="灯片编号占位符 6">
            <a:extLst>
              <a:ext uri="{FF2B5EF4-FFF2-40B4-BE49-F238E27FC236}">
                <a16:creationId xmlns:a16="http://schemas.microsoft.com/office/drawing/2014/main" xmlns:ooxmlsdkcls="c:A16_CT_CreationId" id="{016F4D4A-E839-BFE4-78EA-559F4A54D91C}"/>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1968786054"/>
      </p:ext>
    </p:extLst>
  </p:cSld>
  <p:clrMapOvr>
    <a:masterClrMapping/>
  </p:clrMapOvr>
  <p:extLst>
    <p:ext uri="ooxmlsdk">
      <ooxmlsdk:mediaFallback xmlns:ooxmlsdkcls="c:OOXMLSDK_CT_MediaFallback" target="/slidelayout//ppt/slideLayouts/slideLayout4.xml.png" type="slideLayout"/>
    </p:ext>
  </p:extLst>
</p:sldLayout>
</file>

<file path=ppt/slideLayouts/slideLayout5.xml><?xml version="1.0" encoding="utf-8"?>
<p:sldLayout xmlns:a="http://schemas.openxmlformats.org/drawingml/2006/main" xmlns:ooxmlsdk="ooxmlsdk" xmlns:p="http://schemas.openxmlformats.org/presentationml/2006/main" xmlns:r="http://schemas.openxmlformats.org/officeDocument/2006/relationships" preserve="1" type="twoTxTwoObj">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ooxmlsdkcls="c:A16_CT_CreationId" id="{044C5FF1-6080-2725-74AB-5FF7D3F272CA}"/>
              </a:ext>
            </a:extLst>
          </p:cNvPr>
          <p:cNvSpPr>
            <a:spLocks noGrp="1"/>
          </p:cNvSpPr>
          <p:nvPr>
            <p:ph type="title"/>
          </p:nvPr>
        </p:nvSpPr>
        <p:spPr>
          <a:xfrm>
            <a:off x="839788" y="365125"/>
            <a:ext cx="10515600" cy="1325563"/>
          </a:xfrm>
        </p:spPr>
        <p:txBody>
          <a:bodyPr/>
          <a:lstStyle/>
          <a:p>
            <a:r>
              <a:rPr altLang="en-US" kumimoji="1" lang="zh-CN"/>
              <a:t>单击此处编辑母版标题样式</a:t>
            </a:r>
          </a:p>
        </p:txBody>
      </p:sp>
      <p:sp>
        <p:nvSpPr>
          <p:cNvPr id="3" name="文本占位符 2">
            <a:extLst>
              <a:ext uri="{FF2B5EF4-FFF2-40B4-BE49-F238E27FC236}">
                <a16:creationId xmlns:a16="http://schemas.microsoft.com/office/drawing/2014/main" xmlns:ooxmlsdkcls="c:A16_CT_CreationId" id="{47A501C3-38EB-2364-C39C-33279253F15E}"/>
              </a:ext>
            </a:extLst>
          </p:cNvPr>
          <p:cNvSpPr>
            <a:spLocks noGrp="1"/>
          </p:cNvSpPr>
          <p:nvPr>
            <p:ph idx="1" type="body"/>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kumimoji="1" lang="zh-CN"/>
              <a:t>单击此处编辑母版文本样式</a:t>
            </a:r>
          </a:p>
        </p:txBody>
      </p:sp>
      <p:sp>
        <p:nvSpPr>
          <p:cNvPr id="4" name="内容占位符 3">
            <a:extLst>
              <a:ext uri="{FF2B5EF4-FFF2-40B4-BE49-F238E27FC236}">
                <a16:creationId xmlns:a16="http://schemas.microsoft.com/office/drawing/2014/main" xmlns:ooxmlsdkcls="c:A16_CT_CreationId" id="{85EEC63D-4589-C043-285B-B8127689F2C7}"/>
              </a:ext>
            </a:extLst>
          </p:cNvPr>
          <p:cNvSpPr>
            <a:spLocks noGrp="1"/>
          </p:cNvSpPr>
          <p:nvPr>
            <p:ph idx="2" sz="half"/>
          </p:nvPr>
        </p:nvSpPr>
        <p:spPr>
          <a:xfrm>
            <a:off x="839788" y="2505075"/>
            <a:ext cx="5157787" cy="3684588"/>
          </a:xfrm>
        </p:spPr>
        <p:txBody>
          <a:bodyPr/>
          <a:lstStyle/>
          <a:p>
            <a:pPr lvl="0"/>
            <a:r>
              <a:rPr altLang="en-US" kumimoji="1" lang="zh-CN"/>
              <a:t>单击此处编辑母版文本样式</a:t>
            </a:r>
          </a:p>
          <a:p>
            <a:pPr lvl="1"/>
            <a:r>
              <a:rPr altLang="en-US" kumimoji="1" lang="zh-CN"/>
              <a:t>二级</a:t>
            </a:r>
          </a:p>
          <a:p>
            <a:pPr lvl="2"/>
            <a:r>
              <a:rPr altLang="en-US" kumimoji="1" lang="zh-CN"/>
              <a:t>三级</a:t>
            </a:r>
          </a:p>
          <a:p>
            <a:pPr lvl="3"/>
            <a:r>
              <a:rPr altLang="en-US" kumimoji="1" lang="zh-CN"/>
              <a:t>四级</a:t>
            </a:r>
          </a:p>
          <a:p>
            <a:pPr lvl="4"/>
            <a:r>
              <a:rPr altLang="en-US" kumimoji="1" lang="zh-CN"/>
              <a:t>五级</a:t>
            </a:r>
          </a:p>
        </p:txBody>
      </p:sp>
      <p:sp>
        <p:nvSpPr>
          <p:cNvPr id="5" name="文本占位符 4">
            <a:extLst>
              <a:ext uri="{FF2B5EF4-FFF2-40B4-BE49-F238E27FC236}">
                <a16:creationId xmlns:a16="http://schemas.microsoft.com/office/drawing/2014/main" xmlns:ooxmlsdkcls="c:A16_CT_CreationId" id="{18810A47-0A22-AB30-2FCE-43F3C972A800}"/>
              </a:ext>
            </a:extLst>
          </p:cNvPr>
          <p:cNvSpPr>
            <a:spLocks noGrp="1"/>
          </p:cNvSpPr>
          <p:nvPr>
            <p:ph idx="3" sz="quarter" type="body"/>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en-US" kumimoji="1" lang="zh-CN"/>
              <a:t>单击此处编辑母版文本样式</a:t>
            </a:r>
          </a:p>
        </p:txBody>
      </p:sp>
      <p:sp>
        <p:nvSpPr>
          <p:cNvPr id="6" name="内容占位符 5">
            <a:extLst>
              <a:ext uri="{FF2B5EF4-FFF2-40B4-BE49-F238E27FC236}">
                <a16:creationId xmlns:a16="http://schemas.microsoft.com/office/drawing/2014/main" xmlns:ooxmlsdkcls="c:A16_CT_CreationId" id="{588C72C7-7B09-FD2C-30C5-4350039BABB1}"/>
              </a:ext>
            </a:extLst>
          </p:cNvPr>
          <p:cNvSpPr>
            <a:spLocks noGrp="1"/>
          </p:cNvSpPr>
          <p:nvPr>
            <p:ph idx="4" sz="quarter"/>
          </p:nvPr>
        </p:nvSpPr>
        <p:spPr>
          <a:xfrm>
            <a:off x="6172200" y="2505075"/>
            <a:ext cx="5183188" cy="3684588"/>
          </a:xfrm>
        </p:spPr>
        <p:txBody>
          <a:bodyPr/>
          <a:lstStyle/>
          <a:p>
            <a:pPr lvl="0"/>
            <a:r>
              <a:rPr altLang="en-US" kumimoji="1" lang="zh-CN"/>
              <a:t>单击此处编辑母版文本样式</a:t>
            </a:r>
          </a:p>
          <a:p>
            <a:pPr lvl="1"/>
            <a:r>
              <a:rPr altLang="en-US" kumimoji="1" lang="zh-CN"/>
              <a:t>二级</a:t>
            </a:r>
          </a:p>
          <a:p>
            <a:pPr lvl="2"/>
            <a:r>
              <a:rPr altLang="en-US" kumimoji="1" lang="zh-CN"/>
              <a:t>三级</a:t>
            </a:r>
          </a:p>
          <a:p>
            <a:pPr lvl="3"/>
            <a:r>
              <a:rPr altLang="en-US" kumimoji="1" lang="zh-CN"/>
              <a:t>四级</a:t>
            </a:r>
          </a:p>
          <a:p>
            <a:pPr lvl="4"/>
            <a:r>
              <a:rPr altLang="en-US" kumimoji="1" lang="zh-CN"/>
              <a:t>五级</a:t>
            </a:r>
          </a:p>
        </p:txBody>
      </p:sp>
      <p:sp>
        <p:nvSpPr>
          <p:cNvPr id="7" name="日期占位符 6">
            <a:extLst>
              <a:ext uri="{FF2B5EF4-FFF2-40B4-BE49-F238E27FC236}">
                <a16:creationId xmlns:a16="http://schemas.microsoft.com/office/drawing/2014/main" xmlns:ooxmlsdkcls="c:A16_CT_CreationId" id="{B3957867-163A-9E7A-AE92-DDB0D8E1D82F}"/>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8" name="页脚占位符 7">
            <a:extLst>
              <a:ext uri="{FF2B5EF4-FFF2-40B4-BE49-F238E27FC236}">
                <a16:creationId xmlns:a16="http://schemas.microsoft.com/office/drawing/2014/main" xmlns:ooxmlsdkcls="c:A16_CT_CreationId" id="{140928ED-F638-2A81-FAF0-17D14FCA9799}"/>
              </a:ext>
            </a:extLst>
          </p:cNvPr>
          <p:cNvSpPr>
            <a:spLocks noGrp="1"/>
          </p:cNvSpPr>
          <p:nvPr>
            <p:ph idx="11" sz="quarter" type="ftr"/>
          </p:nvPr>
        </p:nvSpPr>
        <p:spPr/>
        <p:txBody>
          <a:bodyPr/>
          <a:lstStyle/>
          <a:p>
            <a:endParaRPr altLang="en-US" kumimoji="1" lang="zh-CN"/>
          </a:p>
        </p:txBody>
      </p:sp>
      <p:sp>
        <p:nvSpPr>
          <p:cNvPr id="9" name="灯片编号占位符 8">
            <a:extLst>
              <a:ext uri="{FF2B5EF4-FFF2-40B4-BE49-F238E27FC236}">
                <a16:creationId xmlns:a16="http://schemas.microsoft.com/office/drawing/2014/main" xmlns:ooxmlsdkcls="c:A16_CT_CreationId" id="{EB5BCCDA-B30D-A94D-59C6-47F6302534CD}"/>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4120130515"/>
      </p:ext>
    </p:extLst>
  </p:cSld>
  <p:clrMapOvr>
    <a:masterClrMapping/>
  </p:clrMapOvr>
  <p:extLst>
    <p:ext uri="ooxmlsdk">
      <ooxmlsdk:mediaFallback xmlns:ooxmlsdkcls="c:OOXMLSDK_CT_MediaFallback" target="/slidelayout//ppt/slideLayouts/slideLayout5.xml.png" type="slideLayout"/>
    </p:ext>
  </p:extLst>
</p:sldLayout>
</file>

<file path=ppt/slideLayouts/slideLayout6.xml><?xml version="1.0" encoding="utf-8"?>
<p:sldLayout xmlns:a="http://schemas.openxmlformats.org/drawingml/2006/main" xmlns:ooxmlsdk="ooxmlsdk" xmlns:p="http://schemas.openxmlformats.org/presentationml/2006/main" xmlns:r="http://schemas.openxmlformats.org/officeDocument/2006/relationships" preserve="1" type="titleOnly">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ooxmlsdkcls="c:A16_CT_CreationId" id="{F6C2DB04-0D11-419F-4D88-8EE71954B85D}"/>
              </a:ext>
            </a:extLst>
          </p:cNvPr>
          <p:cNvSpPr>
            <a:spLocks noGrp="1"/>
          </p:cNvSpPr>
          <p:nvPr>
            <p:ph type="title"/>
          </p:nvPr>
        </p:nvSpPr>
        <p:spPr/>
        <p:txBody>
          <a:bodyPr/>
          <a:lstStyle/>
          <a:p>
            <a:r>
              <a:rPr altLang="en-US" kumimoji="1" lang="zh-CN"/>
              <a:t>单击此处编辑母版标题样式</a:t>
            </a:r>
          </a:p>
        </p:txBody>
      </p:sp>
      <p:sp>
        <p:nvSpPr>
          <p:cNvPr id="3" name="日期占位符 2">
            <a:extLst>
              <a:ext uri="{FF2B5EF4-FFF2-40B4-BE49-F238E27FC236}">
                <a16:creationId xmlns:a16="http://schemas.microsoft.com/office/drawing/2014/main" xmlns:ooxmlsdkcls="c:A16_CT_CreationId" id="{5CFF8EF7-C3FC-15DF-EB99-F3AFA6C50F0F}"/>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4" name="页脚占位符 3">
            <a:extLst>
              <a:ext uri="{FF2B5EF4-FFF2-40B4-BE49-F238E27FC236}">
                <a16:creationId xmlns:a16="http://schemas.microsoft.com/office/drawing/2014/main" xmlns:ooxmlsdkcls="c:A16_CT_CreationId" id="{BBA37BA3-FB71-5172-B46A-25DF8DB9748B}"/>
              </a:ext>
            </a:extLst>
          </p:cNvPr>
          <p:cNvSpPr>
            <a:spLocks noGrp="1"/>
          </p:cNvSpPr>
          <p:nvPr>
            <p:ph idx="11" sz="quarter" type="ftr"/>
          </p:nvPr>
        </p:nvSpPr>
        <p:spPr/>
        <p:txBody>
          <a:bodyPr/>
          <a:lstStyle/>
          <a:p>
            <a:endParaRPr altLang="en-US" kumimoji="1" lang="zh-CN"/>
          </a:p>
        </p:txBody>
      </p:sp>
      <p:sp>
        <p:nvSpPr>
          <p:cNvPr id="5" name="灯片编号占位符 4">
            <a:extLst>
              <a:ext uri="{FF2B5EF4-FFF2-40B4-BE49-F238E27FC236}">
                <a16:creationId xmlns:a16="http://schemas.microsoft.com/office/drawing/2014/main" xmlns:ooxmlsdkcls="c:A16_CT_CreationId" id="{890FED2D-6DE6-4528-CEC4-A1B115005D03}"/>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3281781461"/>
      </p:ext>
    </p:extLst>
  </p:cSld>
  <p:clrMapOvr>
    <a:masterClrMapping/>
  </p:clrMapOvr>
  <p:extLst>
    <p:ext uri="ooxmlsdk">
      <ooxmlsdk:mediaFallback xmlns:ooxmlsdkcls="c:OOXMLSDK_CT_MediaFallback" target="/slidelayout//ppt/slideLayouts/slideLayout6.xml.png" type="slideLayout"/>
    </p:ext>
  </p:extLst>
</p:sldLayout>
</file>

<file path=ppt/slideLayouts/slideLayout7.xml><?xml version="1.0" encoding="utf-8"?>
<p:sldLayout xmlns:a="http://schemas.openxmlformats.org/drawingml/2006/main" xmlns:ooxmlsdk="ooxmlsdk" xmlns:p="http://schemas.openxmlformats.org/presentationml/2006/main" xmlns:r="http://schemas.openxmlformats.org/officeDocument/2006/relationships" preserve="1"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xmlns:ooxmlsdkcls="c:A16_CT_CreationId" id="{3C4BDD16-6439-B908-EDD7-E328E0DBDD56}"/>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3" name="页脚占位符 2">
            <a:extLst>
              <a:ext uri="{FF2B5EF4-FFF2-40B4-BE49-F238E27FC236}">
                <a16:creationId xmlns:a16="http://schemas.microsoft.com/office/drawing/2014/main" xmlns:ooxmlsdkcls="c:A16_CT_CreationId" id="{82E04F1C-1C5E-FF25-BFF4-A2FD0C4AB89F}"/>
              </a:ext>
            </a:extLst>
          </p:cNvPr>
          <p:cNvSpPr>
            <a:spLocks noGrp="1"/>
          </p:cNvSpPr>
          <p:nvPr>
            <p:ph idx="11" sz="quarter" type="ftr"/>
          </p:nvPr>
        </p:nvSpPr>
        <p:spPr/>
        <p:txBody>
          <a:bodyPr/>
          <a:lstStyle/>
          <a:p>
            <a:endParaRPr altLang="en-US" kumimoji="1" lang="zh-CN"/>
          </a:p>
        </p:txBody>
      </p:sp>
      <p:sp>
        <p:nvSpPr>
          <p:cNvPr id="4" name="灯片编号占位符 3">
            <a:extLst>
              <a:ext uri="{FF2B5EF4-FFF2-40B4-BE49-F238E27FC236}">
                <a16:creationId xmlns:a16="http://schemas.microsoft.com/office/drawing/2014/main" xmlns:ooxmlsdkcls="c:A16_CT_CreationId" id="{25C5C0E4-D1F8-57FC-808D-20A6FC4DDD99}"/>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495038035"/>
      </p:ext>
    </p:extLst>
  </p:cSld>
  <p:clrMapOvr>
    <a:masterClrMapping/>
  </p:clrMapOvr>
  <p:extLst>
    <p:ext uri="ooxmlsdk">
      <ooxmlsdk:mediaFallback xmlns:ooxmlsdkcls="c:OOXMLSDK_CT_MediaFallback" target="/slidelayout//ppt/slideLayouts/slideLayout7.xml.png" type="slideLayout"/>
    </p:ext>
  </p:extLst>
</p:sldLayout>
</file>

<file path=ppt/slideLayouts/slideLayout8.xml><?xml version="1.0" encoding="utf-8"?>
<p:sldLayout xmlns:a="http://schemas.openxmlformats.org/drawingml/2006/main" xmlns:ooxmlsdk="ooxmlsdk" xmlns:p="http://schemas.openxmlformats.org/presentationml/2006/main" xmlns:r="http://schemas.openxmlformats.org/officeDocument/2006/relationships" preserve="1" type="objTx">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ooxmlsdkcls="c:A16_CT_CreationId" id="{7843FCD8-D346-D209-27B3-7C09A6E16EBB}"/>
              </a:ext>
            </a:extLst>
          </p:cNvPr>
          <p:cNvSpPr>
            <a:spLocks noGrp="1"/>
          </p:cNvSpPr>
          <p:nvPr>
            <p:ph type="title"/>
          </p:nvPr>
        </p:nvSpPr>
        <p:spPr>
          <a:xfrm>
            <a:off x="839788" y="457200"/>
            <a:ext cx="3932237" cy="1600200"/>
          </a:xfrm>
        </p:spPr>
        <p:txBody>
          <a:bodyPr anchor="b"/>
          <a:lstStyle>
            <a:lvl1pPr>
              <a:defRPr sz="3200"/>
            </a:lvl1pPr>
          </a:lstStyle>
          <a:p>
            <a:r>
              <a:rPr altLang="en-US" kumimoji="1" lang="zh-CN"/>
              <a:t>单击此处编辑母版标题样式</a:t>
            </a:r>
          </a:p>
        </p:txBody>
      </p:sp>
      <p:sp>
        <p:nvSpPr>
          <p:cNvPr id="3" name="内容占位符 2">
            <a:extLst>
              <a:ext uri="{FF2B5EF4-FFF2-40B4-BE49-F238E27FC236}">
                <a16:creationId xmlns:a16="http://schemas.microsoft.com/office/drawing/2014/main" xmlns:ooxmlsdkcls="c:A16_CT_CreationId" id="{4FB47027-3D1C-237E-E4D0-376667F147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en-US" kumimoji="1" lang="zh-CN"/>
              <a:t>单击此处编辑母版文本样式</a:t>
            </a:r>
          </a:p>
          <a:p>
            <a:pPr lvl="1"/>
            <a:r>
              <a:rPr altLang="en-US" kumimoji="1" lang="zh-CN"/>
              <a:t>二级</a:t>
            </a:r>
          </a:p>
          <a:p>
            <a:pPr lvl="2"/>
            <a:r>
              <a:rPr altLang="en-US" kumimoji="1" lang="zh-CN"/>
              <a:t>三级</a:t>
            </a:r>
          </a:p>
          <a:p>
            <a:pPr lvl="3"/>
            <a:r>
              <a:rPr altLang="en-US" kumimoji="1" lang="zh-CN"/>
              <a:t>四级</a:t>
            </a:r>
          </a:p>
          <a:p>
            <a:pPr lvl="4"/>
            <a:r>
              <a:rPr altLang="en-US" kumimoji="1" lang="zh-CN"/>
              <a:t>五级</a:t>
            </a:r>
          </a:p>
        </p:txBody>
      </p:sp>
      <p:sp>
        <p:nvSpPr>
          <p:cNvPr id="4" name="文本占位符 3">
            <a:extLst>
              <a:ext uri="{FF2B5EF4-FFF2-40B4-BE49-F238E27FC236}">
                <a16:creationId xmlns:a16="http://schemas.microsoft.com/office/drawing/2014/main" xmlns:ooxmlsdkcls="c:A16_CT_CreationId" id="{F304B274-03F4-DFA5-61F7-9E8E0AC98463}"/>
              </a:ext>
            </a:extLst>
          </p:cNvPr>
          <p:cNvSpPr>
            <a:spLocks noGrp="1"/>
          </p:cNvSpPr>
          <p:nvPr>
            <p:ph idx="2" sz="half" type="body"/>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kumimoji="1" lang="zh-CN"/>
              <a:t>单击此处编辑母版文本样式</a:t>
            </a:r>
          </a:p>
        </p:txBody>
      </p:sp>
      <p:sp>
        <p:nvSpPr>
          <p:cNvPr id="5" name="日期占位符 4">
            <a:extLst>
              <a:ext uri="{FF2B5EF4-FFF2-40B4-BE49-F238E27FC236}">
                <a16:creationId xmlns:a16="http://schemas.microsoft.com/office/drawing/2014/main" xmlns:ooxmlsdkcls="c:A16_CT_CreationId" id="{D8BAC8FF-DC28-5C76-6936-568A1EF2BCE4}"/>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6" name="页脚占位符 5">
            <a:extLst>
              <a:ext uri="{FF2B5EF4-FFF2-40B4-BE49-F238E27FC236}">
                <a16:creationId xmlns:a16="http://schemas.microsoft.com/office/drawing/2014/main" xmlns:ooxmlsdkcls="c:A16_CT_CreationId" id="{0762A2AA-F26F-56C5-60C1-F265434CD341}"/>
              </a:ext>
            </a:extLst>
          </p:cNvPr>
          <p:cNvSpPr>
            <a:spLocks noGrp="1"/>
          </p:cNvSpPr>
          <p:nvPr>
            <p:ph idx="11" sz="quarter" type="ftr"/>
          </p:nvPr>
        </p:nvSpPr>
        <p:spPr/>
        <p:txBody>
          <a:bodyPr/>
          <a:lstStyle/>
          <a:p>
            <a:endParaRPr altLang="en-US" kumimoji="1" lang="zh-CN"/>
          </a:p>
        </p:txBody>
      </p:sp>
      <p:sp>
        <p:nvSpPr>
          <p:cNvPr id="7" name="灯片编号占位符 6">
            <a:extLst>
              <a:ext uri="{FF2B5EF4-FFF2-40B4-BE49-F238E27FC236}">
                <a16:creationId xmlns:a16="http://schemas.microsoft.com/office/drawing/2014/main" xmlns:ooxmlsdkcls="c:A16_CT_CreationId" id="{2E79CC6C-B836-7CF1-8B26-F26AD1439431}"/>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3850346981"/>
      </p:ext>
    </p:extLst>
  </p:cSld>
  <p:clrMapOvr>
    <a:masterClrMapping/>
  </p:clrMapOvr>
  <p:extLst>
    <p:ext uri="ooxmlsdk">
      <ooxmlsdk:mediaFallback xmlns:ooxmlsdkcls="c:OOXMLSDK_CT_MediaFallback" target="/slidelayout//ppt/slideLayouts/slideLayout8.xml.png" type="slideLayout"/>
    </p:ext>
  </p:extLst>
</p:sldLayout>
</file>

<file path=ppt/slideLayouts/slideLayout9.xml><?xml version="1.0" encoding="utf-8"?>
<p:sldLayout xmlns:a="http://schemas.openxmlformats.org/drawingml/2006/main" xmlns:ooxmlsdk="ooxmlsdk" xmlns:p="http://schemas.openxmlformats.org/presentationml/2006/main" xmlns:r="http://schemas.openxmlformats.org/officeDocument/2006/relationships" preserve="1" type="picTx">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ooxmlsdkcls="c:A16_CT_CreationId" id="{93E0D37B-120B-5DC1-45AB-49EAA8B78833}"/>
              </a:ext>
            </a:extLst>
          </p:cNvPr>
          <p:cNvSpPr>
            <a:spLocks noGrp="1"/>
          </p:cNvSpPr>
          <p:nvPr>
            <p:ph type="title"/>
          </p:nvPr>
        </p:nvSpPr>
        <p:spPr>
          <a:xfrm>
            <a:off x="839788" y="457200"/>
            <a:ext cx="3932237" cy="1600200"/>
          </a:xfrm>
        </p:spPr>
        <p:txBody>
          <a:bodyPr anchor="b"/>
          <a:lstStyle>
            <a:lvl1pPr>
              <a:defRPr sz="3200"/>
            </a:lvl1pPr>
          </a:lstStyle>
          <a:p>
            <a:r>
              <a:rPr altLang="en-US" kumimoji="1" lang="zh-CN"/>
              <a:t>单击此处编辑母版标题样式</a:t>
            </a:r>
          </a:p>
        </p:txBody>
      </p:sp>
      <p:sp>
        <p:nvSpPr>
          <p:cNvPr id="3" name="图片占位符 2">
            <a:extLst>
              <a:ext uri="{FF2B5EF4-FFF2-40B4-BE49-F238E27FC236}">
                <a16:creationId xmlns:a16="http://schemas.microsoft.com/office/drawing/2014/main" xmlns:ooxmlsdkcls="c:A16_CT_CreationId" id="{BB5A8308-143D-B013-FA6D-13A508B23FD4}"/>
              </a:ext>
            </a:extLst>
          </p:cNvPr>
          <p:cNvSpPr>
            <a:spLocks noGrp="1"/>
          </p:cNvSpPr>
          <p:nvPr>
            <p:ph idx="1" type="pic"/>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altLang="en-US" kumimoji="1" lang="zh-CN"/>
          </a:p>
        </p:txBody>
      </p:sp>
      <p:sp>
        <p:nvSpPr>
          <p:cNvPr id="4" name="文本占位符 3">
            <a:extLst>
              <a:ext uri="{FF2B5EF4-FFF2-40B4-BE49-F238E27FC236}">
                <a16:creationId xmlns:a16="http://schemas.microsoft.com/office/drawing/2014/main" xmlns:ooxmlsdkcls="c:A16_CT_CreationId" id="{A09730FC-073C-5B6F-22E8-FA4523B5C264}"/>
              </a:ext>
            </a:extLst>
          </p:cNvPr>
          <p:cNvSpPr>
            <a:spLocks noGrp="1"/>
          </p:cNvSpPr>
          <p:nvPr>
            <p:ph idx="2" sz="half" type="body"/>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en-US" kumimoji="1" lang="zh-CN"/>
              <a:t>单击此处编辑母版文本样式</a:t>
            </a:r>
          </a:p>
        </p:txBody>
      </p:sp>
      <p:sp>
        <p:nvSpPr>
          <p:cNvPr id="5" name="日期占位符 4">
            <a:extLst>
              <a:ext uri="{FF2B5EF4-FFF2-40B4-BE49-F238E27FC236}">
                <a16:creationId xmlns:a16="http://schemas.microsoft.com/office/drawing/2014/main" xmlns:ooxmlsdkcls="c:A16_CT_CreationId" id="{9C0007D1-71A0-CD5F-5290-4EB94B79278E}"/>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6" name="页脚占位符 5">
            <a:extLst>
              <a:ext uri="{FF2B5EF4-FFF2-40B4-BE49-F238E27FC236}">
                <a16:creationId xmlns:a16="http://schemas.microsoft.com/office/drawing/2014/main" xmlns:ooxmlsdkcls="c:A16_CT_CreationId" id="{F4971ABE-DCFA-3F63-9336-9EBAF4904CA5}"/>
              </a:ext>
            </a:extLst>
          </p:cNvPr>
          <p:cNvSpPr>
            <a:spLocks noGrp="1"/>
          </p:cNvSpPr>
          <p:nvPr>
            <p:ph idx="11" sz="quarter" type="ftr"/>
          </p:nvPr>
        </p:nvSpPr>
        <p:spPr/>
        <p:txBody>
          <a:bodyPr/>
          <a:lstStyle/>
          <a:p>
            <a:endParaRPr altLang="en-US" kumimoji="1" lang="zh-CN"/>
          </a:p>
        </p:txBody>
      </p:sp>
      <p:sp>
        <p:nvSpPr>
          <p:cNvPr id="7" name="灯片编号占位符 6">
            <a:extLst>
              <a:ext uri="{FF2B5EF4-FFF2-40B4-BE49-F238E27FC236}">
                <a16:creationId xmlns:a16="http://schemas.microsoft.com/office/drawing/2014/main" xmlns:ooxmlsdkcls="c:A16_CT_CreationId" id="{BF786D08-7017-BD7F-109B-79A0EF202E2B}"/>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1851326504"/>
      </p:ext>
    </p:extLst>
  </p:cSld>
  <p:clrMapOvr>
    <a:masterClrMapping/>
  </p:clrMapOvr>
  <p:extLst>
    <p:ext uri="ooxmlsdk">
      <ooxmlsdk:mediaFallback xmlns:ooxmlsdkcls="c:OOXMLSDK_CT_MediaFallback" target="/slidelayout//ppt/slideLayouts/slideLayout9.xml.png" type="slideLayout"/>
    </p:ext>
  </p:extLst>
</p:sldLayout>
</file>

<file path=ppt/slideLayouts/slideLayout10.xml><?xml version="1.0" encoding="utf-8"?>
<p:sldLayout xmlns:a="http://schemas.openxmlformats.org/drawingml/2006/main" xmlns:ooxmlsdk="ooxmlsdk" xmlns:p="http://schemas.openxmlformats.org/presentationml/2006/main" xmlns:r="http://schemas.openxmlformats.org/officeDocument/2006/relationships" preserve="1" type="vertTx">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xmlns:ooxmlsdkcls="c:A16_CT_CreationId" id="{B19FE248-CB53-29A6-B21F-1B9B25DDF73C}"/>
              </a:ext>
            </a:extLst>
          </p:cNvPr>
          <p:cNvSpPr>
            <a:spLocks noGrp="1"/>
          </p:cNvSpPr>
          <p:nvPr>
            <p:ph type="title"/>
          </p:nvPr>
        </p:nvSpPr>
        <p:spPr/>
        <p:txBody>
          <a:bodyPr/>
          <a:lstStyle/>
          <a:p>
            <a:r>
              <a:rPr altLang="en-US" kumimoji="1" lang="zh-CN"/>
              <a:t>单击此处编辑母版标题样式</a:t>
            </a:r>
          </a:p>
        </p:txBody>
      </p:sp>
      <p:sp>
        <p:nvSpPr>
          <p:cNvPr id="3" name="竖排文字占位符 2">
            <a:extLst>
              <a:ext uri="{FF2B5EF4-FFF2-40B4-BE49-F238E27FC236}">
                <a16:creationId xmlns:a16="http://schemas.microsoft.com/office/drawing/2014/main" xmlns:ooxmlsdkcls="c:A16_CT_CreationId" id="{B3CB66B5-34D0-BDE9-5932-0E416504FDCD}"/>
              </a:ext>
            </a:extLst>
          </p:cNvPr>
          <p:cNvSpPr>
            <a:spLocks noGrp="1"/>
          </p:cNvSpPr>
          <p:nvPr>
            <p:ph idx="1" orient="vert" type="body"/>
          </p:nvPr>
        </p:nvSpPr>
        <p:spPr/>
        <p:txBody>
          <a:bodyPr vert="eaVert"/>
          <a:lstStyle/>
          <a:p>
            <a:pPr lvl="0"/>
            <a:r>
              <a:rPr altLang="en-US" kumimoji="1" lang="zh-CN"/>
              <a:t>单击此处编辑母版文本样式</a:t>
            </a:r>
          </a:p>
          <a:p>
            <a:pPr lvl="1"/>
            <a:r>
              <a:rPr altLang="en-US" kumimoji="1" lang="zh-CN"/>
              <a:t>二级</a:t>
            </a:r>
          </a:p>
          <a:p>
            <a:pPr lvl="2"/>
            <a:r>
              <a:rPr altLang="en-US" kumimoji="1" lang="zh-CN"/>
              <a:t>三级</a:t>
            </a:r>
          </a:p>
          <a:p>
            <a:pPr lvl="3"/>
            <a:r>
              <a:rPr altLang="en-US" kumimoji="1" lang="zh-CN"/>
              <a:t>四级</a:t>
            </a:r>
          </a:p>
          <a:p>
            <a:pPr lvl="4"/>
            <a:r>
              <a:rPr altLang="en-US" kumimoji="1" lang="zh-CN"/>
              <a:t>五级</a:t>
            </a:r>
          </a:p>
        </p:txBody>
      </p:sp>
      <p:sp>
        <p:nvSpPr>
          <p:cNvPr id="4" name="日期占位符 3">
            <a:extLst>
              <a:ext uri="{FF2B5EF4-FFF2-40B4-BE49-F238E27FC236}">
                <a16:creationId xmlns:a16="http://schemas.microsoft.com/office/drawing/2014/main" xmlns:ooxmlsdkcls="c:A16_CT_CreationId" id="{2BD9B6BF-E627-7250-3EDA-1287E1110522}"/>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5" name="页脚占位符 4">
            <a:extLst>
              <a:ext uri="{FF2B5EF4-FFF2-40B4-BE49-F238E27FC236}">
                <a16:creationId xmlns:a16="http://schemas.microsoft.com/office/drawing/2014/main" xmlns:ooxmlsdkcls="c:A16_CT_CreationId" id="{AA7CADA8-4560-F141-7ED6-BD570DF7468A}"/>
              </a:ext>
            </a:extLst>
          </p:cNvPr>
          <p:cNvSpPr>
            <a:spLocks noGrp="1"/>
          </p:cNvSpPr>
          <p:nvPr>
            <p:ph idx="11" sz="quarter" type="ftr"/>
          </p:nvPr>
        </p:nvSpPr>
        <p:spPr/>
        <p:txBody>
          <a:bodyPr/>
          <a:lstStyle/>
          <a:p>
            <a:endParaRPr altLang="en-US" kumimoji="1" lang="zh-CN"/>
          </a:p>
        </p:txBody>
      </p:sp>
      <p:sp>
        <p:nvSpPr>
          <p:cNvPr id="6" name="灯片编号占位符 5">
            <a:extLst>
              <a:ext uri="{FF2B5EF4-FFF2-40B4-BE49-F238E27FC236}">
                <a16:creationId xmlns:a16="http://schemas.microsoft.com/office/drawing/2014/main" xmlns:ooxmlsdkcls="c:A16_CT_CreationId" id="{24590A53-D30B-FB19-DA4E-56FFB4BECD9D}"/>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1821721733"/>
      </p:ext>
    </p:extLst>
  </p:cSld>
  <p:clrMapOvr>
    <a:masterClrMapping/>
  </p:clrMapOvr>
  <p:extLst>
    <p:ext uri="ooxmlsdk">
      <ooxmlsdk:mediaFallback xmlns:ooxmlsdkcls="c:OOXMLSDK_CT_MediaFallback" target="/slidelayout//ppt/slideLayouts/slideLayout10.xml.png" type="slideLayout"/>
    </p:ext>
  </p:extLst>
</p:sldLayout>
</file>

<file path=ppt/slideLayouts/slideLayout11.xml><?xml version="1.0" encoding="utf-8"?>
<p:sldLayout xmlns:a="http://schemas.openxmlformats.org/drawingml/2006/main" xmlns:ooxmlsdk="ooxmlsdk" xmlns:p="http://schemas.openxmlformats.org/presentationml/2006/main" xmlns:r="http://schemas.openxmlformats.org/officeDocument/2006/relationships" preserve="1" type="vertTitleAndTx">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xmlns:ooxmlsdkcls="c:A16_CT_CreationId" id="{9F20F4DD-F736-F394-947B-5741BD745FEF}"/>
              </a:ext>
            </a:extLst>
          </p:cNvPr>
          <p:cNvSpPr>
            <a:spLocks noGrp="1"/>
          </p:cNvSpPr>
          <p:nvPr>
            <p:ph orient="vert" type="title"/>
          </p:nvPr>
        </p:nvSpPr>
        <p:spPr>
          <a:xfrm>
            <a:off x="8724900" y="365125"/>
            <a:ext cx="2628900" cy="5811838"/>
          </a:xfrm>
        </p:spPr>
        <p:txBody>
          <a:bodyPr vert="eaVert"/>
          <a:lstStyle/>
          <a:p>
            <a:r>
              <a:rPr altLang="en-US" kumimoji="1" lang="zh-CN"/>
              <a:t>单击此处编辑母版标题样式</a:t>
            </a:r>
          </a:p>
        </p:txBody>
      </p:sp>
      <p:sp>
        <p:nvSpPr>
          <p:cNvPr id="3" name="竖排文字占位符 2">
            <a:extLst>
              <a:ext uri="{FF2B5EF4-FFF2-40B4-BE49-F238E27FC236}">
                <a16:creationId xmlns:a16="http://schemas.microsoft.com/office/drawing/2014/main" xmlns:ooxmlsdkcls="c:A16_CT_CreationId" id="{B6E099BE-C301-7614-65DF-46D9E84D64D7}"/>
              </a:ext>
            </a:extLst>
          </p:cNvPr>
          <p:cNvSpPr>
            <a:spLocks noGrp="1"/>
          </p:cNvSpPr>
          <p:nvPr>
            <p:ph idx="1" orient="vert" type="body"/>
          </p:nvPr>
        </p:nvSpPr>
        <p:spPr>
          <a:xfrm>
            <a:off x="838200" y="365125"/>
            <a:ext cx="7734300" cy="5811838"/>
          </a:xfrm>
        </p:spPr>
        <p:txBody>
          <a:bodyPr vert="eaVert"/>
          <a:lstStyle/>
          <a:p>
            <a:pPr lvl="0"/>
            <a:r>
              <a:rPr altLang="en-US" kumimoji="1" lang="zh-CN"/>
              <a:t>单击此处编辑母版文本样式</a:t>
            </a:r>
          </a:p>
          <a:p>
            <a:pPr lvl="1"/>
            <a:r>
              <a:rPr altLang="en-US" kumimoji="1" lang="zh-CN"/>
              <a:t>二级</a:t>
            </a:r>
          </a:p>
          <a:p>
            <a:pPr lvl="2"/>
            <a:r>
              <a:rPr altLang="en-US" kumimoji="1" lang="zh-CN"/>
              <a:t>三级</a:t>
            </a:r>
          </a:p>
          <a:p>
            <a:pPr lvl="3"/>
            <a:r>
              <a:rPr altLang="en-US" kumimoji="1" lang="zh-CN"/>
              <a:t>四级</a:t>
            </a:r>
          </a:p>
          <a:p>
            <a:pPr lvl="4"/>
            <a:r>
              <a:rPr altLang="en-US" kumimoji="1" lang="zh-CN"/>
              <a:t>五级</a:t>
            </a:r>
          </a:p>
        </p:txBody>
      </p:sp>
      <p:sp>
        <p:nvSpPr>
          <p:cNvPr id="4" name="日期占位符 3">
            <a:extLst>
              <a:ext uri="{FF2B5EF4-FFF2-40B4-BE49-F238E27FC236}">
                <a16:creationId xmlns:a16="http://schemas.microsoft.com/office/drawing/2014/main" xmlns:ooxmlsdkcls="c:A16_CT_CreationId" id="{5B136390-1E46-C21F-75CD-E31A78324479}"/>
              </a:ext>
            </a:extLst>
          </p:cNvPr>
          <p:cNvSpPr>
            <a:spLocks noGrp="1"/>
          </p:cNvSpPr>
          <p:nvPr>
            <p:ph idx="10" sz="half" type="dt"/>
          </p:nvPr>
        </p:nvSpPr>
        <p:spPr/>
        <p:txBody>
          <a:bodyPr/>
          <a:lstStyle/>
          <a:p>
            <a:fld id="{BDC48963-C8E2-1E4C-A771-F62A9F2C7DEC}" type="datetimeFigureOut">
              <a:rPr altLang="en-US" kumimoji="1" lang="zh-CN" smtClean="0"/>
              <a:t>2025/10/20</a:t>
            </a:fld>
            <a:endParaRPr altLang="en-US" kumimoji="1" lang="zh-CN"/>
          </a:p>
        </p:txBody>
      </p:sp>
      <p:sp>
        <p:nvSpPr>
          <p:cNvPr id="5" name="页脚占位符 4">
            <a:extLst>
              <a:ext uri="{FF2B5EF4-FFF2-40B4-BE49-F238E27FC236}">
                <a16:creationId xmlns:a16="http://schemas.microsoft.com/office/drawing/2014/main" xmlns:ooxmlsdkcls="c:A16_CT_CreationId" id="{785A1DA6-C2F0-C179-3F42-8D6667B9AE87}"/>
              </a:ext>
            </a:extLst>
          </p:cNvPr>
          <p:cNvSpPr>
            <a:spLocks noGrp="1"/>
          </p:cNvSpPr>
          <p:nvPr>
            <p:ph idx="11" sz="quarter" type="ftr"/>
          </p:nvPr>
        </p:nvSpPr>
        <p:spPr/>
        <p:txBody>
          <a:bodyPr/>
          <a:lstStyle/>
          <a:p>
            <a:endParaRPr altLang="en-US" kumimoji="1" lang="zh-CN"/>
          </a:p>
        </p:txBody>
      </p:sp>
      <p:sp>
        <p:nvSpPr>
          <p:cNvPr id="6" name="灯片编号占位符 5">
            <a:extLst>
              <a:ext uri="{FF2B5EF4-FFF2-40B4-BE49-F238E27FC236}">
                <a16:creationId xmlns:a16="http://schemas.microsoft.com/office/drawing/2014/main" xmlns:ooxmlsdkcls="c:A16_CT_CreationId" id="{B4619AC8-8FAF-9013-7FB4-18456D33271D}"/>
              </a:ext>
            </a:extLst>
          </p:cNvPr>
          <p:cNvSpPr>
            <a:spLocks noGrp="1"/>
          </p:cNvSpPr>
          <p:nvPr>
            <p:ph idx="12" sz="quarter" type="sldNum"/>
          </p:nvPr>
        </p:nvSpPr>
        <p:spPr/>
        <p:txBody>
          <a:body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2923299543"/>
      </p:ext>
    </p:extLst>
  </p:cSld>
  <p:clrMapOvr>
    <a:masterClrMapping/>
  </p:clrMapOvr>
  <p:extLst>
    <p:ext uri="ooxmlsdk">
      <ooxmlsdk:mediaFallback xmlns:ooxmlsdkcls="c:OOXMLSDK_CT_MediaFallback" target="/slidelayout//ppt/slideLayouts/slideLayout11.xml.png" type="slideLayout"/>
    </p:ext>
  </p:extLst>
</p:sldLayout>
</file>

<file path=ppt/slideMasters/_rels/slideMaster1.xml.rels><?xml version="1.0" encoding="UTF-8" standalone="yes"?>
<Relationships xmlns="http://schemas.openxmlformats.org/package/2006/relationships">
<Relationship Target="../slideLayouts/slideLayout1.xml" Type="http://schemas.openxmlformats.org/officeDocument/2006/relationships/slideLayout" Id="rId1"/>
<Relationship Target="../slideLayouts/slideLayout10.xml" Type="http://schemas.openxmlformats.org/officeDocument/2006/relationships/slideLayout" Id="rId10"/>
<Relationship Target="../slideLayouts/slideLayout11.xml" Type="http://schemas.openxmlformats.org/officeDocument/2006/relationships/slideLayout" Id="rId11"/>
<Relationship Target="../theme/theme1.xml" Type="http://schemas.openxmlformats.org/officeDocument/2006/relationships/theme" Id="rId12"/>
<Relationship Target="../slideLayouts/slideLayout2.xml" Type="http://schemas.openxmlformats.org/officeDocument/2006/relationships/slideLayout" Id="rId2"/>
<Relationship Target="../slideLayouts/slideLayout3.xml" Type="http://schemas.openxmlformats.org/officeDocument/2006/relationships/slideLayout" Id="rId3"/>
<Relationship Target="../slideLayouts/slideLayout4.xml" Type="http://schemas.openxmlformats.org/officeDocument/2006/relationships/slideLayout" Id="rId4"/>
<Relationship Target="../slideLayouts/slideLayout5.xml" Type="http://schemas.openxmlformats.org/officeDocument/2006/relationships/slideLayout" Id="rId5"/>
<Relationship Target="../slideLayouts/slideLayout6.xml" Type="http://schemas.openxmlformats.org/officeDocument/2006/relationships/slideLayout" Id="rId6"/>
<Relationship Target="../slideLayouts/slideLayout7.xml" Type="http://schemas.openxmlformats.org/officeDocument/2006/relationships/slideLayout" Id="rId7"/>
<Relationship Target="../slideLayouts/slideLayout8.xml" Type="http://schemas.openxmlformats.org/officeDocument/2006/relationships/slideLayout" Id="rId8"/>
<Relationship Target="../slideLayouts/slideLayout9.xml" Type="http://schemas.openxmlformats.org/officeDocument/2006/relationships/slideLayout" Id="rId9"/>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xmlns:ooxmlsdkcls="c:A16_CT_CreationId" id="{779C2722-3B8C-2065-5AC5-263CFE98FEE5}"/>
              </a:ext>
            </a:extLst>
          </p:cNvPr>
          <p:cNvSpPr>
            <a:spLocks noGrp="1"/>
          </p:cNvSpPr>
          <p:nvPr>
            <p:ph type="title"/>
          </p:nvPr>
        </p:nvSpPr>
        <p:spPr>
          <a:xfrm>
            <a:off x="838200" y="365125"/>
            <a:ext cx="10515600" cy="1325563"/>
          </a:xfrm>
          <a:prstGeom prst="rect">
            <a:avLst/>
          </a:prstGeom>
        </p:spPr>
        <p:txBody>
          <a:bodyPr anchor="ctr" bIns="45720" lIns="91440" rIns="91440" rtlCol="0" tIns="45720" vert="horz">
            <a:normAutofit/>
          </a:bodyPr>
          <a:lstStyle/>
          <a:p>
            <a:r>
              <a:rPr altLang="en-US" kumimoji="1" lang="zh-CN"/>
              <a:t>单击此处编辑母版标题样式</a:t>
            </a:r>
          </a:p>
        </p:txBody>
      </p:sp>
      <p:sp>
        <p:nvSpPr>
          <p:cNvPr id="3" name="文本占位符 2">
            <a:extLst>
              <a:ext uri="{FF2B5EF4-FFF2-40B4-BE49-F238E27FC236}">
                <a16:creationId xmlns:a16="http://schemas.microsoft.com/office/drawing/2014/main" xmlns:ooxmlsdkcls="c:A16_CT_CreationId" id="{857A3692-2AD9-CE6F-D53F-7845B9B389BC}"/>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kumimoji="1" lang="zh-CN"/>
              <a:t>单击此处编辑母版文本样式</a:t>
            </a:r>
          </a:p>
          <a:p>
            <a:pPr lvl="1"/>
            <a:r>
              <a:rPr altLang="en-US" kumimoji="1" lang="zh-CN"/>
              <a:t>二级</a:t>
            </a:r>
          </a:p>
          <a:p>
            <a:pPr lvl="2"/>
            <a:r>
              <a:rPr altLang="en-US" kumimoji="1" lang="zh-CN"/>
              <a:t>三级</a:t>
            </a:r>
          </a:p>
          <a:p>
            <a:pPr lvl="3"/>
            <a:r>
              <a:rPr altLang="en-US" kumimoji="1" lang="zh-CN"/>
              <a:t>四级</a:t>
            </a:r>
          </a:p>
          <a:p>
            <a:pPr lvl="4"/>
            <a:r>
              <a:rPr altLang="en-US" kumimoji="1" lang="zh-CN"/>
              <a:t>五级</a:t>
            </a:r>
          </a:p>
        </p:txBody>
      </p:sp>
      <p:sp>
        <p:nvSpPr>
          <p:cNvPr id="4" name="日期占位符 3">
            <a:extLst>
              <a:ext uri="{FF2B5EF4-FFF2-40B4-BE49-F238E27FC236}">
                <a16:creationId xmlns:a16="http://schemas.microsoft.com/office/drawing/2014/main" xmlns:ooxmlsdkcls="c:A16_CT_CreationId" id="{7B51CEA3-90BC-60A3-2BF0-EFFB67E7C6ED}"/>
              </a:ext>
            </a:extLst>
          </p:cNvPr>
          <p:cNvSpPr>
            <a:spLocks noGrp="1"/>
          </p:cNvSpPr>
          <p:nvPr>
            <p:ph idx="2" sz="half" type="dt"/>
          </p:nvPr>
        </p:nvSpPr>
        <p:spPr>
          <a:xfrm>
            <a:off x="838200" y="6356350"/>
            <a:ext cx="2743200" cy="365125"/>
          </a:xfrm>
          <a:prstGeom prst="rect">
            <a:avLst/>
          </a:prstGeom>
        </p:spPr>
        <p:txBody>
          <a:bodyPr anchor="ctr" bIns="45720" lIns="91440" rIns="91440" rtlCol="0" tIns="45720" vert="horz"/>
          <a:lstStyle>
            <a:lvl1pPr algn="l">
              <a:defRPr sz="1200">
                <a:solidFill>
                  <a:schemeClr val="tx1">
                    <a:tint val="75000"/>
                  </a:schemeClr>
                </a:solidFill>
              </a:defRPr>
            </a:lvl1pPr>
          </a:lstStyle>
          <a:p>
            <a:fld id="{BDC48963-C8E2-1E4C-A771-F62A9F2C7DEC}" type="datetimeFigureOut">
              <a:rPr altLang="en-US" kumimoji="1" lang="zh-CN" smtClean="0"/>
              <a:t>2025/10/20</a:t>
            </a:fld>
            <a:endParaRPr altLang="en-US" kumimoji="1" lang="zh-CN"/>
          </a:p>
        </p:txBody>
      </p:sp>
      <p:sp>
        <p:nvSpPr>
          <p:cNvPr id="5" name="页脚占位符 4">
            <a:extLst>
              <a:ext uri="{FF2B5EF4-FFF2-40B4-BE49-F238E27FC236}">
                <a16:creationId xmlns:a16="http://schemas.microsoft.com/office/drawing/2014/main" xmlns:ooxmlsdkcls="c:A16_CT_CreationId" id="{CA196AE0-833D-16AA-C61D-4401D75F8977}"/>
              </a:ext>
            </a:extLst>
          </p:cNvPr>
          <p:cNvSpPr>
            <a:spLocks noGrp="1"/>
          </p:cNvSpPr>
          <p:nvPr>
            <p:ph idx="3" sz="quarter" type="ftr"/>
          </p:nvPr>
        </p:nvSpPr>
        <p:spPr>
          <a:xfrm>
            <a:off x="4038600" y="6356350"/>
            <a:ext cx="4114800" cy="365125"/>
          </a:xfrm>
          <a:prstGeom prst="rect">
            <a:avLst/>
          </a:prstGeom>
        </p:spPr>
        <p:txBody>
          <a:bodyPr anchor="ctr" bIns="45720" lIns="91440" rIns="91440" rtlCol="0" tIns="45720" vert="horz"/>
          <a:lstStyle>
            <a:lvl1pPr algn="ctr">
              <a:defRPr sz="1200">
                <a:solidFill>
                  <a:schemeClr val="tx1">
                    <a:tint val="75000"/>
                  </a:schemeClr>
                </a:solidFill>
              </a:defRPr>
            </a:lvl1pPr>
          </a:lstStyle>
          <a:p>
            <a:endParaRPr altLang="en-US" kumimoji="1" lang="zh-CN"/>
          </a:p>
        </p:txBody>
      </p:sp>
      <p:sp>
        <p:nvSpPr>
          <p:cNvPr id="6" name="灯片编号占位符 5">
            <a:extLst>
              <a:ext uri="{FF2B5EF4-FFF2-40B4-BE49-F238E27FC236}">
                <a16:creationId xmlns:a16="http://schemas.microsoft.com/office/drawing/2014/main" xmlns:ooxmlsdkcls="c:A16_CT_CreationId" id="{03FBC43C-0D70-FA29-5981-9056C96452AA}"/>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14F1114B-15D0-654E-97CA-9E77F051A874}" type="slidenum">
              <a:rPr altLang="en-US" kumimoji="1" lang="zh-CN" smtClean="0"/>
              <a:t>‹#›</a:t>
            </a:fld>
            <a:endParaRPr altLang="en-US" kumimoji="1" lang="zh-CN"/>
          </a:p>
        </p:txBody>
      </p:sp>
    </p:spTree>
    <p:extLst>
      <p:ext uri="{BB962C8B-B14F-4D97-AF65-F5344CB8AC3E}">
        <p14:creationId xmlns:ooxmlsdkcls="c:P14_CT_RandomId" xmlns:p14="http://schemas.microsoft.com/office/powerpoint/2010/main" val="3258487986"/>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kern="1200" sz="44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sldMaster>
</file>

<file path=ppt/slides/_rels/slide.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 Target="../media/image2.png" Type="http://schemas.openxmlformats.org/officeDocument/2006/relationships/image" Id="rId3"/>
</rels:Relationships>

</file>

<file path=ppt/slides/_rels/slide1.xml.rels><?xml version="1.0" encoding="UTF-8" standalone="yes"?>
<Relationships xmlns="http://schemas.openxmlformats.org/package/2006/relationships">
<Relationship Target="../slideLayouts/slideLayout7.xml" Type="http://schemas.openxmlformats.org/officeDocument/2006/relationships/slideLayout" Id="rId1"/>
<Relationship Target="../media/image1.png" Type="http://schemas.openxmlformats.org/officeDocument/2006/relationships/image" Id="rId2"/>
</Relationships>

</file>

<file path=ppt/slides/_rels/slide2.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3.png" Type="http://schemas.openxmlformats.org/officeDocument/2006/relationships/image" Id="rId2"/>
</rels:Relationships>

</file>

<file path=ppt/slides/_rels/slide3.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 Target="../media/image.jpg" Type="http://schemas.openxmlformats.org/officeDocument/2006/relationships/image" Id="rId3"/>
<rels:Relationship Target="../media/image4.png" Type="http://schemas.openxmlformats.org/officeDocument/2006/relationships/image" Id="rId4"/>
</rels:Relationships>

</file>

<file path=ppt/slides/_rels/slide4.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 Target="../media/image5.png" Type="http://schemas.openxmlformats.org/officeDocument/2006/relationships/image" Id="rId3"/>
</rels:Relationships>

</file>

<file path=ppt/slides/_rels/slide5.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 Target="../media/image6.png" Type="http://schemas.openxmlformats.org/officeDocument/2006/relationships/image" Id="rId3"/>
</rels:Relationships>

</file>

<file path=ppt/slides/_rels/slide6.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7.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8.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 Target="../media/image7.png" Type="http://schemas.openxmlformats.org/officeDocument/2006/relationships/image" Id="rId3"/>
</rels:Relationships>

</file>

<file path=ppt/slides/_rels/slide9.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3.png" Type="http://schemas.openxmlformats.org/officeDocument/2006/relationships/image" Id="rId2"/>
</rels:Relationships>

</file>

<file path=ppt/slides/_rels/slide10.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11.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12.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13.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3.png" Type="http://schemas.openxmlformats.org/officeDocument/2006/relationships/image" Id="rId2"/>
</rels:Relationships>

</file>

<file path=ppt/slides/_rels/slide14.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 Target="../media/image8.png" Type="http://schemas.openxmlformats.org/officeDocument/2006/relationships/image" Id="rId3"/>
</rels:Relationships>

</file>

<file path=ppt/slides/_rels/slide15.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 Target="../media/image1.jpg" Type="http://schemas.openxmlformats.org/officeDocument/2006/relationships/image" Id="rId3"/>
</rels:Relationships>

</file>

<file path=ppt/slides/_rels/slide16.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17.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18.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3.png" Type="http://schemas.openxmlformats.org/officeDocument/2006/relationships/image" Id="rId2"/>
</rels:Relationships>

</file>

<file path=ppt/slides/_rels/slide19.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20.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21.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22.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3.png" Type="http://schemas.openxmlformats.org/officeDocument/2006/relationships/image" Id="rId2"/>
</rels:Relationships>

</file>

<file path=ppt/slides/_rels/slide23.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24.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25.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png" Type="http://schemas.openxmlformats.org/officeDocument/2006/relationships/image" Id="rId2"/>
</rels:Relationships>

</file>

<file path=ppt/slides/_rels/slide26.xml.rels><?xml version="1.0" encoding="UTF-8" standalone="yes"?>
<rels:Relationships xmlns:rels="http://schemas.openxmlformats.org/package/2006/relationships">
<rels:Relationship Target="../slideLayouts/slideLayout7.xml" Type="http://schemas.openxmlformats.org/officeDocument/2006/relationships/slideLayout" Id="rId1"/>
<rels:Relationship Target="../media/image9.png" Type="http://schemas.openxmlformats.org/officeDocument/2006/relationships/image" Id="rId2"/>
</rels:Relationships>

</file>

<file path=ppt/slides/slide.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rot="0">
            <a:off x="0" y="0"/>
            <a:ext cx="12192000" cy="6858000"/>
          </a:xfrm>
          <a:prstGeom prst="rect">
            <a:avLst/>
          </a:prstGeom>
        </p:spPr>
        <p:extLst>
          <p:ext uri="http://schemas.baidu.com/office/drawing/2023/templateData">
            <bd:templateData xmlns:bd="http://schemas.baidu.com/office/drawing/2023/templateData">eyJfdGVtcGxhdGVEYXRhIjp7ImNvbnRlbnRUeXBlIjoiIn0sInRhZyI6Im5vRWRpdCJ9</bd:templateData>
          </p:ext>
        </p:extLst>
      </p:pic>
      <p:grpSp>
        <p:nvGrpSpPr>
          <p:cNvPr id="3" name="Group 3"/>
          <p:cNvGrpSpPr/>
          <p:nvPr/>
        </p:nvGrpSpPr>
        <p:grpSpPr>
          <a:xfrm rot="0">
            <a:off x="56884" y="88505"/>
            <a:ext cx="3034548" cy="1352723"/>
            <a:chOff x="56884" y="88505"/>
            <a:chExt cx="3034548" cy="1352723"/>
          </a:xfrm>
        </p:grpSpPr>
        <p:sp>
          <p:nvSpPr>
            <p:cNvPr id="4" name="TextBox 4"/>
            <p:cNvSpPr txBox="1"/>
            <p:nvPr/>
          </p:nvSpPr>
          <p:spPr>
            <a:xfrm rot="0">
              <a:off x="130343" y="88505"/>
              <a:ext cx="2887630" cy="977265"/>
            </a:xfrm>
            <a:prstGeom prst="rect">
              <a:avLst/>
            </a:prstGeom>
            <a:ln/>
          </p:spPr>
          <p:txBody>
            <a:bodyPr anchor="ctr" anchorCtr="0" bIns="45720" lIns="91440" rIns="91440" rtlCol="0" tIns="45720" vert="horz" wrap="square">
              <a:noAutofit/>
            </a:bodyPr>
            <a:lstStyle/>
            <a:p>
              <a:pPr algn="ctr">
                <a:lnSpc>
                  <a:spcPct val="100000"/>
                </a:lnSpc>
                <a:spcBef>
                  <a:spcPts val="375"/>
                </a:spcBef>
              </a:pPr>
              <a:r>
                <a:rPr b="1" lang="en-US" sz="5400">
                  <a:solidFill>
                    <a:srgbClr val="152815">
                      <a:alpha val="100000"/>
                    </a:srgbClr>
                  </a:solidFill>
                  <a:latin typeface="Noto Sans SC"/>
                  <a:ea typeface="Noto Sans SC"/>
                  <a:cs typeface="Noto Sans SC"/>
                </a:rPr>
                <a:t>目  录</a:t>
              </a:r>
            </a:p>
          </p:txBody>
          <p:extLst>
            <p:ext uri="http://schemas.baidu.com/office/drawing/2023/templateData">
              <bd:templateData xmlns:bd="http://schemas.baidu.com/office/drawing/2023/templateData">eyJfdGVtcGxhdGVEYXRhIjp7ImxpbmVDb3VudCI6IjEiLCJ3b3JkQ291bnQiOiIyIn19</bd:templateData>
            </p:ext>
          </p:extLst>
        </p:sp>
        <p:sp>
          <p:nvSpPr>
            <p:cNvPr id="5" name="TextBox 5"/>
            <p:cNvSpPr txBox="1"/>
            <p:nvPr/>
          </p:nvSpPr>
          <p:spPr>
            <a:xfrm rot="0">
              <a:off x="56884" y="958677"/>
              <a:ext cx="3034548" cy="482551"/>
            </a:xfrm>
            <a:prstGeom prst="rect">
              <a:avLst/>
            </a:prstGeom>
            <a:ln/>
          </p:spPr>
          <p:txBody>
            <a:bodyPr anchor="t" anchorCtr="0" bIns="57150" lIns="114300" rIns="114300" rtlCol="0" tIns="57150" vert="horz" wrap="square">
              <a:noAutofit/>
            </a:bodyPr>
            <a:lstStyle/>
            <a:p>
              <a:pPr algn="ctr">
                <a:lnSpc>
                  <a:spcPct val="120000"/>
                </a:lnSpc>
              </a:pPr>
              <a:r>
                <a:rPr lang="en-US" sz="1400">
                  <a:solidFill>
                    <a:srgbClr val="1ACA6E">
                      <a:alpha val="100000"/>
                    </a:srgbClr>
                  </a:solidFill>
                  <a:latin typeface="Noto Sans SC"/>
                  <a:ea typeface="Noto Sans SC"/>
                  <a:cs typeface="Noto Sans SC"/>
                </a:rPr>
                <a:t>CATALOGUE</a:t>
              </a:r>
            </a:p>
          </p:txBody>
          <p:extLst>
            <p:ext uri="http://schemas.baidu.com/office/drawing/2023/templateData">
              <bd:templateData xmlns:bd="http://schemas.baidu.com/office/drawing/2023/templateData">eyJfdGVtcGxhdGVEYXRhIjp7ImxpbmVDb3VudCI6IjEiLCJ3b3JkQ291bnQiOiIxNCJ9fQ==</bd:templateData>
            </p:ext>
          </p:extLst>
        </p:sp>
      </p:grpSp>
      <p:sp>
        <p:nvSpPr>
          <p:cNvPr id="6" name="TextBox 6"/>
          <p:cNvSpPr txBox="1"/>
          <p:nvPr/>
        </p:nvSpPr>
        <p:spPr>
          <a:xfrm rot="0">
            <a:off x="747688" y="2671419"/>
            <a:ext cx="790575" cy="457200"/>
          </a:xfrm>
          <a:prstGeom prst="rect">
            <a:avLst/>
          </a:prstGeom>
          <a:ln/>
        </p:spPr>
        <p:txBody>
          <a:bodyPr anchor="t" anchorCtr="0" bIns="0" lIns="0" rIns="0" rtlCol="0" tIns="0" vert="horz" wrap="square">
            <a:spAutoFit/>
          </a:bodyPr>
          <a:lstStyle/>
          <a:p>
            <a:pPr>
              <a:lnSpc>
                <a:spcPct val="100000"/>
              </a:lnSpc>
              <a:spcBef>
                <a:spcPts val="375"/>
              </a:spcBef>
            </a:pPr>
            <a:r>
              <a:rPr b="1" lang="en-US" sz="2700">
                <a:solidFill>
                  <a:schemeClr val="accent1">
                    <a:alpha val="100000"/>
                  </a:schemeClr>
                </a:solidFill>
                <a:latin typeface="Noto Sans SC"/>
                <a:ea typeface="Noto Sans SC"/>
                <a:cs typeface="Noto Sans SC"/>
              </a:rPr>
              <a:t>02</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7" name="TextBox 7"/>
          <p:cNvSpPr txBox="1"/>
          <p:nvPr/>
        </p:nvSpPr>
        <p:spPr>
          <a:xfrm rot="0">
            <a:off x="1443013" y="2722854"/>
            <a:ext cx="5724525" cy="352425"/>
          </a:xfrm>
          <a:prstGeom prst="rect">
            <a:avLst/>
          </a:prstGeom>
          <a:ln/>
        </p:spPr>
        <p:txBody>
          <a:bodyPr anchor="t" anchorCtr="0" bIns="0" lIns="0" rIns="0" rtlCol="0" tIns="0" vert="horz" wrap="square">
            <a:spAutoFit/>
          </a:bodyPr>
          <a:lstStyle/>
          <a:p>
            <a:pPr>
              <a:lnSpc>
                <a:spcPct val="100000"/>
              </a:lnSpc>
              <a:spcBef>
                <a:spcPts val="375"/>
              </a:spcBef>
            </a:pPr>
            <a:r>
              <a:rPr lang="en-US" sz="2100">
                <a:solidFill>
                  <a:srgbClr val="232323">
                    <a:alpha val="100000"/>
                  </a:srgbClr>
                </a:solidFill>
                <a:latin typeface="Noto Sans SC"/>
                <a:ea typeface="Noto Sans SC"/>
                <a:cs typeface="Noto Sans SC"/>
              </a:rPr>
              <a:t>技术选型与架构设计</a:t>
            </a:r>
          </a:p>
        </p:txBody>
        <p:extLst>
          <p:ext uri="http://schemas.baidu.com/office/drawing/2023/templateData">
            <bd:templateData xmlns:bd="http://schemas.baidu.com/office/drawing/2023/templateData">eyJfdGVtcGxhdGVEYXRhIjp7ImNvbnRlbnRUeXBlIjoiJGNhdGExIiwibGluZUNvdW50IjoiMSIsIndvcmRDb3VudCI6IjE5In0sInRhZyI6Im5vRWRpdCJ9</bd:templateData>
          </p:ext>
        </p:extLst>
      </p:sp>
      <p:sp>
        <p:nvSpPr>
          <p:cNvPr id="8" name="TextBox 8"/>
          <p:cNvSpPr txBox="1"/>
          <p:nvPr/>
        </p:nvSpPr>
        <p:spPr>
          <a:xfrm rot="0">
            <a:off x="747688" y="1988736"/>
            <a:ext cx="790575" cy="457200"/>
          </a:xfrm>
          <a:prstGeom prst="rect">
            <a:avLst/>
          </a:prstGeom>
          <a:ln/>
        </p:spPr>
        <p:txBody>
          <a:bodyPr anchor="t" anchorCtr="0" bIns="0" lIns="0" rIns="0" rtlCol="0" tIns="0" vert="horz" wrap="square">
            <a:spAutoFit/>
          </a:bodyPr>
          <a:lstStyle/>
          <a:p>
            <a:pPr>
              <a:lnSpc>
                <a:spcPct val="100000"/>
              </a:lnSpc>
              <a:spcBef>
                <a:spcPts val="375"/>
              </a:spcBef>
            </a:pPr>
            <a:r>
              <a:rPr b="1" lang="en-US" sz="2700">
                <a:solidFill>
                  <a:schemeClr val="accent1">
                    <a:alpha val="100000"/>
                  </a:schemeClr>
                </a:solidFill>
                <a:latin typeface="Noto Sans SC"/>
                <a:ea typeface="Noto Sans SC"/>
                <a:cs typeface="Noto Sans SC"/>
              </a:rPr>
              <a:t>01</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9" name="TextBox 9"/>
          <p:cNvSpPr txBox="1"/>
          <p:nvPr/>
        </p:nvSpPr>
        <p:spPr>
          <a:xfrm rot="0">
            <a:off x="1443013" y="2003907"/>
            <a:ext cx="5724525" cy="280659"/>
          </a:xfrm>
          <a:prstGeom prst="rect">
            <a:avLst/>
          </a:prstGeom>
          <a:ln/>
        </p:spPr>
        <p:txBody>
          <a:bodyPr anchor="t" anchorCtr="0" bIns="0" lIns="0" rIns="0" rtlCol="0" tIns="0" vert="horz" wrap="square">
            <a:spAutoFit/>
          </a:bodyPr>
          <a:lstStyle/>
          <a:p>
            <a:pPr>
              <a:lnSpc>
                <a:spcPct val="100000"/>
              </a:lnSpc>
              <a:spcBef>
                <a:spcPts val="375"/>
              </a:spcBef>
            </a:pPr>
            <a:r>
              <a:rPr lang="en-US" sz="2100">
                <a:solidFill>
                  <a:srgbClr val="232323">
                    <a:alpha val="100000"/>
                  </a:srgbClr>
                </a:solidFill>
                <a:latin typeface="Noto Sans SC"/>
                <a:ea typeface="Noto Sans SC"/>
                <a:cs typeface="Noto Sans SC"/>
              </a:rPr>
              <a:t>项目背景与意义</a:t>
            </a:r>
          </a:p>
        </p:txBody>
        <p:extLst>
          <p:ext uri="http://schemas.baidu.com/office/drawing/2023/templateData">
            <bd:templateData xmlns:bd="http://schemas.baidu.com/office/drawing/2023/templateData">eyJfdGVtcGxhdGVEYXRhIjp7ImNvbnRlbnRUeXBlIjoiJGNhdGEwIiwibGluZUNvdW50IjoiMSIsIndvcmRDb3VudCI6IjE5In0sInRhZyI6Im5vRWRpdCJ9</bd:templateData>
          </p:ext>
        </p:extLst>
      </p:sp>
      <p:sp>
        <p:nvSpPr>
          <p:cNvPr id="10" name="TextBox 10"/>
          <p:cNvSpPr txBox="1"/>
          <p:nvPr/>
        </p:nvSpPr>
        <p:spPr>
          <a:xfrm rot="0">
            <a:off x="747688" y="3401133"/>
            <a:ext cx="790575" cy="457200"/>
          </a:xfrm>
          <a:prstGeom prst="rect">
            <a:avLst/>
          </a:prstGeom>
          <a:ln/>
        </p:spPr>
        <p:txBody>
          <a:bodyPr anchor="t" anchorCtr="0" bIns="0" lIns="0" rIns="0" rtlCol="0" tIns="0" vert="horz" wrap="square">
            <a:spAutoFit/>
          </a:bodyPr>
          <a:lstStyle/>
          <a:p>
            <a:pPr>
              <a:lnSpc>
                <a:spcPct val="100000"/>
              </a:lnSpc>
              <a:spcBef>
                <a:spcPts val="375"/>
              </a:spcBef>
            </a:pPr>
            <a:r>
              <a:rPr b="1" lang="en-US" sz="2700">
                <a:solidFill>
                  <a:schemeClr val="accent1">
                    <a:alpha val="100000"/>
                  </a:schemeClr>
                </a:solidFill>
                <a:latin typeface="Noto Sans SC"/>
                <a:ea typeface="Noto Sans SC"/>
                <a:cs typeface="Noto Sans SC"/>
              </a:rPr>
              <a:t>03</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1" name="TextBox 11"/>
          <p:cNvSpPr txBox="1"/>
          <p:nvPr/>
        </p:nvSpPr>
        <p:spPr>
          <a:xfrm rot="0">
            <a:off x="1443013" y="3453520"/>
            <a:ext cx="5724525" cy="352425"/>
          </a:xfrm>
          <a:prstGeom prst="rect">
            <a:avLst/>
          </a:prstGeom>
          <a:ln/>
        </p:spPr>
        <p:txBody>
          <a:bodyPr anchor="t" anchorCtr="0" bIns="0" lIns="0" rIns="0" rtlCol="0" tIns="0" vert="horz" wrap="square">
            <a:spAutoFit/>
          </a:bodyPr>
          <a:lstStyle/>
          <a:p>
            <a:pPr>
              <a:lnSpc>
                <a:spcPct val="100000"/>
              </a:lnSpc>
              <a:spcBef>
                <a:spcPts val="375"/>
              </a:spcBef>
            </a:pPr>
            <a:r>
              <a:rPr lang="en-US" sz="2100">
                <a:solidFill>
                  <a:srgbClr val="232323">
                    <a:alpha val="100000"/>
                  </a:srgbClr>
                </a:solidFill>
                <a:latin typeface="Noto Sans SC"/>
                <a:ea typeface="Noto Sans SC"/>
                <a:cs typeface="Noto Sans SC"/>
              </a:rPr>
              <a:t>核心功能实现</a:t>
            </a:r>
          </a:p>
        </p:txBody>
        <p:extLst>
          <p:ext uri="http://schemas.baidu.com/office/drawing/2023/templateData">
            <bd:templateData xmlns:bd="http://schemas.baidu.com/office/drawing/2023/templateData">eyJfdGVtcGxhdGVEYXRhIjp7ImNvbnRlbnRUeXBlIjoiJGNhdGEyIiwibGluZUNvdW50IjoiMSIsIndvcmRDb3VudCI6IjE5In0sInRhZyI6Im5vRWRpdCJ9</bd:templateData>
          </p:ext>
        </p:extLst>
      </p:sp>
      <p:sp>
        <p:nvSpPr>
          <p:cNvPr id="12" name="TextBox 12"/>
          <p:cNvSpPr txBox="1"/>
          <p:nvPr/>
        </p:nvSpPr>
        <p:spPr>
          <a:xfrm rot="0">
            <a:off x="747688" y="4105193"/>
            <a:ext cx="790575" cy="457200"/>
          </a:xfrm>
          <a:prstGeom prst="rect">
            <a:avLst/>
          </a:prstGeom>
          <a:ln/>
        </p:spPr>
        <p:txBody>
          <a:bodyPr anchor="t" anchorCtr="0" bIns="0" lIns="0" rIns="0" rtlCol="0" tIns="0" vert="horz" wrap="square">
            <a:spAutoFit/>
          </a:bodyPr>
          <a:lstStyle/>
          <a:p>
            <a:pPr>
              <a:lnSpc>
                <a:spcPct val="100000"/>
              </a:lnSpc>
              <a:spcBef>
                <a:spcPts val="375"/>
              </a:spcBef>
            </a:pPr>
            <a:r>
              <a:rPr b="1" lang="en-US" sz="2700">
                <a:solidFill>
                  <a:schemeClr val="accent1">
                    <a:alpha val="100000"/>
                  </a:schemeClr>
                </a:solidFill>
                <a:latin typeface="Noto Sans SC"/>
                <a:ea typeface="Noto Sans SC"/>
                <a:cs typeface="Noto Sans SC"/>
              </a:rPr>
              <a:t>04</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3" name="TextBox 13"/>
          <p:cNvSpPr txBox="1"/>
          <p:nvPr/>
        </p:nvSpPr>
        <p:spPr>
          <a:xfrm rot="0">
            <a:off x="1443013" y="4135570"/>
            <a:ext cx="5724525" cy="280659"/>
          </a:xfrm>
          <a:prstGeom prst="rect">
            <a:avLst/>
          </a:prstGeom>
          <a:ln/>
        </p:spPr>
        <p:txBody>
          <a:bodyPr anchor="t" anchorCtr="0" bIns="0" lIns="0" rIns="0" rtlCol="0" tIns="0" vert="horz" wrap="square">
            <a:spAutoFit/>
          </a:bodyPr>
          <a:lstStyle/>
          <a:p>
            <a:pPr>
              <a:lnSpc>
                <a:spcPct val="100000"/>
              </a:lnSpc>
              <a:spcBef>
                <a:spcPts val="375"/>
              </a:spcBef>
            </a:pPr>
            <a:r>
              <a:rPr lang="en-US" sz="2100">
                <a:solidFill>
                  <a:srgbClr val="232323">
                    <a:alpha val="100000"/>
                  </a:srgbClr>
                </a:solidFill>
                <a:latin typeface="Noto Sans SC"/>
                <a:ea typeface="Noto Sans SC"/>
                <a:cs typeface="Noto Sans SC"/>
              </a:rPr>
              <a:t>技术路线规划</a:t>
            </a:r>
          </a:p>
        </p:txBody>
        <p:extLst>
          <p:ext uri="http://schemas.baidu.com/office/drawing/2023/templateData">
            <bd:templateData xmlns:bd="http://schemas.baidu.com/office/drawing/2023/templateData">eyJfdGVtcGxhdGVEYXRhIjp7ImNvbnRlbnRUeXBlIjoiJGNhdGEzIiwibGluZUNvdW50IjoiMSIsIndvcmRDb3VudCI6IjE5In0sInRhZyI6Im5vRWRpdCJ9</bd:templateData>
          </p:ext>
        </p:extLst>
      </p:sp>
      <p:sp>
        <p:nvSpPr>
          <p:cNvPr id="14" name="TextBox 14"/>
          <p:cNvSpPr txBox="1"/>
          <p:nvPr/>
        </p:nvSpPr>
        <p:spPr>
          <a:xfrm rot="0">
            <a:off x="747688" y="4808108"/>
            <a:ext cx="790575" cy="457200"/>
          </a:xfrm>
          <a:prstGeom prst="rect">
            <a:avLst/>
          </a:prstGeom>
          <a:ln/>
        </p:spPr>
        <p:txBody>
          <a:bodyPr anchor="t" anchorCtr="0" bIns="0" lIns="0" rIns="0" rtlCol="0" tIns="0" vert="horz" wrap="square">
            <a:spAutoFit/>
          </a:bodyPr>
          <a:lstStyle/>
          <a:p>
            <a:pPr>
              <a:lnSpc>
                <a:spcPct val="100000"/>
              </a:lnSpc>
              <a:spcBef>
                <a:spcPts val="375"/>
              </a:spcBef>
            </a:pPr>
            <a:r>
              <a:rPr b="1" lang="en-US" sz="2700">
                <a:solidFill>
                  <a:schemeClr val="accent1">
                    <a:alpha val="100000"/>
                  </a:schemeClr>
                </a:solidFill>
                <a:latin typeface="Noto Sans SC"/>
                <a:ea typeface="Noto Sans SC"/>
                <a:cs typeface="Noto Sans SC"/>
              </a:rPr>
              <a:t>05</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5" name="TextBox 15"/>
          <p:cNvSpPr txBox="1"/>
          <p:nvPr/>
        </p:nvSpPr>
        <p:spPr>
          <a:xfrm rot="0">
            <a:off x="1444107" y="4838484"/>
            <a:ext cx="5724525" cy="352425"/>
          </a:xfrm>
          <a:prstGeom prst="rect">
            <a:avLst/>
          </a:prstGeom>
          <a:ln/>
        </p:spPr>
        <p:txBody>
          <a:bodyPr anchor="ctr" anchorCtr="0" bIns="0" lIns="0" rIns="0" rtlCol="0" tIns="0" vert="horz" wrap="square">
            <a:spAutoFit/>
          </a:bodyPr>
          <a:lstStyle/>
          <a:p>
            <a:pPr>
              <a:lnSpc>
                <a:spcPct val="100000"/>
              </a:lnSpc>
              <a:spcBef>
                <a:spcPts val="375"/>
              </a:spcBef>
            </a:pPr>
            <a:r>
              <a:rPr lang="en-US" sz="2100">
                <a:solidFill>
                  <a:srgbClr val="232323">
                    <a:alpha val="100000"/>
                  </a:srgbClr>
                </a:solidFill>
                <a:latin typeface="Noto Sans SC"/>
                <a:ea typeface="Noto Sans SC"/>
                <a:cs typeface="Noto Sans SC"/>
              </a:rPr>
              <a:t>创新点与应用价值</a:t>
            </a:r>
          </a:p>
        </p:txBody>
        <p:extLst>
          <p:ext uri="http://schemas.baidu.com/office/drawing/2023/templateData">
            <bd:templateData xmlns:bd="http://schemas.baidu.com/office/drawing/2023/templateData">eyJfdGVtcGxhdGVEYXRhIjp7ImNvbnRlbnRUeXBlIjoiJGNhdGE0IiwibGluZUNvdW50IjoiMSIsIndvcmRDb3VudCI6IjE5In0sInRhZyI6Im5vRWRpdCJ9</bd:templateData>
          </p:ext>
        </p:extLst>
      </p:sp>
      <p:sp>
        <p:nvSpPr>
          <p:cNvPr id="16" name="TextBox 16"/>
          <p:cNvSpPr txBox="1"/>
          <p:nvPr/>
        </p:nvSpPr>
        <p:spPr>
          <a:xfrm rot="0">
            <a:off x="761646" y="5548982"/>
            <a:ext cx="790575" cy="457200"/>
          </a:xfrm>
          <a:prstGeom prst="rect">
            <a:avLst/>
          </a:prstGeom>
          <a:ln/>
        </p:spPr>
        <p:txBody>
          <a:bodyPr anchor="t" anchorCtr="0" bIns="0" lIns="0" rIns="0" rtlCol="0" tIns="0" vert="horz" wrap="square">
            <a:spAutoFit/>
          </a:bodyPr>
          <a:lstStyle/>
          <a:p>
            <a:pPr>
              <a:lnSpc>
                <a:spcPct val="100000"/>
              </a:lnSpc>
              <a:spcBef>
                <a:spcPts val="375"/>
              </a:spcBef>
            </a:pPr>
            <a:r>
              <a:rPr b="1" lang="en-US" sz="2700">
                <a:solidFill>
                  <a:schemeClr val="accent1">
                    <a:alpha val="100000"/>
                  </a:schemeClr>
                </a:solidFill>
                <a:latin typeface="Noto Sans SC"/>
                <a:ea typeface="Noto Sans SC"/>
                <a:cs typeface="Noto Sans SC"/>
              </a:rPr>
              <a:t>06</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7" name="TextBox 17"/>
          <p:cNvSpPr txBox="1"/>
          <p:nvPr/>
        </p:nvSpPr>
        <p:spPr>
          <a:xfrm rot="0">
            <a:off x="1456971" y="5600416"/>
            <a:ext cx="5724525" cy="352425"/>
          </a:xfrm>
          <a:prstGeom prst="rect">
            <a:avLst/>
          </a:prstGeom>
          <a:ln/>
        </p:spPr>
        <p:txBody>
          <a:bodyPr anchor="ctr" anchorCtr="0" bIns="0" lIns="0" rIns="0" rtlCol="0" tIns="0" vert="horz" wrap="square">
            <a:spAutoFit/>
          </a:bodyPr>
          <a:lstStyle/>
          <a:p>
            <a:pPr>
              <a:lnSpc>
                <a:spcPct val="100000"/>
              </a:lnSpc>
              <a:spcBef>
                <a:spcPts val="375"/>
              </a:spcBef>
            </a:pPr>
            <a:r>
              <a:rPr lang="en-US" sz="2100">
                <a:solidFill>
                  <a:srgbClr val="232323">
                    <a:alpha val="100000"/>
                  </a:srgbClr>
                </a:solidFill>
                <a:latin typeface="Noto Sans SC"/>
                <a:ea typeface="Noto Sans SC"/>
                <a:cs typeface="Noto Sans SC"/>
              </a:rPr>
              <a:t>总结与展望</a:t>
            </a:r>
          </a:p>
        </p:txBody>
        <p:extLst>
          <p:ext uri="http://schemas.baidu.com/office/drawing/2023/templateData">
            <bd:templateData xmlns:bd="http://schemas.baidu.com/office/drawing/2023/templateData">eyJfdGVtcGxhdGVEYXRhIjp7ImNvbnRlbnRUeXBlIjoiJGNhdGE1IiwibGluZUNvdW50IjoiMSIsIndvcmRDb3VudCI6IjE5In0sInRhZyI6Im5vRWRpdCJ9</bd:templateData>
          </p:ext>
        </p:extLst>
      </p:sp>
    </p:spTree>
  </p:cSld>
  <p:clrMapOvr>
    <a:masterClrMapping/>
  </p:clrMapOvr>
  <p:extLst>
    <p:ext uri="http://schemas.baidu.com/office/drawing/2023/templateData">
      <bd:templateData xmlns:bd="http://schemas.baidu.com/office/drawing/2023/templateData">eyJtZCI6IuebruW9lVxu6aG555uu6IOM5pmv5LiO5oSP5LmJXG7mioDmnK/pgInlnovkuI7mnrbmnoTorr7orqFcbuaguOW/g+WKn+iDveWunueOsFxu5oqA5pyv6Lev57q/6KeE5YiSXG7liJvmlrDngrnkuI7lupTnlKjku7flgLxcbuaAu+e7k+S4juWxleacmyIsInRwbGlkIjoiNjgiLCJ0cGxOYW1lIjoiY2F0YUxpc3RfNjhnbGFzczYiLCJlZGl0ZWQiOiJmYWxzZSJ9</bd:templateData>
    </p:ext>
  </p:extLst>
</p:sld>
</file>

<file path=ppt/slides/slide1.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593221" y="1525651"/>
            <a:ext cx="7121571" cy="2085975"/>
          </a:xfrm>
          <a:prstGeom prst="rect">
            <a:avLst/>
          </a:prstGeom>
          <a:ln/>
        </p:spPr>
        <p:txBody>
          <a:bodyPr anchor="ctr" anchorCtr="0" bIns="57150" lIns="114300" rIns="114300" rtlCol="0" tIns="57150" vert="horz" wrap="square">
            <a:noAutofit/>
          </a:bodyPr>
          <a:lstStyle/>
          <a:p>
            <a:pPr>
              <a:lnSpc>
                <a:spcPct val="114999"/>
              </a:lnSpc>
            </a:pPr>
            <a:r>
              <a:rPr b="1" lang="en-US" sz="5400">
                <a:solidFill>
                  <a:srgbClr val="152815">
                    <a:alpha val="100000"/>
                  </a:srgbClr>
                </a:solidFill>
                <a:latin typeface="Noto Sans SC"/>
                <a:ea typeface="Noto Sans SC"/>
                <a:cs typeface="Noto Sans SC"/>
              </a:rPr>
              <a:t>开源社区贡献者影响力分析系统</a:t>
            </a:r>
          </a:p>
        </p:txBody>
        <p:extLst>
          <p:ext uri="http://schemas.baidu.com/office/drawing/2023/templateData">
            <bd:templateData xmlns:bd="http://schemas.baidu.com/office/drawing/2023/templateData">eyJfdGVtcGxhdGVEYXRhIjp7ImNvbnRlbnRUeXBlIjoiJHRpdGxlIiwibGluZUNvdW50IjoiMiIsIndvcmRDb3VudCI6IjkifSwidGFnIjoiJHRpdGxlIn0=</bd:templateData>
          </p:ext>
        </p:extLst>
      </p:sp>
      <p:sp>
        <p:nvSpPr>
          <p:cNvPr id="3" name="TextBox 3"/>
          <p:cNvSpPr txBox="1"/>
          <p:nvPr/>
        </p:nvSpPr>
        <p:spPr>
          <a:xfrm rot="0">
            <a:off x="612271" y="4885552"/>
            <a:ext cx="2800350" cy="504825"/>
          </a:xfrm>
          <a:prstGeom prst="rect">
            <a:avLst/>
          </a:prstGeom>
          <a:ln/>
        </p:spPr>
        <p:txBody>
          <a:bodyPr anchor="ctr" anchorCtr="0" bIns="57150" lIns="114300" rIns="114300" rtlCol="0" tIns="57150" vert="horz" wrap="square">
            <a:normAutofit fontScale="100000"/>
          </a:bodyPr>
          <a:lstStyle/>
          <a:p>
            <a:pPr algn="l" defTabSz="914400">
              <a:lnSpc>
                <a:spcPct val="120000"/>
              </a:lnSpc>
              <a:defRPr sz="1800">
                <a:solidFill>
                  <a:schemeClr val="tx1"/>
                </a:solidFill>
                <a:latin typeface="等线"/>
                <a:ea typeface="宋体"/>
                <a:cs typeface="+mn-cs"/>
              </a:defRPr>
            </a:pPr>
            <a:r>
              <a:rPr lang="en-US" sz="2025">
                <a:solidFill>
                  <a:srgbClr val="152815">
                    <a:alpha val="100000"/>
                  </a:srgbClr>
                </a:solidFill>
                <a:latin typeface="Noto Sans SC"/>
                <a:ea typeface="Noto Sans SC"/>
                <a:cs typeface="Noto Sans SC"/>
              </a:rPr>
              <a:t>团队成员：张贤柯</a:t>
            </a:r>
          </a:p>
        </p:txBody>
        <p:extLst>
          <p:ext uri="http://schemas.baidu.com/office/drawing/2023/templateData">
            <bd:templateData xmlns:bd="http://schemas.baidu.com/office/drawing/2023/templateData">eyJfdGVtcGxhdGVEYXRhIjp7ImNvbnRlbnRUeXBlIjoiJHJlcG9ydGVyX2F1dGhvciIsImxpbmVDb3VudCI6IjEiLCJ3b3JkQ291bnQiOiI5In0sInRhZyI6Im5vRWRpdCJ9</bd:templateData>
          </p:ext>
        </p:extLst>
      </p:sp>
    </p:spTree>
  </p:cSld>
  <p:clrMapOvr>
    <a:masterClrMapping/>
  </p:clrMapOvr>
  <p:extLst>
    <p:ext uri="http://schemas.baidu.com/office/drawing/2023/templateData">
      <bd:templateData xmlns:bd="http://schemas.baidu.com/office/drawing/2023/templateData">eyJtZCI6IuW8gOa6kOekvuWMuui0oeeMruiAheW9seWTjeWKm+WIhuaekOezu+e7nyIsInRwbGlkIjoiNjgiLCJ0cGxOYW1lIjoidGl0bGVfNjhnbGFzcyIsImVkaXRlZCI6ImZhbHNlIn0=</bd:templateData>
    </p:ext>
  </p:extLst>
</p:sld>
</file>

<file path=ppt/slides/slide2.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3947160" y="1300388"/>
            <a:ext cx="4297680" cy="1522429"/>
          </a:xfrm>
          <a:prstGeom prst="rect">
            <a:avLst/>
          </a:prstGeom>
          <a:ln/>
        </p:spPr>
        <p:txBody>
          <a:bodyPr anchor="ctr" anchorCtr="0" bIns="45720" lIns="91440" rIns="91440" rtlCol="0" tIns="45720" vert="horz" wrap="square">
            <a:normAutofit/>
          </a:bodyPr>
          <a:lstStyle/>
          <a:p>
            <a:pPr algn="ctr">
              <a:lnSpc>
                <a:spcPct val="100000"/>
              </a:lnSpc>
              <a:spcBef>
                <a:spcPts val="375"/>
              </a:spcBef>
            </a:pPr>
            <a:r>
              <a:rPr b="1" lang="en-US" sz="7050">
                <a:solidFill>
                  <a:srgbClr val="1ACA6E">
                    <a:alpha val="100000"/>
                  </a:srgbClr>
                </a:solidFill>
                <a:latin typeface="Noto Sans SC"/>
                <a:ea typeface="Noto Sans SC"/>
                <a:cs typeface="Noto Sans SC"/>
              </a:rPr>
              <a:t>01</a:t>
            </a:r>
          </a:p>
        </p:txBody>
        <p:extLst>
          <p:ext uri="http://schemas.baidu.com/office/drawing/2023/templateData">
            <bd:templateData xmlns:bd="http://schemas.baidu.com/office/drawing/2023/templateData">eyJfdGVtcGxhdGVEYXRhIjp7ImNvbnRlbnRUeXBlIjoiJG51bWJlciIsImxpbmVDb3VudCI6IjEiLCJ3b3JkQ291bnQiOiIzIn0sInRhZyI6Im5vRWRpdCJ9</bd:templateData>
          </p:ext>
        </p:extLst>
      </p:sp>
      <p:sp>
        <p:nvSpPr>
          <p:cNvPr id="3" name="TextBox 3"/>
          <p:cNvSpPr txBox="1"/>
          <p:nvPr/>
        </p:nvSpPr>
        <p:spPr>
          <a:xfrm rot="0">
            <a:off x="1811474" y="2886383"/>
            <a:ext cx="8569053" cy="2874949"/>
          </a:xfrm>
          <a:prstGeom prst="rect">
            <a:avLst/>
          </a:prstGeom>
          <a:ln/>
        </p:spPr>
        <p:txBody>
          <a:bodyPr anchor="t" anchorCtr="0" bIns="45720" lIns="91440" rIns="91440" rtlCol="0" tIns="45720" vert="horz" wrap="square">
            <a:noAutofit/>
          </a:bodyPr>
          <a:lstStyle/>
          <a:p>
            <a:pPr algn="ctr">
              <a:lnSpc>
                <a:spcPct val="100000"/>
              </a:lnSpc>
              <a:spcBef>
                <a:spcPts val="375"/>
              </a:spcBef>
            </a:pPr>
            <a:r>
              <a:rPr b="1" lang="en-US" sz="5250">
                <a:solidFill>
                  <a:srgbClr val="152815">
                    <a:alpha val="100000"/>
                  </a:srgbClr>
                </a:solidFill>
                <a:latin typeface="Noto Sans SC"/>
                <a:ea typeface="Noto Sans SC"/>
                <a:cs typeface="Noto Sans SC"/>
              </a:rPr>
              <a:t>项目背景与意义</a:t>
            </a:r>
          </a:p>
        </p:txBody>
        <p:extLst>
          <p:ext uri="http://schemas.baidu.com/office/drawing/2023/templateData">
            <bd:templateData xmlns:bd="http://schemas.baidu.com/office/drawing/2023/templateData">eyJfdGVtcGxhdGVEYXRhIjp7ImNvbnRlbnRUeXBlIjoiJHRpdGxlIiwibGluZUNvdW50IjoiMyIsIndvcmRDb3VudCI6IjExIn0sInRhZyI6IiR0aXRsZSJ9</bd:templateData>
          </p:ext>
        </p:extLst>
      </p:sp>
    </p:spTree>
  </p:cSld>
  <p:clrMapOvr>
    <a:masterClrMapping/>
  </p:clrMapOvr>
  <p:extLst>
    <p:ext uri="http://schemas.baidu.com/office/drawing/2023/templateData">
      <bd:templateData xmlns:bd="http://schemas.baidu.com/office/drawing/2023/templateData">eyJtZCI6IiMjIOmhueebruiDjOaZr+S4juaEj+S5iSIsInRwbGlkIjoiNjgiLCJ0cGxOYW1lIjoiaDJ0aXRsZV82OGdsYXNzIiwiZWRpdGVkIjoiZmFsc2UifQ==</bd:templateData>
    </p:ext>
  </p:extLst>
</p:sld>
</file>

<file path=ppt/slides/slide3.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开源生态发展现状</a:t>
            </a:r>
          </a:p>
        </p:txBody>
        <p:extLst>
          <p:ext uri="http://schemas.baidu.com/office/drawing/2023/templateData">
            <bd:templateData xmlns:bd="http://schemas.baidu.com/office/drawing/2023/templateData">eyJfdGVtcGxhdGVEYXRhIjp7ImNvbnRlbnRUeXBlIjoiJHRpdGxlIiwibGluZUNvdW50IjoiMSIsIndvcmRDb3VudCI6IjI3In0sInRhZyI6IiR0aXRsZSJ9</bd:templateData>
          </p:ext>
        </p:extLst>
      </p:sp>
      <p:pic>
        <p:nvPicPr>
          <p:cNvPr id="3" name="Picture 3"/>
          <p:cNvPicPr>
            <a:picLocks noChangeAspect="1"/>
          </p:cNvPicPr>
          <p:nvPr/>
        </p:nvPicPr>
        <p:blipFill>
          <a:blip r:embed="rId3">
            <a:alphaModFix amt="100000"/>
          </a:blip>
          <a:srcRect/>
          <a:stretch>
            <a:fillRect/>
          </a:stretch>
        </p:blipFill>
        <p:spPr>
          <a:xfrm rot="0">
            <a:off x="8488800" y="1777403"/>
            <a:ext cx="3049996" cy="4216695"/>
          </a:xfrm>
          <a:prstGeom prst="roundRect">
            <a:avLst/>
          </a:prstGeom>
        </p:spPr>
        <p:extLst>
          <p:ext uri="http://schemas.baidu.com/office/drawing/2023/templateData">
            <bd:templateData xmlns:bd="http://schemas.baidu.com/office/drawing/2023/templateData">eyJfdGVtcGxhdGVEYXRhIjp7ImNvbnRlbnRUeXBlIjoiJGltZzEifSwidGFnIjoiJGltZzEifQ==</bd:templateData>
          </p:ext>
        </p:extLst>
      </p:pic>
      <p:pic>
        <p:nvPicPr>
          <p:cNvPr id="4" name="Picture 4"/>
          <p:cNvPicPr>
            <a:picLocks noChangeAspect="1"/>
          </p:cNvPicPr>
          <p:nvPr/>
        </p:nvPicPr>
        <p:blipFill>
          <a:blip r:embed="rId4">
            <a:alphaModFix amt="100000"/>
          </a:blip>
          <a:srcRect l="14356" r="14356"/>
          <a:stretch>
            <a:fillRect/>
          </a:stretch>
        </p:blipFill>
        <p:spPr>
          <a:xfrm rot="0">
            <a:off x="5335151" y="1777403"/>
            <a:ext cx="3005958" cy="4216695"/>
          </a:xfrm>
          <a:prstGeom prst="roundRect">
            <a:avLst/>
          </a:prstGeom>
        </p:spPr>
        <p:extLst>
          <p:ext uri="http://schemas.baidu.com/office/drawing/2023/templateData">
            <bd:templateData xmlns:bd="http://schemas.baidu.com/office/drawing/2023/templateData">eyJfdGVtcGxhdGVEYXRhIjp7ImNvbnRlbnRUeXBlIjoiJGltZzAifSwidGFnIjoiJGltZzAifQ==</bd:templateData>
          </p:ext>
        </p:extLst>
      </p:pic>
      <p:sp>
        <p:nvSpPr>
          <p:cNvPr id="5" name="AutoShape 5"/>
          <p:cNvSpPr/>
          <p:nvPr/>
        </p:nvSpPr>
        <p:spPr>
          <a:xfrm rot="0">
            <a:off x="5335151" y="1339414"/>
            <a:ext cx="6203645" cy="292757"/>
          </a:xfrm>
          <a:prstGeom prst="roundRect">
            <a:avLst>
              <a:gd fmla="val 45454" name="adj"/>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6" name="AutoShape 6"/>
          <p:cNvSpPr/>
          <p:nvPr/>
        </p:nvSpPr>
        <p:spPr>
          <a:xfrm rot="0">
            <a:off x="720401" y="1296052"/>
            <a:ext cx="3431205" cy="481351"/>
          </a:xfrm>
          <a:prstGeom prst="rect">
            <a:avLst/>
          </a:prstGeom>
          <a:noFill/>
          <a:ln/>
        </p:spPr>
        <p:txBody>
          <a:bodyPr anchor="ctr" anchorCtr="0" bIns="0" lIns="0" rIns="0" rtlCol="0" tIns="0" vert="horz" wrap="square">
            <a:noAutofit/>
          </a:bodyPr>
          <a:lstStyle/>
          <a:p>
            <a:pPr algn="l">
              <a:spcBef>
                <a:spcPct val="0"/>
              </a:spcBef>
              <a:defRPr/>
            </a:pPr>
            <a:r>
              <a:rPr b="1" lang="en-US" sz="2325">
                <a:solidFill>
                  <a:schemeClr val="dk1">
                    <a:alpha val="100000"/>
                  </a:schemeClr>
                </a:solidFill>
                <a:latin typeface="Noto Sans SC"/>
                <a:ea typeface="Noto Sans SC"/>
                <a:cs typeface="Noto Sans SC"/>
              </a:rPr>
              <a:t>开源项目数量激增</a:t>
            </a:r>
            <a:endParaRPr lang="en-US" sz="1100"/>
          </a:p>
        </p:txBody>
        <p:extLst>
          <p:ext uri="http://schemas.baidu.com/office/drawing/2023/templateData">
            <bd:templateData xmlns:bd="http://schemas.baidu.com/office/drawing/2023/templateData">eyJfdGVtcGxhdGVEYXRhIjp7ImNvbnRlbnRUeXBlIjoiJGl0ZW0xX3RpdGxlIiwibGluZUNvdW50IjoiMSIsIndvcmRDb3VudCI6IjkifSwidGFnIjoiJGl0ZW0xX3RpdGxlIn0=</bd:templateData>
          </p:ext>
        </p:extLst>
      </p:sp>
      <p:sp>
        <p:nvSpPr>
          <p:cNvPr id="7" name="TextBox 7"/>
          <p:cNvSpPr txBox="1"/>
          <p:nvPr/>
        </p:nvSpPr>
        <p:spPr>
          <a:xfrm rot="0">
            <a:off x="609373" y="1732534"/>
            <a:ext cx="4282862" cy="983867"/>
          </a:xfrm>
          <a:prstGeom prst="rect">
            <a:avLst/>
          </a:prstGeom>
          <a:ln/>
        </p:spPr>
        <p:txBody>
          <a:bodyPr anchor="t" anchorCtr="0" bIns="57150" lIns="95250" rIns="57150" rtlCol="0" tIns="57150" vert="horz" wrap="square">
            <a:noAutofit/>
          </a:bodyPr>
          <a:lstStyle/>
          <a:p>
            <a:pPr algn="l">
              <a:lnSpc>
                <a:spcPct val="140000"/>
              </a:lnSpc>
            </a:pPr>
            <a:r>
              <a:rPr lang="en-US" sz="1350">
                <a:solidFill>
                  <a:schemeClr val="dk1">
                    <a:alpha val="100000"/>
                  </a:schemeClr>
                </a:solidFill>
                <a:latin typeface="Noto Sans SC"/>
                <a:ea typeface="Noto Sans SC"/>
                <a:cs typeface="Noto Sans SC"/>
              </a:rPr>
              <a:t>全球范围内开源项目数量呈现爆炸式增长，涵盖各个技术领域和行业应用，形成庞大的开源生态体系。</a:t>
            </a:r>
          </a:p>
        </p:txBody>
        <p:extLst>
          <p:ext uri="http://schemas.baidu.com/office/drawing/2023/templateData">
            <bd:templateData xmlns:bd="http://schemas.baidu.com/office/drawing/2023/templateData">eyJfdGVtcGxhdGVEYXRhIjp7ImNvbnRlbnRUeXBlIjoiJGl0ZW0xX2MiLCJsaW5lQ291bnQiOiIzIiwid29yZENvdW50IjoiMjIifSwidGFnIjoiJGl0ZW0xX2MifQ==</bd:templateData>
          </p:ext>
        </p:extLst>
      </p:sp>
      <p:sp>
        <p:nvSpPr>
          <p:cNvPr id="8" name="TextBox 8"/>
          <p:cNvSpPr txBox="1"/>
          <p:nvPr/>
        </p:nvSpPr>
        <p:spPr>
          <a:xfrm rot="0">
            <a:off x="609373" y="3369312"/>
            <a:ext cx="4282862" cy="1010481"/>
          </a:xfrm>
          <a:prstGeom prst="rect">
            <a:avLst/>
          </a:prstGeom>
          <a:ln/>
        </p:spPr>
        <p:txBody>
          <a:bodyPr anchor="t" anchorCtr="0" bIns="57150" lIns="95250" rIns="57150" rtlCol="0" tIns="57150" vert="horz" wrap="square">
            <a:noAutofit/>
          </a:bodyPr>
          <a:lstStyle/>
          <a:p>
            <a:pPr algn="l">
              <a:lnSpc>
                <a:spcPct val="140000"/>
              </a:lnSpc>
            </a:pPr>
            <a:r>
              <a:rPr lang="en-US" sz="1350">
                <a:solidFill>
                  <a:schemeClr val="dk1">
                    <a:alpha val="100000"/>
                  </a:schemeClr>
                </a:solidFill>
                <a:latin typeface="Noto Sans SC"/>
                <a:ea typeface="Noto Sans SC"/>
                <a:cs typeface="Noto Sans SC"/>
              </a:rPr>
              <a:t>随着开源文化的普及，越来越多的开发者、企业、研究机构等加入到开源社区，成为开源项目的贡献者，推动开源技术的持续创新与发展。</a:t>
            </a:r>
          </a:p>
        </p:txBody>
        <p:extLst>
          <p:ext uri="http://schemas.baidu.com/office/drawing/2023/templateData">
            <bd:templateData xmlns:bd="http://schemas.baidu.com/office/drawing/2023/templateData">eyJfdGVtcGxhdGVEYXRhIjp7ImNvbnRlbnRUeXBlIjoiJGl0ZW0yX2MiLCJsaW5lQ291bnQiOiIzIiwid29yZENvdW50IjoiMjIifSwidGFnIjoiJGl0ZW0yX2MifQ==</bd:templateData>
          </p:ext>
        </p:extLst>
      </p:sp>
      <p:sp>
        <p:nvSpPr>
          <p:cNvPr id="9" name="TextBox 9"/>
          <p:cNvSpPr txBox="1"/>
          <p:nvPr/>
        </p:nvSpPr>
        <p:spPr>
          <a:xfrm rot="0">
            <a:off x="609373" y="5010231"/>
            <a:ext cx="4282862" cy="1156860"/>
          </a:xfrm>
          <a:prstGeom prst="rect">
            <a:avLst/>
          </a:prstGeom>
          <a:ln/>
        </p:spPr>
        <p:txBody>
          <a:bodyPr anchor="t" anchorCtr="0" bIns="57150" lIns="95250" rIns="57150" rtlCol="0" tIns="57150" vert="horz" wrap="square">
            <a:noAutofit/>
          </a:bodyPr>
          <a:lstStyle/>
          <a:p>
            <a:pPr algn="l">
              <a:lnSpc>
                <a:spcPct val="140000"/>
              </a:lnSpc>
            </a:pPr>
            <a:r>
              <a:rPr lang="en-US" sz="1350">
                <a:solidFill>
                  <a:schemeClr val="dk1">
                    <a:alpha val="100000"/>
                  </a:schemeClr>
                </a:solidFill>
                <a:latin typeface="Noto Sans SC"/>
                <a:ea typeface="Noto Sans SC"/>
                <a:cs typeface="Noto Sans SC"/>
              </a:rPr>
              <a:t>开源项目在推动技术进步、促进产业创新、提升社会效率等方面发挥着越来越重要的作用，成为全球技术发展的重要力量。</a:t>
            </a:r>
          </a:p>
        </p:txBody>
        <p:extLst>
          <p:ext uri="http://schemas.baidu.com/office/drawing/2023/templateData">
            <bd:templateData xmlns:bd="http://schemas.baidu.com/office/drawing/2023/templateData">eyJfdGVtcGxhdGVEYXRhIjp7ImNvbnRlbnRUeXBlIjoiJGl0ZW0zX2MiLCJsaW5lQ291bnQiOiIzIiwid29yZENvdW50IjoiMjIifSwidGFnIjoiJGl0ZW0zX2MifQ==</bd:templateData>
          </p:ext>
        </p:extLst>
      </p:sp>
      <p:sp>
        <p:nvSpPr>
          <p:cNvPr id="10" name="AutoShape 10"/>
          <p:cNvSpPr/>
          <p:nvPr/>
        </p:nvSpPr>
        <p:spPr>
          <a:xfrm rot="0">
            <a:off x="701351" y="2916535"/>
            <a:ext cx="3431205" cy="481351"/>
          </a:xfrm>
          <a:prstGeom prst="rect">
            <a:avLst/>
          </a:prstGeom>
          <a:noFill/>
          <a:ln/>
        </p:spPr>
        <p:txBody>
          <a:bodyPr anchor="ctr" anchorCtr="0" bIns="0" lIns="0" rIns="0" rtlCol="0" tIns="0" vert="horz" wrap="square">
            <a:noAutofit/>
          </a:bodyPr>
          <a:lstStyle/>
          <a:p>
            <a:pPr algn="l">
              <a:spcBef>
                <a:spcPct val="0"/>
              </a:spcBef>
              <a:defRPr/>
            </a:pPr>
            <a:r>
              <a:rPr b="1" lang="en-US" sz="2325">
                <a:solidFill>
                  <a:schemeClr val="dk1">
                    <a:alpha val="100000"/>
                  </a:schemeClr>
                </a:solidFill>
                <a:latin typeface="Noto Sans SC"/>
                <a:ea typeface="Noto Sans SC"/>
                <a:cs typeface="Noto Sans SC"/>
              </a:rPr>
              <a:t>开源贡献者群体壮大</a:t>
            </a:r>
            <a:endParaRPr lang="en-US" sz="1100"/>
          </a:p>
        </p:txBody>
        <p:extLst>
          <p:ext uri="http://schemas.baidu.com/office/drawing/2023/templateData">
            <bd:templateData xmlns:bd="http://schemas.baidu.com/office/drawing/2023/templateData">eyJfdGVtcGxhdGVEYXRhIjp7ImNvbnRlbnRUeXBlIjoiJGl0ZW0yX3RpdGxlIiwibGluZUNvdW50IjoiMSIsIndvcmRDb3VudCI6IjkifSwidGFnIjoiJGl0ZW0yX3RpdGxlIn0=</bd:templateData>
          </p:ext>
        </p:extLst>
      </p:sp>
      <p:sp>
        <p:nvSpPr>
          <p:cNvPr id="11" name="AutoShape 11"/>
          <p:cNvSpPr/>
          <p:nvPr/>
        </p:nvSpPr>
        <p:spPr>
          <a:xfrm rot="0">
            <a:off x="720401" y="4528880"/>
            <a:ext cx="3431205" cy="481351"/>
          </a:xfrm>
          <a:prstGeom prst="rect">
            <a:avLst/>
          </a:prstGeom>
          <a:noFill/>
          <a:ln/>
        </p:spPr>
        <p:txBody>
          <a:bodyPr anchor="ctr" anchorCtr="0" bIns="0" lIns="0" rIns="0" rtlCol="0" tIns="0" vert="horz" wrap="square">
            <a:noAutofit/>
          </a:bodyPr>
          <a:lstStyle/>
          <a:p>
            <a:pPr algn="l">
              <a:spcBef>
                <a:spcPct val="0"/>
              </a:spcBef>
              <a:defRPr/>
            </a:pPr>
            <a:r>
              <a:rPr b="1" lang="en-US" sz="2325">
                <a:solidFill>
                  <a:schemeClr val="dk1">
                    <a:alpha val="100000"/>
                  </a:schemeClr>
                </a:solidFill>
                <a:latin typeface="Noto Sans SC"/>
                <a:ea typeface="Noto Sans SC"/>
                <a:cs typeface="Noto Sans SC"/>
              </a:rPr>
              <a:t>开源影响力日益凸显</a:t>
            </a:r>
            <a:endParaRPr lang="en-US" sz="1100"/>
          </a:p>
        </p:txBody>
        <p:extLst>
          <p:ext uri="http://schemas.baidu.com/office/drawing/2023/templateData">
            <bd:templateData xmlns:bd="http://schemas.baidu.com/office/drawing/2023/templateData">eyJfdGVtcGxhdGVEYXRhIjp7ImNvbnRlbnRUeXBlIjoiJGl0ZW0zX3RpdGxlIiwibGluZUNvdW50IjoiMSIsIndvcmRDb3VudCI6IjkifSwidGFnIjoiJGl0ZW0zX3RpdGxlIn0=</bd:templateData>
          </p:ext>
        </p:extLst>
      </p:sp>
    </p:spTree>
  </p:cSld>
  <p:clrMapOvr>
    <a:masterClrMapping/>
  </p:clrMapOvr>
  <p:extLst>
    <p:ext uri="http://schemas.baidu.com/office/drawing/2023/templateData">
      <bd:templateData xmlns:bd="http://schemas.baidu.com/office/drawing/2023/templateData">eyJtZCI6IiMjIOW8gOa6kOeUn+aAgeWPkeWxleeOsOeKtlxuIyMjIOW8gOa6kOmhueebruaVsOmHj+a/gOWinlxu5YWo55CD6IyD5Zu05YaF5byA5rqQ6aG555uu5pWw6YeP5ZGI546w54iG54K45byP5aKe6ZW/77yM5ra155uW5ZCE5Liq5oqA5pyv6aKG5Z+f5ZKM6KGM5Lia5bqU55So77yM5b2i5oiQ5bqe5aSn55qE5byA5rqQ55Sf5oCB5L2T57O744CCXG4jIyMg5byA5rqQ6LSh54yu6ICF576k5L2T5aOu5aSnXG7pmo/nnYDlvIDmupDmlofljJbnmoTmma7lj4rvvIzotormnaXotorlpJrnmoTlvIDlj5HogIXjgIHkvIHkuJrjgIHnoJTnqbbmnLrmnoTnrYnliqDlhaXliLDlvIDmupDnpL7ljLrvvIzmiJDkuLrlvIDmupDpobnnm67nmoTotKHnjK7ogIXvvIzmjqjliqjlvIDmupDmioDmnK/nmoTmjIHnu63liJvmlrDkuI7lj5HlsZXjgIJcbiMjIyDlvIDmupDlvbHlk43lipvml6Xnm4rlh7jmmL5cbuW8gOa6kOmhueebruWcqOaOqOWKqOaKgOacr+i/m+atpeOAgeS/g+i/m+S6p+S4muWIm+aWsOOAgeaPkOWNh+ekvuS8muaViOeOh+etieaWuemdouWPkeaMpeedgOi2iuadpei2iumHjeimgeeahOS9nOeUqO+8jOaIkOS4uuWFqOeQg+aKgOacr+WPkeWxleeahOmHjeimgeWKm+mHj+OAgiIsInRwbGlkIjoiNjgiLCJ0cGxOYW1lIjoibGlzdDNfMjAyNTA3MDMxNiIsImVkaXRlZCI6ImZhbHNlIn0=</bd:templateData>
    </p:ext>
  </p:extLst>
</p:sld>
</file>

<file path=ppt/slides/slide4.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开源生态发展现状</a:t>
            </a:r>
          </a:p>
        </p:txBody>
        <p:extLst>
          <p:ext uri="http://schemas.baidu.com/office/drawing/2023/templateData">
            <bd:templateData xmlns:bd="http://schemas.baidu.com/office/drawing/2023/templateData">eyJfdGVtcGxhdGVEYXRhIjp7ImNvbnRlbnRUeXBlIjoiJHRpdGxlIiwibGluZUNvdW50IjoiMSIsIndvcmRDb3VudCI6IjI4In0sInRhZyI6IiR0aXRsZSJ9</bd:templateData>
          </p:ext>
        </p:extLst>
      </p:sp>
      <p:pic>
        <p:nvPicPr>
          <p:cNvPr id="3" name="Picture 3"/>
          <p:cNvPicPr>
            <a:picLocks noChangeAspect="1"/>
          </p:cNvPicPr>
          <p:nvPr/>
        </p:nvPicPr>
        <p:blipFill>
          <a:blip r:embed="rId3">
            <a:alphaModFix amt="100000"/>
          </a:blip>
          <a:srcRect l="23948" r="23948"/>
          <a:stretch>
            <a:fillRect/>
          </a:stretch>
        </p:blipFill>
        <p:spPr>
          <a:xfrm rot="0">
            <a:off x="580909" y="1271253"/>
            <a:ext cx="2628508" cy="5044771"/>
          </a:xfrm>
          <a:prstGeom prst="rect">
            <a:avLst/>
          </a:prstGeom>
        </p:spPr>
        <p:extLst>
          <p:ext uri="http://schemas.baidu.com/office/drawing/2023/templateData">
            <bd:templateData xmlns:bd="http://schemas.baidu.com/office/drawing/2023/templateData">eyJfdGVtcGxhdGVEYXRhIjp7ImNvbnRlbnRUeXBlIjoiJGltZzAifSwidGFnIjoiJGltZzAifQ==</bd:templateData>
          </p:ext>
        </p:extLst>
      </p:pic>
      <p:sp>
        <p:nvSpPr>
          <p:cNvPr id="4" name="AutoShape 4"/>
          <p:cNvSpPr/>
          <p:nvPr/>
        </p:nvSpPr>
        <p:spPr>
          <a:xfrm rot="0">
            <a:off x="3372015" y="1271253"/>
            <a:ext cx="2628508" cy="5044771"/>
          </a:xfrm>
          <a:prstGeom prst="rect">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5" name="TextBox 5"/>
          <p:cNvSpPr txBox="1"/>
          <p:nvPr/>
        </p:nvSpPr>
        <p:spPr>
          <a:xfrm rot="0">
            <a:off x="3512796" y="2561882"/>
            <a:ext cx="2346946" cy="3148231"/>
          </a:xfrm>
          <a:prstGeom prst="rect">
            <a:avLst/>
          </a:prstGeom>
          <a:ln/>
        </p:spPr>
        <p:txBody>
          <a:bodyPr anchor="t" anchorCtr="0" bIns="57150" lIns="114300" rIns="114300" rtlCol="0" tIns="57150" vert="horz" wrap="square">
            <a:noAutofit/>
          </a:bodyPr>
          <a:lstStyle/>
          <a:p>
            <a:pPr algn="l">
              <a:lnSpc>
                <a:spcPct val="140000"/>
              </a:lnSpc>
            </a:pPr>
            <a:r>
              <a:rPr lang="en-US" sz="1350">
                <a:solidFill>
                  <a:schemeClr val="dk1">
                    <a:alpha val="100000"/>
                  </a:schemeClr>
                </a:solidFill>
                <a:latin typeface="Noto Sans SC"/>
                <a:ea typeface="Noto Sans SC"/>
                <a:cs typeface="Noto Sans SC"/>
              </a:rPr>
              <a:t>随着开源生态的不断发展，开源治理机制也逐步完善，包括开源许可证、开源社区管理、开源项目质量评估等方面，为开源项目的健康发展提供有力保障。</a:t>
            </a:r>
          </a:p>
        </p:txBody>
        <p:extLst>
          <p:ext uri="http://schemas.baidu.com/office/drawing/2023/templateData">
            <bd:templateData xmlns:bd="http://schemas.baidu.com/office/drawing/2023/templateData">eyJfdGVtcGxhdGVEYXRhIjp7ImNvbnRlbnRUeXBlIjoiJGl0ZW0xX2MiLCJsaW5lQ291bnQiOiIxMCIsIndvcmRDb3VudCI6IjExIn0sInRhZyI6IiRpdGVtMV9jIn0=</bd:templateData>
          </p:ext>
        </p:extLst>
      </p:sp>
      <p:sp>
        <p:nvSpPr>
          <p:cNvPr id="6" name="TextBox 6"/>
          <p:cNvSpPr txBox="1"/>
          <p:nvPr/>
        </p:nvSpPr>
        <p:spPr>
          <a:xfrm rot="0">
            <a:off x="3512796" y="1399982"/>
            <a:ext cx="2346946" cy="1104811"/>
          </a:xfrm>
          <a:prstGeom prst="rect">
            <a:avLst/>
          </a:prstGeom>
          <a:ln/>
        </p:spPr>
        <p:txBody>
          <a:bodyPr anchor="ctr" anchorCtr="0" bIns="57150" lIns="114300" rIns="114300" rtlCol="0" tIns="57150" vert="horz" wrap="square">
            <a:noAutofit/>
          </a:bodyPr>
          <a:lstStyle/>
          <a:p>
            <a:pPr algn="ctr">
              <a:lnSpc>
                <a:spcPct val="120000"/>
              </a:lnSpc>
            </a:pPr>
            <a:r>
              <a:rPr b="1" lang="en-US" sz="2400">
                <a:solidFill>
                  <a:schemeClr val="accent1">
                    <a:alpha val="100000"/>
                  </a:schemeClr>
                </a:solidFill>
                <a:latin typeface="Noto Sans SC"/>
                <a:ea typeface="Noto Sans SC"/>
                <a:cs typeface="Noto Sans SC"/>
              </a:rPr>
              <a:t>开源治理机制完善</a:t>
            </a:r>
          </a:p>
        </p:txBody>
        <p:extLst>
          <p:ext uri="http://schemas.baidu.com/office/drawing/2023/templateData">
            <bd:templateData xmlns:bd="http://schemas.baidu.com/office/drawing/2023/templateData">eyJfdGVtcGxhdGVEYXRhIjp7ImNvbnRlbnRUeXBlIjoiJGl0ZW0xX3RpdGxlIiwibGluZUNvdW50IjoiMiIsIndvcmRDb3VudCI6IjUifSwidGFnIjoiJGl0ZW0xX3RpdGxlIn0=</bd:templateData>
          </p:ext>
        </p:extLst>
      </p:sp>
      <p:sp>
        <p:nvSpPr>
          <p:cNvPr id="7" name="AutoShape 7"/>
          <p:cNvSpPr/>
          <p:nvPr/>
        </p:nvSpPr>
        <p:spPr>
          <a:xfrm rot="0">
            <a:off x="6156270" y="1271253"/>
            <a:ext cx="2628508" cy="5044771"/>
          </a:xfrm>
          <a:prstGeom prst="rect">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8" name="TextBox 8"/>
          <p:cNvSpPr txBox="1"/>
          <p:nvPr/>
        </p:nvSpPr>
        <p:spPr>
          <a:xfrm rot="0">
            <a:off x="6297050" y="2561882"/>
            <a:ext cx="2346946" cy="3015160"/>
          </a:xfrm>
          <a:prstGeom prst="rect">
            <a:avLst/>
          </a:prstGeom>
          <a:ln/>
        </p:spPr>
        <p:txBody>
          <a:bodyPr anchor="t" anchorCtr="0" bIns="57150" lIns="114300" rIns="114300" rtlCol="0" tIns="57150" vert="horz" wrap="square">
            <a:noAutofit/>
          </a:bodyPr>
          <a:lstStyle/>
          <a:p>
            <a:pPr algn="l">
              <a:lnSpc>
                <a:spcPct val="140000"/>
              </a:lnSpc>
            </a:pPr>
            <a:r>
              <a:rPr lang="en-US" sz="1350">
                <a:solidFill>
                  <a:schemeClr val="dk1">
                    <a:alpha val="100000"/>
                  </a:schemeClr>
                </a:solidFill>
                <a:latin typeface="Noto Sans SC"/>
                <a:ea typeface="Noto Sans SC"/>
                <a:cs typeface="Noto Sans SC"/>
              </a:rPr>
              <a:t>开源与商业的结合越来越紧密，许多企业通过开源项目来推动自身业务的发展，同时也有越来越多的开源项目获得商业投资，实现商业化运营。</a:t>
            </a:r>
          </a:p>
        </p:txBody>
        <p:extLst>
          <p:ext uri="http://schemas.baidu.com/office/drawing/2023/templateData">
            <bd:templateData xmlns:bd="http://schemas.baidu.com/office/drawing/2023/templateData">eyJfdGVtcGxhdGVEYXRhIjp7ImNvbnRlbnRUeXBlIjoiJGl0ZW0yX2MiLCJsaW5lQ291bnQiOiIxMCIsIndvcmRDb3VudCI6IjExIn0sInRhZyI6IiRpdGVtMl9jIn0=</bd:templateData>
          </p:ext>
        </p:extLst>
      </p:sp>
      <p:sp>
        <p:nvSpPr>
          <p:cNvPr id="9" name="TextBox 9"/>
          <p:cNvSpPr txBox="1"/>
          <p:nvPr/>
        </p:nvSpPr>
        <p:spPr>
          <a:xfrm rot="0">
            <a:off x="6297050" y="1399982"/>
            <a:ext cx="2346946" cy="1104811"/>
          </a:xfrm>
          <a:prstGeom prst="rect">
            <a:avLst/>
          </a:prstGeom>
          <a:ln/>
        </p:spPr>
        <p:txBody>
          <a:bodyPr anchor="ctr" anchorCtr="0" bIns="57150" lIns="114300" rIns="114300" rtlCol="0" tIns="57150" vert="horz" wrap="square">
            <a:noAutofit/>
          </a:bodyPr>
          <a:lstStyle/>
          <a:p>
            <a:pPr algn="ctr">
              <a:lnSpc>
                <a:spcPct val="120000"/>
              </a:lnSpc>
            </a:pPr>
            <a:r>
              <a:rPr b="1" lang="en-US" sz="2400">
                <a:solidFill>
                  <a:schemeClr val="accent1">
                    <a:alpha val="100000"/>
                  </a:schemeClr>
                </a:solidFill>
                <a:latin typeface="Noto Sans SC"/>
                <a:ea typeface="Noto Sans SC"/>
                <a:cs typeface="Noto Sans SC"/>
              </a:rPr>
              <a:t>开源与商业结合紧密</a:t>
            </a:r>
          </a:p>
        </p:txBody>
        <p:extLst>
          <p:ext uri="http://schemas.baidu.com/office/drawing/2023/templateData">
            <bd:templateData xmlns:bd="http://schemas.baidu.com/office/drawing/2023/templateData">eyJfdGVtcGxhdGVEYXRhIjp7ImNvbnRlbnRUeXBlIjoiJGl0ZW0yX3RpdGxlIiwibGluZUNvdW50IjoiMiIsIndvcmRDb3VudCI6IjUifSwidGFnIjoiJGl0ZW0yX3RpdGxlIn0=</bd:templateData>
          </p:ext>
        </p:extLst>
      </p:sp>
      <p:sp>
        <p:nvSpPr>
          <p:cNvPr id="10" name="AutoShape 10"/>
          <p:cNvSpPr/>
          <p:nvPr/>
        </p:nvSpPr>
        <p:spPr>
          <a:xfrm rot="0">
            <a:off x="8949764" y="1271253"/>
            <a:ext cx="2628508" cy="5044771"/>
          </a:xfrm>
          <a:prstGeom prst="rect">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11" name="TextBox 11"/>
          <p:cNvSpPr txBox="1"/>
          <p:nvPr/>
        </p:nvSpPr>
        <p:spPr>
          <a:xfrm rot="0">
            <a:off x="9090545" y="2561882"/>
            <a:ext cx="2346946" cy="3148231"/>
          </a:xfrm>
          <a:prstGeom prst="rect">
            <a:avLst/>
          </a:prstGeom>
          <a:ln/>
        </p:spPr>
        <p:txBody>
          <a:bodyPr anchor="t" anchorCtr="0" bIns="57150" lIns="114300" rIns="114300" rtlCol="0" tIns="57150" vert="horz" wrap="square">
            <a:noAutofit/>
          </a:bodyPr>
          <a:lstStyle/>
          <a:p>
            <a:pPr algn="l">
              <a:lnSpc>
                <a:spcPct val="140000"/>
              </a:lnSpc>
            </a:pPr>
            <a:r>
              <a:rPr lang="en-US" sz="1350">
                <a:solidFill>
                  <a:schemeClr val="dk1">
                    <a:alpha val="100000"/>
                  </a:schemeClr>
                </a:solidFill>
                <a:latin typeface="Noto Sans SC"/>
                <a:ea typeface="Noto Sans SC"/>
                <a:cs typeface="Noto Sans SC"/>
              </a:rPr>
              <a:t>开源项目的发展已经超越国界，成为全球性的技术交流与合作平台，各国开发者在开源社区中共同协作，推动开源技术的全球化发展。</a:t>
            </a:r>
          </a:p>
        </p:txBody>
        <p:extLst>
          <p:ext uri="http://schemas.baidu.com/office/drawing/2023/templateData">
            <bd:templateData xmlns:bd="http://schemas.baidu.com/office/drawing/2023/templateData">eyJfdGVtcGxhdGVEYXRhIjp7ImNvbnRlbnRUeXBlIjoiJGl0ZW0zX2MiLCJsaW5lQ291bnQiOiIxMCIsIndvcmRDb3VudCI6IjExIn0sInRhZyI6IiRpdGVtM19jIn0=</bd:templateData>
          </p:ext>
        </p:extLst>
      </p:sp>
      <p:sp>
        <p:nvSpPr>
          <p:cNvPr id="12" name="TextBox 12"/>
          <p:cNvSpPr txBox="1"/>
          <p:nvPr/>
        </p:nvSpPr>
        <p:spPr>
          <a:xfrm rot="0">
            <a:off x="9090545" y="1399982"/>
            <a:ext cx="2346946" cy="1104811"/>
          </a:xfrm>
          <a:prstGeom prst="rect">
            <a:avLst/>
          </a:prstGeom>
          <a:ln/>
        </p:spPr>
        <p:txBody>
          <a:bodyPr anchor="ctr" anchorCtr="0" bIns="57150" lIns="114300" rIns="114300" rtlCol="0" tIns="57150" vert="horz" wrap="square">
            <a:noAutofit/>
          </a:bodyPr>
          <a:lstStyle/>
          <a:p>
            <a:pPr algn="ctr">
              <a:lnSpc>
                <a:spcPct val="120000"/>
              </a:lnSpc>
            </a:pPr>
            <a:r>
              <a:rPr b="1" lang="en-US" sz="2400">
                <a:solidFill>
                  <a:schemeClr val="accent1">
                    <a:alpha val="100000"/>
                  </a:schemeClr>
                </a:solidFill>
                <a:latin typeface="Noto Sans SC"/>
                <a:ea typeface="Noto Sans SC"/>
                <a:cs typeface="Noto Sans SC"/>
              </a:rPr>
              <a:t>开源国际化趋势明显</a:t>
            </a:r>
          </a:p>
        </p:txBody>
        <p:extLst>
          <p:ext uri="http://schemas.baidu.com/office/drawing/2023/templateData">
            <bd:templateData xmlns:bd="http://schemas.baidu.com/office/drawing/2023/templateData">eyJfdGVtcGxhdGVEYXRhIjp7ImNvbnRlbnRUeXBlIjoiJGl0ZW0zX3RpdGxlIiwibGluZUNvdW50IjoiMiIsIndvcmRDb3VudCI6IjUifSwidGFnIjoiJGl0ZW0zX3RpdGxlIn0=</bd:templateData>
          </p:ext>
        </p:extLst>
      </p:sp>
    </p:spTree>
  </p:cSld>
  <p:clrMapOvr>
    <a:masterClrMapping/>
  </p:clrMapOvr>
  <p:extLst>
    <p:ext uri="http://schemas.baidu.com/office/drawing/2023/templateData">
      <bd:templateData xmlns:bd="http://schemas.baidu.com/office/drawing/2023/templateData">eyJtZCI6IiMjIOW8gOa6kOeUn+aAgeWPkeWxleeOsOeKtlxuIyMjIOW8gOa6kOayu+eQhuacuuWItuWujOWWhFxu6ZqP552A5byA5rqQ55Sf5oCB55qE5LiN5pat5Y+R5bGV77yM5byA5rqQ5rK755CG5py65Yi25Lmf6YCQ5q2l5a6M5ZaE77yM5YyF5ous5byA5rqQ6K645Y+v6K+B44CB5byA5rqQ56S+5Yy6566h55CG44CB5byA5rqQ6aG555uu6LSo6YeP6K+E5Lyw562J5pa56Z2i77yM5Li65byA5rqQ6aG555uu55qE5YGl5bq35Y+R5bGV5o+Q5L6b5pyJ5Yqb5L+d6Zqc44CCXG4jIyMg5byA5rqQ5LiO5ZWG5Lia57uT5ZCI57Sn5a+GXG7lvIDmupDkuI7llYbkuJrnmoTnu5PlkIjotormnaXotorntKflr4bvvIzorrjlpJrkvIHkuJrpgJrov4flvIDmupDpobnnm67mnaXmjqjliqjoh6rouqvkuJrliqHnmoTlj5HlsZXvvIzlkIzml7bkuZ/mnInotormnaXotorlpJrnmoTlvIDmupDpobnnm67ojrflvpfllYbkuJrmipXotYTvvIzlrp7njrDllYbkuJrljJbov5DokKXjgIJcbiMjIyDlvIDmupDlm73pmYXljJbotovlir/mmI7mmL5cbuW8gOa6kOmhueebrueahOWPkeWxleW3sue7j+i2hei2iuWbveeVjO+8jOaIkOS4uuWFqOeQg+aAp+eahOaKgOacr+S6pOa1geS4juWQiOS9nOW5s+WPsO+8jOWQhOWbveW8gOWPkeiAheWcqOW8gOa6kOekvuWMuuS4reWFseWQjOWNj+S9nO+8jOaOqOWKqOW8gOa6kOaKgOacr+eahOWFqOeQg+WMluWPkeWxleOAgiIsInRwbGlkIjoiNjgiLCJ0cGxOYW1lIjoibGlzdDNfaW1nMTgiLCJlZGl0ZWQiOiJmYWxzZSJ9</bd:templateData>
    </p:ext>
  </p:extLst>
</p:sld>
</file>

<file path=ppt/slides/slide5.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rot="0">
            <a:off x="4451873" y="1812219"/>
            <a:ext cx="3287800" cy="3946292"/>
          </a:xfrm>
          <a:prstGeom prst="rect">
            <a:avLst/>
          </a:prstGeom>
          <a:noFill/>
        </p:spPr>
        <p:extLst>
          <p:ext uri="http://schemas.baidu.com/office/drawing/2023/templateData">
            <bd:templateData xmlns:bd="http://schemas.baidu.com/office/drawing/2023/templateData">eyJfdGVtcGxhdGVEYXRhIjp7ImNvbnRlbnRUeXBlIjoiJGltZzAifSwidGFnIjoiJGltZzAifQ==</bd:templateData>
          </p:ext>
        </p:extLst>
      </p:pic>
      <p:sp>
        <p:nvSpPr>
          <p:cNvPr id="3" name="TextBox 3"/>
          <p:cNvSpPr txBox="1"/>
          <p:nvPr/>
        </p:nvSpPr>
        <p:spPr>
          <a:xfrm rot="0">
            <a:off x="595787" y="1726745"/>
            <a:ext cx="3550411" cy="490334"/>
          </a:xfrm>
          <a:prstGeom prst="rect">
            <a:avLst/>
          </a:prstGeom>
          <a:ln/>
        </p:spPr>
        <p:txBody>
          <a:bodyPr anchor="ctr" anchorCtr="0" bIns="33052" lIns="66008" rIns="66008" rtlCol="0" tIns="33052" vert="horz" wrap="square">
            <a:noAutofit/>
          </a:bodyPr>
          <a:lstStyle/>
          <a:p>
            <a:pPr algn="ctr">
              <a:lnSpc>
                <a:spcPct val="120000"/>
              </a:lnSpc>
            </a:pPr>
            <a:r>
              <a:rPr b="1" lang="en-US" sz="2400">
                <a:solidFill>
                  <a:schemeClr val="accent1">
                    <a:alpha val="100000"/>
                  </a:schemeClr>
                </a:solidFill>
                <a:latin typeface="Noto Sans SC"/>
                <a:ea typeface="Noto Sans SC"/>
                <a:cs typeface="Noto Sans SC"/>
              </a:rPr>
              <a:t>贡献评估片面性</a:t>
            </a:r>
          </a:p>
        </p:txBody>
        <p:extLst>
          <p:ext uri="http://schemas.baidu.com/office/drawing/2023/templateData">
            <bd:templateData xmlns:bd="http://schemas.baidu.com/office/drawing/2023/templateData">eyJfdGVtcGxhdGVEYXRhIjp7ImNvbnRlbnRUeXBlIjoiJGl0ZW0xX3RpdGxlIiwibGluZUNvdW50IjoiMSIsIndvcmRDb3VudCI6IjEwIn0sInRhZyI6IiRpdGVtMV90aXRsZSJ9</bd:templateData>
          </p:ext>
        </p:extLst>
      </p:sp>
      <p:sp>
        <p:nvSpPr>
          <p:cNvPr id="4" name="TextBox 4"/>
          <p:cNvSpPr txBox="1"/>
          <p:nvPr/>
        </p:nvSpPr>
        <p:spPr>
          <a:xfrm rot="0">
            <a:off x="698933" y="2298345"/>
            <a:ext cx="3344120" cy="1504071"/>
          </a:xfrm>
          <a:prstGeom prst="rect">
            <a:avLst/>
          </a:prstGeom>
          <a:ln/>
        </p:spPr>
        <p:txBody>
          <a:bodyPr anchor="t" anchorCtr="0" bIns="33052" lIns="66008" rIns="66008" rtlCol="0" tIns="33052" vert="horz" wrap="square">
            <a:noAutofit/>
          </a:bodyPr>
          <a:lstStyle/>
          <a:p>
            <a:pPr algn="ctr">
              <a:lnSpc>
                <a:spcPct val="150000"/>
              </a:lnSpc>
            </a:pPr>
            <a:r>
              <a:rPr lang="en-US" sz="1500">
                <a:solidFill>
                  <a:schemeClr val="dk1">
                    <a:alpha val="100000"/>
                  </a:schemeClr>
                </a:solidFill>
                <a:latin typeface="Noto Sans SC"/>
                <a:ea typeface="Noto Sans SC"/>
                <a:cs typeface="Noto Sans SC"/>
              </a:rPr>
              <a:t>现有指标多关注代码提交量，忽略文档维护、社区答疑等非代码贡献价值。</a:t>
            </a:r>
          </a:p>
        </p:txBody>
        <p:extLst>
          <p:ext uri="http://schemas.baidu.com/office/drawing/2023/templateData">
            <bd:templateData xmlns:bd="http://schemas.baidu.com/office/drawing/2023/templateData">eyJfdGVtcGxhdGVEYXRhIjp7ImNvbnRlbnRUeXBlIjoiJGl0ZW0xX2MiLCJsaW5lQ291bnQiOiI0Iiwid29yZENvdW50IjoiMTUifSwidGFnIjoiJGl0ZW0xX2MifQ==</bd:templateData>
          </p:ext>
        </p:extLst>
      </p:sp>
      <p:sp>
        <p:nvSpPr>
          <p:cNvPr id="5" name="TextBox 5"/>
          <p:cNvSpPr txBox="1"/>
          <p:nvPr/>
        </p:nvSpPr>
        <p:spPr>
          <a:xfrm rot="0">
            <a:off x="8065494" y="1713967"/>
            <a:ext cx="3583632" cy="490334"/>
          </a:xfrm>
          <a:prstGeom prst="rect">
            <a:avLst/>
          </a:prstGeom>
          <a:ln/>
        </p:spPr>
        <p:txBody>
          <a:bodyPr anchor="ctr" anchorCtr="0" bIns="33052" lIns="66008" rIns="66008" rtlCol="0" tIns="33052" vert="horz" wrap="square">
            <a:noAutofit/>
          </a:bodyPr>
          <a:lstStyle/>
          <a:p>
            <a:pPr algn="ctr">
              <a:lnSpc>
                <a:spcPct val="120000"/>
              </a:lnSpc>
            </a:pPr>
            <a:r>
              <a:rPr b="1" lang="en-US" sz="2400">
                <a:solidFill>
                  <a:schemeClr val="accent1">
                    <a:alpha val="100000"/>
                  </a:schemeClr>
                </a:solidFill>
                <a:latin typeface="Noto Sans SC"/>
                <a:ea typeface="Noto Sans SC"/>
                <a:cs typeface="Noto Sans SC"/>
              </a:rPr>
              <a:t>新人成长壁垒</a:t>
            </a:r>
          </a:p>
        </p:txBody>
        <p:extLst>
          <p:ext uri="http://schemas.baidu.com/office/drawing/2023/templateData">
            <bd:templateData xmlns:bd="http://schemas.baidu.com/office/drawing/2023/templateData">eyJfdGVtcGxhdGVEYXRhIjp7ImNvbnRlbnRUeXBlIjoiJGl0ZW0yX3RpdGxlIiwibGluZUNvdW50IjoiMSIsIndvcmRDb3VudCI6IjEwIn0sInRhZyI6IiRpdGVtMl90aXRsZSJ9</bd:templateData>
          </p:ext>
        </p:extLst>
      </p:sp>
      <p:sp>
        <p:nvSpPr>
          <p:cNvPr id="6" name="TextBox 6"/>
          <p:cNvSpPr txBox="1"/>
          <p:nvPr/>
        </p:nvSpPr>
        <p:spPr>
          <a:xfrm rot="0">
            <a:off x="8211865" y="2285568"/>
            <a:ext cx="3290891" cy="1516848"/>
          </a:xfrm>
          <a:prstGeom prst="rect">
            <a:avLst/>
          </a:prstGeom>
          <a:ln/>
        </p:spPr>
        <p:txBody>
          <a:bodyPr anchor="t" anchorCtr="0" bIns="33052" lIns="66008" rIns="66008" rtlCol="0" tIns="33052" vert="horz" wrap="square">
            <a:noAutofit/>
          </a:bodyPr>
          <a:lstStyle/>
          <a:p>
            <a:pPr algn="ctr">
              <a:lnSpc>
                <a:spcPct val="150000"/>
              </a:lnSpc>
            </a:pPr>
            <a:r>
              <a:rPr lang="en-US" sz="1500">
                <a:solidFill>
                  <a:schemeClr val="dk1">
                    <a:alpha val="100000"/>
                  </a:schemeClr>
                </a:solidFill>
                <a:latin typeface="Noto Sans SC"/>
                <a:ea typeface="Noto Sans SC"/>
                <a:cs typeface="Noto Sans SC"/>
              </a:rPr>
              <a:t>核心开发者群体固化导致新成员晋升路径不明确，影响社区可持续性。</a:t>
            </a:r>
          </a:p>
        </p:txBody>
        <p:extLst>
          <p:ext uri="http://schemas.baidu.com/office/drawing/2023/templateData">
            <bd:templateData xmlns:bd="http://schemas.baidu.com/office/drawing/2023/templateData">eyJfdGVtcGxhdGVEYXRhIjp7ImNvbnRlbnRUeXBlIjoiJGl0ZW0yX2MiLCJsaW5lQ291bnQiOiI0Iiwid29yZENvdW50IjoiMTUifSwidGFnIjoiJGl0ZW0yX2MifQ==</bd:templateData>
          </p:ext>
        </p:extLst>
      </p:sp>
      <p:sp>
        <p:nvSpPr>
          <p:cNvPr id="7" name="TextBox 7"/>
          <p:cNvSpPr txBox="1"/>
          <p:nvPr/>
        </p:nvSpPr>
        <p:spPr>
          <a:xfrm rot="0">
            <a:off x="595787" y="4317136"/>
            <a:ext cx="3550411" cy="490334"/>
          </a:xfrm>
          <a:prstGeom prst="rect">
            <a:avLst/>
          </a:prstGeom>
          <a:ln/>
        </p:spPr>
        <p:txBody>
          <a:bodyPr anchor="ctr" anchorCtr="0" bIns="33052" lIns="66008" rIns="66008" rtlCol="0" tIns="33052" vert="horz" wrap="square">
            <a:noAutofit/>
          </a:bodyPr>
          <a:lstStyle/>
          <a:p>
            <a:pPr algn="ctr">
              <a:lnSpc>
                <a:spcPct val="120000"/>
              </a:lnSpc>
            </a:pPr>
            <a:r>
              <a:rPr b="1" lang="en-US" sz="2400">
                <a:solidFill>
                  <a:schemeClr val="accent1">
                    <a:alpha val="100000"/>
                  </a:schemeClr>
                </a:solidFill>
                <a:latin typeface="Noto Sans SC"/>
                <a:ea typeface="Noto Sans SC"/>
                <a:cs typeface="Noto Sans SC"/>
              </a:rPr>
              <a:t>工具链碎片化</a:t>
            </a:r>
          </a:p>
        </p:txBody>
        <p:extLst>
          <p:ext uri="http://schemas.baidu.com/office/drawing/2023/templateData">
            <bd:templateData xmlns:bd="http://schemas.baidu.com/office/drawing/2023/templateData">eyJfdGVtcGxhdGVEYXRhIjp7ImNvbnRlbnRUeXBlIjoiJGl0ZW0zX3RpdGxlIiwibGluZUNvdW50IjoiMSIsIndvcmRDb3VudCI6IjEwIn0sInRhZyI6IiRpdGVtM190aXRsZSJ9</bd:templateData>
          </p:ext>
        </p:extLst>
      </p:sp>
      <p:sp>
        <p:nvSpPr>
          <p:cNvPr id="8" name="TextBox 8"/>
          <p:cNvSpPr txBox="1"/>
          <p:nvPr/>
        </p:nvSpPr>
        <p:spPr>
          <a:xfrm rot="0">
            <a:off x="712714" y="4807470"/>
            <a:ext cx="3316558" cy="1384306"/>
          </a:xfrm>
          <a:prstGeom prst="rect">
            <a:avLst/>
          </a:prstGeom>
          <a:ln/>
        </p:spPr>
        <p:txBody>
          <a:bodyPr anchor="t" anchorCtr="0" bIns="33052" lIns="66008" rIns="66008" rtlCol="0" tIns="33052" vert="horz" wrap="square">
            <a:noAutofit/>
          </a:bodyPr>
          <a:lstStyle/>
          <a:p>
            <a:pPr algn="ctr">
              <a:lnSpc>
                <a:spcPct val="150000"/>
              </a:lnSpc>
            </a:pPr>
            <a:r>
              <a:rPr lang="en-US" sz="1500">
                <a:solidFill>
                  <a:schemeClr val="dk1">
                    <a:alpha val="100000"/>
                  </a:schemeClr>
                </a:solidFill>
                <a:latin typeface="Noto Sans SC"/>
                <a:ea typeface="Noto Sans SC"/>
                <a:cs typeface="Noto Sans SC"/>
              </a:rPr>
              <a:t>不同平台使用独立的贡献统计系统，缺乏跨项目影响力统一度量标准。</a:t>
            </a:r>
          </a:p>
        </p:txBody>
        <p:extLst>
          <p:ext uri="http://schemas.baidu.com/office/drawing/2023/templateData">
            <bd:templateData xmlns:bd="http://schemas.baidu.com/office/drawing/2023/templateData">eyJfdGVtcGxhdGVEYXRhIjp7ImNvbnRlbnRUeXBlIjoiJGl0ZW0zX2MiLCJsaW5lQ291bnQiOiI0Iiwid29yZENvdW50IjoiMTUifSwidGFnIjoiJGl0ZW0zX2MifQ==</bd:templateData>
          </p:ext>
        </p:extLst>
      </p:sp>
      <p:sp>
        <p:nvSpPr>
          <p:cNvPr id="9" name="TextBox 9"/>
          <p:cNvSpPr txBox="1"/>
          <p:nvPr/>
        </p:nvSpPr>
        <p:spPr>
          <a:xfrm rot="0">
            <a:off x="7972345" y="4317136"/>
            <a:ext cx="3676782" cy="490334"/>
          </a:xfrm>
          <a:prstGeom prst="rect">
            <a:avLst/>
          </a:prstGeom>
          <a:ln/>
        </p:spPr>
        <p:txBody>
          <a:bodyPr anchor="ctr" anchorCtr="0" bIns="33052" lIns="66008" rIns="66008" rtlCol="0" tIns="33052" vert="horz" wrap="square">
            <a:noAutofit/>
          </a:bodyPr>
          <a:lstStyle/>
          <a:p>
            <a:pPr algn="ctr">
              <a:lnSpc>
                <a:spcPct val="120000"/>
              </a:lnSpc>
            </a:pPr>
            <a:r>
              <a:rPr b="1" lang="en-US" sz="2400">
                <a:solidFill>
                  <a:schemeClr val="accent1">
                    <a:alpha val="100000"/>
                  </a:schemeClr>
                </a:solidFill>
                <a:latin typeface="Noto Sans SC"/>
                <a:ea typeface="Noto Sans SC"/>
                <a:cs typeface="Noto Sans SC"/>
              </a:rPr>
              <a:t>激励机制缺失</a:t>
            </a:r>
          </a:p>
        </p:txBody>
        <p:extLst>
          <p:ext uri="http://schemas.baidu.com/office/drawing/2023/templateData">
            <bd:templateData xmlns:bd="http://schemas.baidu.com/office/drawing/2023/templateData">eyJfdGVtcGxhdGVEYXRhIjp7ImNvbnRlbnRUeXBlIjoiJGl0ZW00X3RpdGxlIiwibGluZUNvdW50IjoiMSIsIndvcmRDb3VudCI6IjEwIn0sInRhZyI6IiRpdGVtNF90aXRsZSJ9</bd:templateData>
          </p:ext>
        </p:extLst>
      </p:sp>
      <p:sp>
        <p:nvSpPr>
          <p:cNvPr id="10" name="TextBox 10"/>
          <p:cNvSpPr txBox="1"/>
          <p:nvPr/>
        </p:nvSpPr>
        <p:spPr>
          <a:xfrm rot="0">
            <a:off x="8165290" y="4823328"/>
            <a:ext cx="3290891" cy="1368448"/>
          </a:xfrm>
          <a:prstGeom prst="rect">
            <a:avLst/>
          </a:prstGeom>
          <a:ln/>
        </p:spPr>
        <p:txBody>
          <a:bodyPr anchor="t" anchorCtr="0" bIns="33052" lIns="66008" rIns="66008" rtlCol="0" tIns="33052" vert="horz" wrap="square">
            <a:noAutofit/>
          </a:bodyPr>
          <a:lstStyle/>
          <a:p>
            <a:pPr algn="ctr">
              <a:lnSpc>
                <a:spcPct val="150000"/>
              </a:lnSpc>
            </a:pPr>
            <a:r>
              <a:rPr lang="en-US" sz="1500">
                <a:solidFill>
                  <a:schemeClr val="dk1">
                    <a:alpha val="100000"/>
                  </a:schemeClr>
                </a:solidFill>
                <a:latin typeface="Noto Sans SC"/>
                <a:ea typeface="Noto Sans SC"/>
                <a:cs typeface="Noto Sans SC"/>
              </a:rPr>
              <a:t>超过70%的贡献者为自愿参与，缺乏可持续的荣誉体系或物质回报方案。</a:t>
            </a:r>
          </a:p>
        </p:txBody>
        <p:extLst>
          <p:ext uri="http://schemas.baidu.com/office/drawing/2023/templateData">
            <bd:templateData xmlns:bd="http://schemas.baidu.com/office/drawing/2023/templateData">eyJfdGVtcGxhdGVEYXRhIjp7ImNvbnRlbnRUeXBlIjoiJGl0ZW00X2MiLCJsaW5lQ291bnQiOiI0Iiwid29yZENvdW50IjoiMTUifSwidGFnIjoiJGl0ZW00X2MifQ==</bd:templateData>
          </p:ext>
        </p:extLst>
      </p:sp>
      <p:sp>
        <p:nvSpPr>
          <p:cNvPr id="11" name="TextBox 11"/>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现存问题与挑战</a:t>
            </a:r>
          </a:p>
        </p:txBody>
        <p:extLst>
          <p:ext uri="http://schemas.baidu.com/office/drawing/2023/templateData">
            <bd:templateData xmlns:bd="http://schemas.baidu.com/office/drawing/2023/templateData">eyJfdGVtcGxhdGVEYXRhIjp7ImNvbnRlbnRUeXBlIjoiJHRpdGxlIiwibGluZUNvdW50IjoiMSIsIndvcmRDb3VudCI6IjI4In0sInRhZyI6IiR0aXRsZSJ9</bd:templateData>
          </p:ext>
        </p:extLst>
      </p:sp>
    </p:spTree>
  </p:cSld>
  <p:clrMapOvr>
    <a:masterClrMapping/>
  </p:clrMapOvr>
  <p:extLst>
    <p:ext uri="http://schemas.baidu.com/office/drawing/2023/templateData">
      <bd:templateData xmlns:bd="http://schemas.baidu.com/office/drawing/2023/templateData">eyJtZCI6IiMjIOeOsOWtmOmXrumimOS4juaMkeaImFxuIyMjIOi0oeeMruivhOS8sOeJh+mdouaAp1xu546w5pyJ5oyH5qCH5aSa5YWz5rOo5Luj56CB5o+Q5Lqk6YeP77yM5b+955Wl5paH5qGj57u05oqk44CB56S+5Yy6562U55aR562J6Z2e5Luj56CB6LSh54yu5Lu35YC844CCXG4jIyMg5paw5Lq65oiQ6ZW/5aOB5Z6SXG7moLjlv4PlvIDlj5HogIXnvqTkvZPlm7rljJblr7zoh7TmlrDmiJDlkZjmmYvljYfot6/lvoTkuI3mmI7noa7vvIzlvbHlk43npL7ljLrlj6/mjIHnu63mgKfjgIJcbiMjIyDlt6Xlhbfpk77noo7niYfljJZcbuS4jeWQjOW5s+WPsOS9v+eUqOeLrOeri+eahOi0oeeMrue7n+iuoeezu+e7n++8jOe8uuS5j+i3qOmhueebruW9seWTjeWKm+e7n+S4gOW6pumHj+agh+WHhuOAglxuIyMjIOa/gOWKseacuuWItue8uuWksVxu6LaF6L+HNzAl55qE6LSh54yu6ICF5Li66Ieq5oS/5Y+C5LiO77yM57y65LmP5Y+v5oyB57ut55qE6I2j6KqJ5L2T57O75oiW54mp6LSo5Zue5oql5pa55qGI44CCIiwidHBsaWQiOiI2OCIsInRwbE5hbWUiOiJsaXN0NF9JbWdrbTI0MDMxMjAxIiwiZWRpdGVkIjoiZmFsc2UifQ==</bd:templateData>
    </p:ext>
  </p:extLst>
</p:sld>
</file>

<file path=ppt/slides/slide6.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核心开源工具：OpenDigger</a:t>
            </a:r>
          </a:p>
        </p:txBody>
        <p:extLst>
          <p:ext uri="http://schemas.baidu.com/office/drawing/2023/templateData">
            <bd:templateData xmlns:bd="http://schemas.baidu.com/office/drawing/2023/templateData">eyJfdGVtcGxhdGVEYXRhIjp7ImNvbnRlbnRUeXBlIjoiJHRpdGxlIiwibGluZUNvdW50IjoiMSIsIndvcmRDb3VudCI6IjI4In0sInRhZyI6IiR0aXRsZSJ9</bd:templateData>
          </p:ext>
        </p:extLst>
      </p:sp>
      <p:sp>
        <p:nvSpPr>
          <p:cNvPr id="3" name="AutoShape 3"/>
          <p:cNvSpPr/>
          <p:nvPr/>
        </p:nvSpPr>
        <p:spPr>
          <a:xfrm rot="0">
            <a:off x="401832" y="2050015"/>
            <a:ext cx="2190750" cy="4428588"/>
          </a:xfrm>
          <a:prstGeom prst="round2SameRect">
            <a:avLst/>
          </a:prstGeom>
          <a:solidFill>
            <a:schemeClr val="lt2">
              <a:alpha val="80000"/>
            </a:schemeClr>
          </a:solidFill>
          <a:ln/>
        </p:spPr>
        <p:extLst>
          <p:ext uri="http://schemas.baidu.com/office/drawing/2023/templateData">
            <bd:templateData xmlns:bd="http://schemas.baidu.com/office/drawing/2023/templateData">eyJ0YWciOiJub0VkaXQifQ==</bd:templateData>
          </p:ext>
        </p:extLst>
      </p:sp>
      <p:sp>
        <p:nvSpPr>
          <p:cNvPr id="4" name="AutoShape 4"/>
          <p:cNvSpPr/>
          <p:nvPr/>
        </p:nvSpPr>
        <p:spPr>
          <a:xfrm rot="0">
            <a:off x="1069343" y="1649980"/>
            <a:ext cx="855726" cy="85572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5" name="TextBox 5"/>
          <p:cNvSpPr txBox="1"/>
          <p:nvPr/>
        </p:nvSpPr>
        <p:spPr>
          <a:xfrm rot="0">
            <a:off x="487557" y="3275506"/>
            <a:ext cx="2019300" cy="3010781"/>
          </a:xfrm>
          <a:prstGeom prst="rect">
            <a:avLst/>
          </a:prstGeom>
          <a:ln/>
        </p:spPr>
        <p:txBody>
          <a:bodyPr anchor="t" anchorCtr="0" bIns="123825" lIns="123825" rIns="57150" rtlCol="0" tIns="123825" vert="horz" wrap="square">
            <a:noAutofit/>
          </a:bodyPr>
          <a:lstStyle/>
          <a:p>
            <a:pPr algn="l">
              <a:lnSpc>
                <a:spcPct val="140000"/>
              </a:lnSpc>
            </a:pPr>
            <a:r>
              <a:rPr lang="en-US" sz="1250">
                <a:solidFill>
                  <a:schemeClr val="dk1">
                    <a:alpha val="100000"/>
                  </a:schemeClr>
                </a:solidFill>
                <a:latin typeface="Noto Sans SC"/>
                <a:ea typeface="Noto Sans SC"/>
                <a:cs typeface="Noto Sans SC"/>
              </a:rPr>
              <a:t>OpenDigger提供强大的开源项目数据采集功能，支持从GitHub、GitLab等主流代码托管平台获取项目提交记录、Issue互动、PR合并等关键指标。</a:t>
            </a:r>
          </a:p>
        </p:txBody>
        <p:extLst>
          <p:ext uri="http://schemas.baidu.com/office/drawing/2023/templateData">
            <bd:templateData xmlns:bd="http://schemas.baidu.com/office/drawing/2023/templateData">eyJfdGVtcGxhdGVEYXRhIjp7ImNvbnRlbnRUeXBlIjoiJGl0ZW0xX2MiLCJsaW5lQ291bnQiOiIxMCIsIndvcmRDb3VudCI6IjEwIn0sInRhZyI6IiRpdGVtMV9jIn0=</bd:templateData>
          </p:ext>
        </p:extLst>
      </p:sp>
      <p:sp>
        <p:nvSpPr>
          <p:cNvPr id="6" name="TextBox 6"/>
          <p:cNvSpPr txBox="1"/>
          <p:nvPr/>
        </p:nvSpPr>
        <p:spPr>
          <a:xfrm rot="0">
            <a:off x="1095725" y="1712738"/>
            <a:ext cx="802962" cy="730211"/>
          </a:xfrm>
          <a:prstGeom prst="rect">
            <a:avLst/>
          </a:prstGeom>
          <a:noFill/>
          <a:ln/>
        </p:spPr>
        <p:txBody>
          <a:bodyPr anchor="ctr" anchorCtr="0" bIns="0" lIns="0" rIns="0" rtlCol="0" tIns="0" vert="horz" wrap="none">
            <a:noAutofit/>
          </a:bodyPr>
          <a:lstStyle/>
          <a:p>
            <a:pPr algn="ctr">
              <a:lnSpc>
                <a:spcPct val="100000"/>
              </a:lnSpc>
              <a:spcBef>
                <a:spcPct val="0"/>
              </a:spcBef>
            </a:pPr>
            <a:r>
              <a:rPr lang="en-US" sz="3600">
                <a:solidFill>
                  <a:srgbClr val="FFFFFF">
                    <a:alpha val="100000"/>
                  </a:srgbClr>
                </a:solidFill>
                <a:latin typeface="Noto Sans SC"/>
                <a:ea typeface="Noto Sans SC"/>
                <a:cs typeface="Noto Sans SC"/>
              </a:rPr>
              <a:t>01</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7" name="AutoShape 7"/>
          <p:cNvSpPr/>
          <p:nvPr/>
        </p:nvSpPr>
        <p:spPr>
          <a:xfrm rot="0">
            <a:off x="2710003" y="2050015"/>
            <a:ext cx="2190750" cy="4428588"/>
          </a:xfrm>
          <a:prstGeom prst="round2SameRect">
            <a:avLst/>
          </a:prstGeom>
          <a:solidFill>
            <a:schemeClr val="lt2">
              <a:alpha val="80000"/>
            </a:schemeClr>
          </a:solidFill>
          <a:ln/>
        </p:spPr>
        <p:extLst>
          <p:ext uri="http://schemas.baidu.com/office/drawing/2023/templateData">
            <bd:templateData xmlns:bd="http://schemas.baidu.com/office/drawing/2023/templateData">eyJ0YWciOiJub0VkaXQifQ==</bd:templateData>
          </p:ext>
        </p:extLst>
      </p:sp>
      <p:sp>
        <p:nvSpPr>
          <p:cNvPr id="8" name="AutoShape 8"/>
          <p:cNvSpPr/>
          <p:nvPr/>
        </p:nvSpPr>
        <p:spPr>
          <a:xfrm rot="0">
            <a:off x="3377515" y="1649980"/>
            <a:ext cx="855726" cy="85572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9" name="TextBox 9"/>
          <p:cNvSpPr txBox="1"/>
          <p:nvPr/>
        </p:nvSpPr>
        <p:spPr>
          <a:xfrm rot="0">
            <a:off x="2795728" y="3275506"/>
            <a:ext cx="2019300" cy="3010781"/>
          </a:xfrm>
          <a:prstGeom prst="rect">
            <a:avLst/>
          </a:prstGeom>
          <a:ln/>
        </p:spPr>
        <p:txBody>
          <a:bodyPr anchor="t" anchorCtr="0" bIns="123825" lIns="123825" rIns="57150" rtlCol="0" tIns="123825" vert="horz" wrap="square">
            <a:noAutofit/>
          </a:bodyPr>
          <a:lstStyle/>
          <a:p>
            <a:pPr algn="l">
              <a:lnSpc>
                <a:spcPct val="140000"/>
              </a:lnSpc>
            </a:pPr>
            <a:r>
              <a:rPr lang="en-US" sz="1250">
                <a:solidFill>
                  <a:schemeClr val="dk1">
                    <a:alpha val="100000"/>
                  </a:schemeClr>
                </a:solidFill>
                <a:latin typeface="Noto Sans SC"/>
                <a:ea typeface="Noto Sans SC"/>
                <a:cs typeface="Noto Sans SC"/>
              </a:rPr>
              <a:t>内置多维度的贡献者影响力评估算法，包括代码贡献权重、社区互动活跃度、项目维护参与度等核心参数的动态计算模型。</a:t>
            </a:r>
          </a:p>
        </p:txBody>
        <p:extLst>
          <p:ext uri="http://schemas.baidu.com/office/drawing/2023/templateData">
            <bd:templateData xmlns:bd="http://schemas.baidu.com/office/drawing/2023/templateData">eyJfdGVtcGxhdGVEYXRhIjp7ImNvbnRlbnRUeXBlIjoiJGl0ZW0yX2MiLCJsaW5lQ291bnQiOiIxMCIsIndvcmRDb3VudCI6IjEwIn0sInRhZyI6IiRpdGVtMl9jIn0=</bd:templateData>
          </p:ext>
        </p:extLst>
      </p:sp>
      <p:sp>
        <p:nvSpPr>
          <p:cNvPr id="10" name="TextBox 10"/>
          <p:cNvSpPr txBox="1"/>
          <p:nvPr/>
        </p:nvSpPr>
        <p:spPr>
          <a:xfrm rot="0">
            <a:off x="3403897" y="1712738"/>
            <a:ext cx="802962" cy="730211"/>
          </a:xfrm>
          <a:prstGeom prst="rect">
            <a:avLst/>
          </a:prstGeom>
          <a:noFill/>
          <a:ln/>
        </p:spPr>
        <p:txBody>
          <a:bodyPr anchor="ctr" anchorCtr="0" bIns="0" lIns="0" rIns="0" rtlCol="0" tIns="0" vert="horz" wrap="none">
            <a:noAutofit/>
          </a:bodyPr>
          <a:lstStyle/>
          <a:p>
            <a:pPr algn="ctr">
              <a:lnSpc>
                <a:spcPct val="100000"/>
              </a:lnSpc>
              <a:spcBef>
                <a:spcPct val="0"/>
              </a:spcBef>
            </a:pPr>
            <a:r>
              <a:rPr lang="en-US" sz="3600">
                <a:solidFill>
                  <a:srgbClr val="FFFFFF">
                    <a:alpha val="100000"/>
                  </a:srgbClr>
                </a:solidFill>
                <a:latin typeface="Noto Sans SC"/>
                <a:ea typeface="Noto Sans SC"/>
                <a:cs typeface="Noto Sans SC"/>
              </a:rPr>
              <a:t>02</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1" name="AutoShape 11"/>
          <p:cNvSpPr/>
          <p:nvPr/>
        </p:nvSpPr>
        <p:spPr>
          <a:xfrm rot="0">
            <a:off x="5003222" y="2050015"/>
            <a:ext cx="2190750" cy="4428588"/>
          </a:xfrm>
          <a:prstGeom prst="round2SameRect">
            <a:avLst/>
          </a:prstGeom>
          <a:solidFill>
            <a:schemeClr val="lt2">
              <a:alpha val="80000"/>
            </a:schemeClr>
          </a:solidFill>
          <a:ln/>
        </p:spPr>
        <p:extLst>
          <p:ext uri="http://schemas.baidu.com/office/drawing/2023/templateData">
            <bd:templateData xmlns:bd="http://schemas.baidu.com/office/drawing/2023/templateData">eyJ0YWciOiJub0VkaXQifQ==</bd:templateData>
          </p:ext>
        </p:extLst>
      </p:sp>
      <p:sp>
        <p:nvSpPr>
          <p:cNvPr id="12" name="AutoShape 12"/>
          <p:cNvSpPr/>
          <p:nvPr/>
        </p:nvSpPr>
        <p:spPr>
          <a:xfrm rot="0">
            <a:off x="5670734" y="1649980"/>
            <a:ext cx="855726" cy="85572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3" name="TextBox 13"/>
          <p:cNvSpPr txBox="1"/>
          <p:nvPr/>
        </p:nvSpPr>
        <p:spPr>
          <a:xfrm rot="0">
            <a:off x="5186928" y="2634432"/>
            <a:ext cx="1817690" cy="704850"/>
          </a:xfrm>
          <a:prstGeom prst="rect">
            <a:avLst/>
          </a:prstGeom>
          <a:ln/>
        </p:spPr>
        <p:txBody>
          <a:bodyPr anchor="t" anchorCtr="0" bIns="0" lIns="0" rIns="0" rtlCol="0" tIns="0" vert="horz" wrap="square">
            <a:noAutofit/>
          </a:bodyPr>
          <a:lstStyle/>
          <a:p>
            <a:pPr algn="ctr">
              <a:lnSpc>
                <a:spcPct val="120000"/>
              </a:lnSpc>
            </a:pPr>
            <a:r>
              <a:rPr b="1" lang="en-US" sz="1599">
                <a:solidFill>
                  <a:schemeClr val="accent1">
                    <a:alpha val="100000"/>
                  </a:schemeClr>
                </a:solidFill>
                <a:latin typeface="Noto Sans SC"/>
                <a:ea typeface="Noto Sans SC"/>
                <a:cs typeface="Noto Sans SC"/>
              </a:rPr>
              <a:t>可视化分析模块</a:t>
            </a:r>
          </a:p>
        </p:txBody>
        <p:extLst>
          <p:ext uri="http://schemas.baidu.com/office/drawing/2023/templateData">
            <bd:templateData xmlns:bd="http://schemas.baidu.com/office/drawing/2023/templateData">eyJfdGVtcGxhdGVEYXRhIjp7ImNvbnRlbnRUeXBlIjoiJGl0ZW0zX3RpdGxlIiwibGluZUNvdW50IjoiMiIsIndvcmRDb3VudCI6IjcifSwidGFnIjoiJGl0ZW0zX3RpdGxlIn0=</bd:templateData>
          </p:ext>
        </p:extLst>
      </p:sp>
      <p:sp>
        <p:nvSpPr>
          <p:cNvPr id="14" name="TextBox 14"/>
          <p:cNvSpPr txBox="1"/>
          <p:nvPr/>
        </p:nvSpPr>
        <p:spPr>
          <a:xfrm rot="0">
            <a:off x="5088947" y="3275506"/>
            <a:ext cx="2019300" cy="2947454"/>
          </a:xfrm>
          <a:prstGeom prst="rect">
            <a:avLst/>
          </a:prstGeom>
          <a:ln/>
        </p:spPr>
        <p:txBody>
          <a:bodyPr anchor="t" anchorCtr="0" bIns="123825" lIns="123825" rIns="57150" rtlCol="0" tIns="123825" vert="horz" wrap="square">
            <a:noAutofit/>
          </a:bodyPr>
          <a:lstStyle/>
          <a:p>
            <a:pPr algn="l">
              <a:lnSpc>
                <a:spcPct val="140000"/>
              </a:lnSpc>
            </a:pPr>
            <a:r>
              <a:rPr lang="en-US" sz="1250">
                <a:solidFill>
                  <a:schemeClr val="dk1">
                    <a:alpha val="100000"/>
                  </a:schemeClr>
                </a:solidFill>
                <a:latin typeface="Noto Sans SC"/>
                <a:ea typeface="Noto Sans SC"/>
                <a:cs typeface="Noto Sans SC"/>
              </a:rPr>
              <a:t>集成丰富的数据可视化组件，支持生成贡献者影响力雷达图、时间序列趋势图、社区协作网络图等专业分析图表。</a:t>
            </a:r>
          </a:p>
        </p:txBody>
        <p:extLst>
          <p:ext uri="http://schemas.baidu.com/office/drawing/2023/templateData">
            <bd:templateData xmlns:bd="http://schemas.baidu.com/office/drawing/2023/templateData">eyJfdGVtcGxhdGVEYXRhIjp7ImNvbnRlbnRUeXBlIjoiJGl0ZW0zX2MiLCJsaW5lQ291bnQiOiIxMCIsIndvcmRDb3VudCI6IjEwIn0sInRhZyI6IiRpdGVtM19jIn0=</bd:templateData>
          </p:ext>
        </p:extLst>
      </p:sp>
      <p:sp>
        <p:nvSpPr>
          <p:cNvPr id="15" name="TextBox 15"/>
          <p:cNvSpPr txBox="1"/>
          <p:nvPr/>
        </p:nvSpPr>
        <p:spPr>
          <a:xfrm rot="0">
            <a:off x="5697116" y="1712738"/>
            <a:ext cx="802962" cy="730211"/>
          </a:xfrm>
          <a:prstGeom prst="rect">
            <a:avLst/>
          </a:prstGeom>
          <a:noFill/>
          <a:ln/>
        </p:spPr>
        <p:txBody>
          <a:bodyPr anchor="ctr" anchorCtr="0" bIns="0" lIns="0" rIns="0" rtlCol="0" tIns="0" vert="horz" wrap="none">
            <a:noAutofit/>
          </a:bodyPr>
          <a:lstStyle/>
          <a:p>
            <a:pPr algn="ctr">
              <a:lnSpc>
                <a:spcPct val="100000"/>
              </a:lnSpc>
              <a:spcBef>
                <a:spcPct val="0"/>
              </a:spcBef>
            </a:pPr>
            <a:r>
              <a:rPr lang="en-US" sz="3600">
                <a:solidFill>
                  <a:srgbClr val="FFFFFF">
                    <a:alpha val="100000"/>
                  </a:srgbClr>
                </a:solidFill>
                <a:latin typeface="Noto Sans SC"/>
                <a:ea typeface="Noto Sans SC"/>
                <a:cs typeface="Noto Sans SC"/>
              </a:rPr>
              <a:t>03</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6" name="AutoShape 16"/>
          <p:cNvSpPr/>
          <p:nvPr/>
        </p:nvSpPr>
        <p:spPr>
          <a:xfrm rot="0">
            <a:off x="7275952" y="2079919"/>
            <a:ext cx="2190750" cy="4398684"/>
          </a:xfrm>
          <a:prstGeom prst="round2SameRect">
            <a:avLst/>
          </a:prstGeom>
          <a:solidFill>
            <a:schemeClr val="lt2">
              <a:alpha val="80000"/>
            </a:schemeClr>
          </a:solidFill>
          <a:ln/>
        </p:spPr>
        <p:extLst>
          <p:ext uri="http://schemas.baidu.com/office/drawing/2023/templateData">
            <bd:templateData xmlns:bd="http://schemas.baidu.com/office/drawing/2023/templateData">eyJ0YWciOiJub0VkaXQifQ==</bd:templateData>
          </p:ext>
        </p:extLst>
      </p:sp>
      <p:sp>
        <p:nvSpPr>
          <p:cNvPr id="17" name="AutoShape 17"/>
          <p:cNvSpPr/>
          <p:nvPr/>
        </p:nvSpPr>
        <p:spPr>
          <a:xfrm rot="0">
            <a:off x="7943464" y="1679885"/>
            <a:ext cx="855726" cy="85572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8" name="TextBox 18"/>
          <p:cNvSpPr txBox="1"/>
          <p:nvPr/>
        </p:nvSpPr>
        <p:spPr>
          <a:xfrm rot="0">
            <a:off x="7361677" y="3305411"/>
            <a:ext cx="2019300" cy="2980876"/>
          </a:xfrm>
          <a:prstGeom prst="rect">
            <a:avLst/>
          </a:prstGeom>
          <a:ln/>
        </p:spPr>
        <p:txBody>
          <a:bodyPr anchor="t" anchorCtr="0" bIns="123825" lIns="123825" rIns="57150" rtlCol="0" tIns="123825" vert="horz" wrap="square">
            <a:noAutofit/>
          </a:bodyPr>
          <a:lstStyle/>
          <a:p>
            <a:pPr algn="l">
              <a:lnSpc>
                <a:spcPct val="140000"/>
              </a:lnSpc>
            </a:pPr>
            <a:r>
              <a:rPr lang="en-US" sz="1250">
                <a:solidFill>
                  <a:schemeClr val="dk1">
                    <a:alpha val="100000"/>
                  </a:schemeClr>
                </a:solidFill>
                <a:latin typeface="Noto Sans SC"/>
                <a:ea typeface="Noto Sans SC"/>
                <a:cs typeface="Noto Sans SC"/>
              </a:rPr>
              <a:t>提供完善的RESTful API和SDK开发包，支持二次开发团队根据业务需求定制化扩展分析维度和算法模型。</a:t>
            </a:r>
          </a:p>
        </p:txBody>
        <p:extLst>
          <p:ext uri="http://schemas.baidu.com/office/drawing/2023/templateData">
            <bd:templateData xmlns:bd="http://schemas.baidu.com/office/drawing/2023/templateData">eyJfdGVtcGxhdGVEYXRhIjp7ImNvbnRlbnRUeXBlIjoiJGl0ZW00X2MiLCJsaW5lQ291bnQiOiIxMCIsIndvcmRDb3VudCI6IjEwIn0sInRhZyI6IiRpdGVtNF9jIn0=</bd:templateData>
          </p:ext>
        </p:extLst>
      </p:sp>
      <p:sp>
        <p:nvSpPr>
          <p:cNvPr id="19" name="TextBox 19"/>
          <p:cNvSpPr txBox="1"/>
          <p:nvPr/>
        </p:nvSpPr>
        <p:spPr>
          <a:xfrm rot="0">
            <a:off x="7969846" y="1742642"/>
            <a:ext cx="802962" cy="730211"/>
          </a:xfrm>
          <a:prstGeom prst="rect">
            <a:avLst/>
          </a:prstGeom>
          <a:noFill/>
          <a:ln/>
        </p:spPr>
        <p:txBody>
          <a:bodyPr anchor="ctr" anchorCtr="0" bIns="0" lIns="0" rIns="0" rtlCol="0" tIns="0" vert="horz" wrap="none">
            <a:noAutofit/>
          </a:bodyPr>
          <a:lstStyle/>
          <a:p>
            <a:pPr algn="ctr">
              <a:lnSpc>
                <a:spcPct val="100000"/>
              </a:lnSpc>
              <a:spcBef>
                <a:spcPct val="0"/>
              </a:spcBef>
            </a:pPr>
            <a:r>
              <a:rPr lang="en-US" sz="3600">
                <a:solidFill>
                  <a:srgbClr val="FFFFFF">
                    <a:alpha val="100000"/>
                  </a:srgbClr>
                </a:solidFill>
                <a:latin typeface="Noto Sans SC"/>
                <a:ea typeface="Noto Sans SC"/>
                <a:cs typeface="Noto Sans SC"/>
              </a:rPr>
              <a:t>04</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20" name="AutoShape 20"/>
          <p:cNvSpPr/>
          <p:nvPr/>
        </p:nvSpPr>
        <p:spPr>
          <a:xfrm rot="0">
            <a:off x="9548682" y="2050015"/>
            <a:ext cx="2190750" cy="4428588"/>
          </a:xfrm>
          <a:prstGeom prst="round2SameRect">
            <a:avLst/>
          </a:prstGeom>
          <a:solidFill>
            <a:schemeClr val="lt2">
              <a:alpha val="80000"/>
            </a:schemeClr>
          </a:solidFill>
          <a:ln/>
        </p:spPr>
        <p:extLst>
          <p:ext uri="http://schemas.baidu.com/office/drawing/2023/templateData">
            <bd:templateData xmlns:bd="http://schemas.baidu.com/office/drawing/2023/templateData">eyJ0YWciOiJub0VkaXQifQ==</bd:templateData>
          </p:ext>
        </p:extLst>
      </p:sp>
      <p:sp>
        <p:nvSpPr>
          <p:cNvPr id="21" name="AutoShape 21"/>
          <p:cNvSpPr/>
          <p:nvPr/>
        </p:nvSpPr>
        <p:spPr>
          <a:xfrm rot="0">
            <a:off x="10216194" y="1649980"/>
            <a:ext cx="855726" cy="85572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22" name="TextBox 22"/>
          <p:cNvSpPr txBox="1"/>
          <p:nvPr/>
        </p:nvSpPr>
        <p:spPr>
          <a:xfrm rot="0">
            <a:off x="9634407" y="3275506"/>
            <a:ext cx="2019300" cy="2947454"/>
          </a:xfrm>
          <a:prstGeom prst="rect">
            <a:avLst/>
          </a:prstGeom>
          <a:ln/>
        </p:spPr>
        <p:txBody>
          <a:bodyPr anchor="t" anchorCtr="0" bIns="123825" lIns="123825" rIns="57150" rtlCol="0" tIns="123825" vert="horz" wrap="square">
            <a:noAutofit/>
          </a:bodyPr>
          <a:lstStyle/>
          <a:p>
            <a:pPr algn="l">
              <a:lnSpc>
                <a:spcPct val="140000"/>
              </a:lnSpc>
            </a:pPr>
            <a:r>
              <a:rPr lang="en-US" sz="1250">
                <a:solidFill>
                  <a:schemeClr val="dk1">
                    <a:alpha val="100000"/>
                  </a:schemeClr>
                </a:solidFill>
                <a:latin typeface="Noto Sans SC"/>
                <a:ea typeface="Noto Sans SC"/>
                <a:cs typeface="Noto Sans SC"/>
              </a:rPr>
              <a:t>与CHAOSS、LF Analytics等开源社区标准兼容，可实现跨平台数据交换和指标对标分析。</a:t>
            </a:r>
          </a:p>
        </p:txBody>
        <p:extLst>
          <p:ext uri="http://schemas.baidu.com/office/drawing/2023/templateData">
            <bd:templateData xmlns:bd="http://schemas.baidu.com/office/drawing/2023/templateData">eyJfdGVtcGxhdGVEYXRhIjp7ImNvbnRlbnRUeXBlIjoiJGl0ZW01X2MiLCJsaW5lQ291bnQiOiIxMCIsIndvcmRDb3VudCI6IjEwIn0sInRhZyI6IiRpdGVtNV9jIn0=</bd:templateData>
          </p:ext>
        </p:extLst>
      </p:sp>
      <p:sp>
        <p:nvSpPr>
          <p:cNvPr id="23" name="TextBox 23"/>
          <p:cNvSpPr txBox="1"/>
          <p:nvPr/>
        </p:nvSpPr>
        <p:spPr>
          <a:xfrm rot="0">
            <a:off x="10242576" y="1712738"/>
            <a:ext cx="802962" cy="730211"/>
          </a:xfrm>
          <a:prstGeom prst="rect">
            <a:avLst/>
          </a:prstGeom>
          <a:noFill/>
          <a:ln/>
        </p:spPr>
        <p:txBody>
          <a:bodyPr anchor="ctr" anchorCtr="0" bIns="0" lIns="0" rIns="0" rtlCol="0" tIns="0" vert="horz" wrap="none">
            <a:noAutofit/>
          </a:bodyPr>
          <a:lstStyle/>
          <a:p>
            <a:pPr algn="ctr">
              <a:lnSpc>
                <a:spcPct val="100000"/>
              </a:lnSpc>
              <a:spcBef>
                <a:spcPct val="0"/>
              </a:spcBef>
            </a:pPr>
            <a:r>
              <a:rPr lang="en-US" sz="3600">
                <a:solidFill>
                  <a:srgbClr val="FFFFFF">
                    <a:alpha val="100000"/>
                  </a:srgbClr>
                </a:solidFill>
                <a:latin typeface="Noto Sans SC"/>
                <a:ea typeface="Noto Sans SC"/>
                <a:cs typeface="Noto Sans SC"/>
              </a:rPr>
              <a:t>05</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24" name="TextBox 24"/>
          <p:cNvSpPr txBox="1"/>
          <p:nvPr/>
        </p:nvSpPr>
        <p:spPr>
          <a:xfrm rot="0">
            <a:off x="2896533" y="2634432"/>
            <a:ext cx="1817690" cy="704850"/>
          </a:xfrm>
          <a:prstGeom prst="rect">
            <a:avLst/>
          </a:prstGeom>
          <a:ln/>
        </p:spPr>
        <p:txBody>
          <a:bodyPr anchor="t" anchorCtr="0" bIns="0" lIns="0" rIns="0" rtlCol="0" tIns="0" vert="horz" wrap="square">
            <a:noAutofit/>
          </a:bodyPr>
          <a:lstStyle/>
          <a:p>
            <a:pPr algn="ctr">
              <a:lnSpc>
                <a:spcPct val="120000"/>
              </a:lnSpc>
            </a:pPr>
            <a:r>
              <a:rPr b="1" lang="en-US" sz="1599">
                <a:solidFill>
                  <a:schemeClr val="accent1">
                    <a:alpha val="100000"/>
                  </a:schemeClr>
                </a:solidFill>
                <a:latin typeface="Noto Sans SC"/>
                <a:ea typeface="Noto Sans SC"/>
                <a:cs typeface="Noto Sans SC"/>
              </a:rPr>
              <a:t>影响力评估模型</a:t>
            </a:r>
          </a:p>
        </p:txBody>
        <p:extLst>
          <p:ext uri="http://schemas.baidu.com/office/drawing/2023/templateData">
            <bd:templateData xmlns:bd="http://schemas.baidu.com/office/drawing/2023/templateData">eyJfdGVtcGxhdGVEYXRhIjp7ImNvbnRlbnRUeXBlIjoiJGl0ZW0yX3RpdGxlIiwibGluZUNvdW50IjoiMiIsIndvcmRDb3VudCI6IjcifSwidGFnIjoiJGl0ZW0yX3RpdGxlIn0=</bd:templateData>
          </p:ext>
        </p:extLst>
      </p:sp>
      <p:sp>
        <p:nvSpPr>
          <p:cNvPr id="25" name="TextBox 25"/>
          <p:cNvSpPr txBox="1"/>
          <p:nvPr/>
        </p:nvSpPr>
        <p:spPr>
          <a:xfrm rot="0">
            <a:off x="9717122" y="2634432"/>
            <a:ext cx="1817690" cy="704850"/>
          </a:xfrm>
          <a:prstGeom prst="rect">
            <a:avLst/>
          </a:prstGeom>
          <a:ln/>
        </p:spPr>
        <p:txBody>
          <a:bodyPr anchor="t" anchorCtr="0" bIns="0" lIns="0" rIns="0" rtlCol="0" tIns="0" vert="horz" wrap="square">
            <a:noAutofit/>
          </a:bodyPr>
          <a:lstStyle/>
          <a:p>
            <a:pPr algn="ctr">
              <a:lnSpc>
                <a:spcPct val="120000"/>
              </a:lnSpc>
            </a:pPr>
            <a:r>
              <a:rPr b="1" lang="en-US" sz="1599">
                <a:solidFill>
                  <a:schemeClr val="accent1">
                    <a:alpha val="100000"/>
                  </a:schemeClr>
                </a:solidFill>
                <a:latin typeface="Noto Sans SC"/>
                <a:ea typeface="Noto Sans SC"/>
                <a:cs typeface="Noto Sans SC"/>
              </a:rPr>
              <a:t>社区生态集成</a:t>
            </a:r>
          </a:p>
        </p:txBody>
        <p:extLst>
          <p:ext uri="http://schemas.baidu.com/office/drawing/2023/templateData">
            <bd:templateData xmlns:bd="http://schemas.baidu.com/office/drawing/2023/templateData">eyJfdGVtcGxhdGVEYXRhIjp7ImNvbnRlbnRUeXBlIjoiJGl0ZW01X3RpdGxlIiwibGluZUNvdW50IjoiMiIsIndvcmRDb3VudCI6IjcifSwidGFnIjoiJGl0ZW01X3RpdGxlIn0=</bd:templateData>
          </p:ext>
        </p:extLst>
      </p:sp>
      <p:sp>
        <p:nvSpPr>
          <p:cNvPr id="26" name="TextBox 26"/>
          <p:cNvSpPr txBox="1"/>
          <p:nvPr/>
        </p:nvSpPr>
        <p:spPr>
          <a:xfrm rot="0">
            <a:off x="7426726" y="2634432"/>
            <a:ext cx="1817690" cy="704850"/>
          </a:xfrm>
          <a:prstGeom prst="rect">
            <a:avLst/>
          </a:prstGeom>
          <a:ln/>
        </p:spPr>
        <p:txBody>
          <a:bodyPr anchor="t" anchorCtr="0" bIns="0" lIns="0" rIns="0" rtlCol="0" tIns="0" vert="horz" wrap="square">
            <a:noAutofit/>
          </a:bodyPr>
          <a:lstStyle/>
          <a:p>
            <a:pPr algn="ctr">
              <a:lnSpc>
                <a:spcPct val="120000"/>
              </a:lnSpc>
            </a:pPr>
            <a:r>
              <a:rPr b="1" lang="en-US" sz="1599">
                <a:solidFill>
                  <a:schemeClr val="accent1">
                    <a:alpha val="100000"/>
                  </a:schemeClr>
                </a:solidFill>
                <a:latin typeface="Noto Sans SC"/>
                <a:ea typeface="Noto Sans SC"/>
                <a:cs typeface="Noto Sans SC"/>
              </a:rPr>
              <a:t>扩展开发接口</a:t>
            </a:r>
          </a:p>
        </p:txBody>
        <p:extLst>
          <p:ext uri="http://schemas.baidu.com/office/drawing/2023/templateData">
            <bd:templateData xmlns:bd="http://schemas.baidu.com/office/drawing/2023/templateData">eyJfdGVtcGxhdGVEYXRhIjp7ImNvbnRlbnRUeXBlIjoiJGl0ZW00X3RpdGxlIiwibGluZUNvdW50IjoiMiIsIndvcmRDb3VudCI6IjcifSwidGFnIjoiJGl0ZW00X3RpdGxlIn0=</bd:templateData>
          </p:ext>
        </p:extLst>
      </p:sp>
      <p:sp>
        <p:nvSpPr>
          <p:cNvPr id="27" name="TextBox 27"/>
          <p:cNvSpPr txBox="1"/>
          <p:nvPr/>
        </p:nvSpPr>
        <p:spPr>
          <a:xfrm rot="0">
            <a:off x="588361" y="2634432"/>
            <a:ext cx="1817690" cy="704850"/>
          </a:xfrm>
          <a:prstGeom prst="rect">
            <a:avLst/>
          </a:prstGeom>
          <a:ln/>
        </p:spPr>
        <p:txBody>
          <a:bodyPr anchor="t" anchorCtr="0" bIns="0" lIns="0" rIns="0" rtlCol="0" tIns="0" vert="horz" wrap="square">
            <a:noAutofit/>
          </a:bodyPr>
          <a:lstStyle/>
          <a:p>
            <a:pPr algn="ctr">
              <a:lnSpc>
                <a:spcPct val="120000"/>
              </a:lnSpc>
            </a:pPr>
            <a:r>
              <a:rPr b="1" lang="en-US" sz="1599">
                <a:solidFill>
                  <a:schemeClr val="accent1">
                    <a:alpha val="100000"/>
                  </a:schemeClr>
                </a:solidFill>
                <a:latin typeface="Noto Sans SC"/>
                <a:ea typeface="Noto Sans SC"/>
                <a:cs typeface="Noto Sans SC"/>
              </a:rPr>
              <a:t>数据采集能力</a:t>
            </a:r>
          </a:p>
        </p:txBody>
        <p:extLst>
          <p:ext uri="http://schemas.baidu.com/office/drawing/2023/templateData">
            <bd:templateData xmlns:bd="http://schemas.baidu.com/office/drawing/2023/templateData">eyJfdGVtcGxhdGVEYXRhIjp7ImNvbnRlbnRUeXBlIjoiJGl0ZW0xX3RpdGxlIiwibGluZUNvdW50IjoiMiIsIndvcmRDb3VudCI6IjcifSwidGFnIjoiJGl0ZW0xX3RpdGxlIn0=</bd:templateData>
          </p:ext>
        </p:extLst>
      </p:sp>
    </p:spTree>
  </p:cSld>
  <p:clrMapOvr>
    <a:masterClrMapping/>
  </p:clrMapOvr>
  <p:extLst>
    <p:ext uri="http://schemas.baidu.com/office/drawing/2023/templateData">
      <bd:templateData xmlns:bd="http://schemas.baidu.com/office/drawing/2023/templateData">eyJtZCI6IiMjIOaguOW/g+W8gOa6kOW3peWFt++8mk9wZW5EaWdnZXJcbiMjIyDmlbDmja7ph4fpm4bog73liptcbk9wZW5EaWdnZXLmj5DkvpvlvLrlpKfnmoTlvIDmupDpobnnm67mlbDmja7ph4fpm4blip/og73vvIzmlK/mjIHku45HaXRIdWLjgIFHaXRMYWLnrYnkuLvmtYHku6PnoIHmiZjnrqHlubPlj7Dojrflj5bpobnnm67mj5DkuqTorrDlvZXjgIFJc3N1ZeS6kuWKqOOAgVBS5ZCI5bm2562J5YWz6ZSu5oyH5qCH44CCXG4jIyMg5b2x5ZON5Yqb6K+E5Lyw5qih5Z6LXG7lhoXnva7lpJrnu7TluqbnmoTotKHnjK7ogIXlvbHlk43lipvor4TkvLDnrpfms5XvvIzljIXmi6zku6PnoIHotKHnjK7mnYPph43jgIHnpL7ljLrkupLliqjmtLvot4PluqbjgIHpobnnm67nu7TmiqTlj4LkuI7luqbnrYnmoLjlv4Plj4LmlbDnmoTliqjmgIHorqHnrpfmqKHlnovjgIJcbiMjIyDlj6/op4bljJbliIbmnpDmqKHlnZdcbumbhuaIkOS4sOWvjOeahOaVsOaNruWPr+inhuWMlue7hOS7tu+8jOaUr+aMgeeUn+aIkOi0oeeMruiAheW9seWTjeWKm+mbt+i+vuWbvuOAgeaXtumXtOW6j+WIl+i2i+WKv+WbvuOAgeekvuWMuuWNj+S9nOe9kee7nOWbvuetieS4k+S4muWIhuaekOWbvuihqOOAglxuIyMjIOaJqeWxleW8gOWPkeaOpeWPo1xu5o+Q5L6b5a6M5ZaE55qEUkVTVGZ1bCBBUEnlkoxTREvlvIDlj5HljIXvvIzmlK/mjIHkuozmrKHlvIDlj5Hlm6LpmJ/moLnmja7kuJrliqHpnIDmsYLlrprliLbljJbmianlsZXliIbmnpDnu7Tluqblkoznrpfms5XmqKHlnovjgIJcbiMjIyDnpL7ljLrnlJ/mgIHpm4bmiJBcbuS4jkNIQU9TU+OAgUxGIEFuYWx5dGljc+etieW8gOa6kOekvuWMuuagh+WHhuWFvOWuue+8jOWPr+WunueOsOi3qOW5s+WPsOaVsOaNruS6pOaNouWSjOaMh+agh+Wvueagh+WIhuaekOOAgiIsInRwbGlkIjoiNjgiLCJ0cGxOYW1lIjoibGlzdDVfbG9uZ1RpdGxlMSIsImVkaXRlZCI6ImZhbHNlIn0=</bd:templateData>
    </p:ext>
  </p:extLst>
</p:sld>
</file>

<file path=ppt/slides/slide7.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AutoShape 2"/>
          <p:cNvSpPr/>
          <p:nvPr/>
        </p:nvSpPr>
        <p:spPr>
          <a:xfrm rot="0">
            <a:off x="4997796" y="2675719"/>
            <a:ext cx="2236351" cy="2236351"/>
          </a:xfrm>
          <a:prstGeom prst="ellipse">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3" name="AutoShape 3"/>
          <p:cNvSpPr/>
          <p:nvPr/>
        </p:nvSpPr>
        <p:spPr>
          <a:xfrm rot="0">
            <a:off x="5159263" y="2904531"/>
            <a:ext cx="1854217" cy="1854217"/>
          </a:xfrm>
          <a:prstGeom prst="ellipse">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4" name="AutoShape 4"/>
          <p:cNvSpPr/>
          <p:nvPr/>
        </p:nvSpPr>
        <p:spPr>
          <a:xfrm rot="0">
            <a:off x="6094045" y="1171975"/>
            <a:ext cx="5287891" cy="5288400"/>
          </a:xfrm>
          <a:prstGeom prst="arc">
            <a:avLst>
              <a:gd fmla="val 18842372" name="adj1"/>
              <a:gd fmla="val 2610861" name="adj2"/>
            </a:avLst>
          </a:prstGeom>
          <a:noFill/>
          <a:ln w="6350">
            <a:solidFill>
              <a:schemeClr val="accent3">
                <a:alpha val="100000"/>
              </a:schemeClr>
            </a:solidFill>
            <a:prstDash val="dash"/>
          </a:ln>
        </p:spPr>
        <p:extLst>
          <p:ext uri="http://schemas.baidu.com/office/drawing/2023/templateData">
            <bd:templateData xmlns:bd="http://schemas.baidu.com/office/drawing/2023/templateData">eyJ0YWciOiJub0VkaXQifQ==</bd:templateData>
          </p:ext>
        </p:extLst>
      </p:sp>
      <p:sp>
        <p:nvSpPr>
          <p:cNvPr id="5" name="AutoShape 5"/>
          <p:cNvSpPr/>
          <p:nvPr/>
        </p:nvSpPr>
        <p:spPr>
          <a:xfrm flipH="1" rot="0">
            <a:off x="850006" y="1171975"/>
            <a:ext cx="5288400" cy="5288400"/>
          </a:xfrm>
          <a:prstGeom prst="arc">
            <a:avLst>
              <a:gd fmla="val 18842372" name="adj1"/>
              <a:gd fmla="val 2610861" name="adj2"/>
            </a:avLst>
          </a:prstGeom>
          <a:noFill/>
          <a:ln w="6350">
            <a:solidFill>
              <a:schemeClr val="accent3">
                <a:alpha val="100000"/>
              </a:schemeClr>
            </a:solidFill>
            <a:prstDash val="dash"/>
          </a:ln>
        </p:spPr>
        <p:extLst>
          <p:ext uri="http://schemas.baidu.com/office/drawing/2023/templateData">
            <bd:templateData xmlns:bd="http://schemas.baidu.com/office/drawing/2023/templateData">eyJ0YWciOiJub0VkaXQifQ==</bd:templateData>
          </p:ext>
        </p:extLst>
      </p:sp>
      <p:sp>
        <p:nvSpPr>
          <p:cNvPr id="6" name="AutoShape 6"/>
          <p:cNvSpPr/>
          <p:nvPr/>
        </p:nvSpPr>
        <p:spPr>
          <a:xfrm rot="0">
            <a:off x="1746454" y="1538002"/>
            <a:ext cx="3985999" cy="1211059"/>
          </a:xfrm>
          <a:prstGeom prst="homePlate">
            <a:avLst>
              <a:gd fmla="val 23738"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7" name="AutoShape 7"/>
          <p:cNvSpPr/>
          <p:nvPr/>
        </p:nvSpPr>
        <p:spPr>
          <a:xfrm rot="5400000">
            <a:off x="1142235" y="1621532"/>
            <a:ext cx="1211061" cy="1044000"/>
          </a:xfrm>
          <a:prstGeom prst="hexagon">
            <a:avLst>
              <a:gd fmla="val 25000" name="adj"/>
              <a:gd fmla="val 115470" name="vf"/>
            </a:avLst>
          </a:prstGeom>
          <a:solidFill>
            <a:schemeClr val="accent4">
              <a:alpha val="100000"/>
            </a:schemeClr>
          </a:solidFill>
          <a:ln/>
        </p:spPr>
        <p:extLst>
          <p:ext uri="http://schemas.baidu.com/office/drawing/2023/templateData">
            <bd:templateData xmlns:bd="http://schemas.baidu.com/office/drawing/2023/templateData">eyJ0YWciOiJub0VkaXQifQ==</bd:templateData>
          </p:ext>
        </p:extLst>
      </p:sp>
      <p:sp>
        <p:nvSpPr>
          <p:cNvPr id="8" name="TextBox 8"/>
          <p:cNvSpPr txBox="1"/>
          <p:nvPr/>
        </p:nvSpPr>
        <p:spPr>
          <a:xfrm flipH="1" rot="0">
            <a:off x="2497971" y="2044408"/>
            <a:ext cx="2752725" cy="542925"/>
          </a:xfrm>
          <a:prstGeom prst="rect">
            <a:avLst/>
          </a:prstGeom>
          <a:noFill/>
          <a:ln/>
        </p:spPr>
        <p:txBody>
          <a:bodyPr anchor="t" anchorCtr="0" bIns="0" lIns="0" rIns="0" rtlCol="0" tIns="0" vert="horz" wrap="square">
            <a:spAutoFit/>
          </a:bodyPr>
          <a:lstStyle/>
          <a:p>
            <a:pPr algn="l">
              <a:lnSpc>
                <a:spcPct val="113999"/>
              </a:lnSpc>
            </a:pPr>
            <a:r>
              <a:rPr lang="en-US" sz="999">
                <a:solidFill>
                  <a:schemeClr val="dk1">
                    <a:alpha val="100000"/>
                  </a:schemeClr>
                </a:solidFill>
                <a:latin typeface="Noto Sans SC"/>
                <a:ea typeface="Noto Sans SC"/>
                <a:cs typeface="Noto Sans SC"/>
              </a:rPr>
              <a:t>采用Python语言和Django框架实现高效后端服务，支持RESTful API设计和分布式系统架构</a:t>
            </a:r>
          </a:p>
        </p:txBody>
        <p:extLst>
          <p:ext uri="http://schemas.baidu.com/office/drawing/2023/templateData">
            <bd:templateData xmlns:bd="http://schemas.baidu.com/office/drawing/2023/templateData">eyJ0YWciOiJub0VkaXQifQ==</bd:templateData>
          </p:ext>
        </p:extLst>
      </p:sp>
      <p:sp>
        <p:nvSpPr>
          <p:cNvPr id="9" name="TextBox 9"/>
          <p:cNvSpPr txBox="1"/>
          <p:nvPr/>
        </p:nvSpPr>
        <p:spPr>
          <a:xfrm flipH="1" rot="0">
            <a:off x="2497973" y="1718106"/>
            <a:ext cx="1381125" cy="238125"/>
          </a:xfrm>
          <a:prstGeom prst="rect">
            <a:avLst/>
          </a:prstGeom>
          <a:noFill/>
          <a:ln/>
        </p:spPr>
        <p:txBody>
          <a:bodyPr anchor="t" anchorCtr="0" bIns="0" lIns="0" rIns="0" rtlCol="0" tIns="0" vert="horz" wrap="none">
            <a:spAutoFit/>
          </a:bodyPr>
          <a:lstStyle/>
          <a:p>
            <a:pPr algn="l">
              <a:lnSpc>
                <a:spcPct val="80000"/>
              </a:lnSpc>
            </a:pPr>
            <a:r>
              <a:rPr lang="en-US" sz="1550">
                <a:solidFill>
                  <a:schemeClr val="dk1">
                    <a:alpha val="100000"/>
                  </a:schemeClr>
                </a:solidFill>
                <a:latin typeface="Noto Sans SC"/>
                <a:ea typeface="Noto Sans SC"/>
                <a:cs typeface="Noto Sans SC"/>
              </a:rPr>
              <a:t>Python+Django</a:t>
            </a:r>
          </a:p>
        </p:txBody>
        <p:extLst>
          <p:ext uri="http://schemas.baidu.com/office/drawing/2023/templateData">
            <bd:templateData xmlns:bd="http://schemas.baidu.com/office/drawing/2023/templateData">eyJ0YWciOiJub0VkaXQifQ==</bd:templateData>
          </p:ext>
        </p:extLst>
      </p:sp>
      <p:sp>
        <p:nvSpPr>
          <p:cNvPr id="10" name="AutoShape 10"/>
          <p:cNvSpPr/>
          <p:nvPr/>
        </p:nvSpPr>
        <p:spPr>
          <a:xfrm flipH="1" rot="0">
            <a:off x="6489435" y="1538002"/>
            <a:ext cx="3985999" cy="1211059"/>
          </a:xfrm>
          <a:prstGeom prst="homePlate">
            <a:avLst>
              <a:gd fmla="val 23738"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11" name="AutoShape 11"/>
          <p:cNvSpPr/>
          <p:nvPr/>
        </p:nvSpPr>
        <p:spPr>
          <a:xfrm rot="5400000">
            <a:off x="9868591" y="1621532"/>
            <a:ext cx="1211061" cy="1044000"/>
          </a:xfrm>
          <a:prstGeom prst="hexagon">
            <a:avLst>
              <a:gd fmla="val 25000" name="adj"/>
              <a:gd fmla="val 115470" name="vf"/>
            </a:avLst>
          </a:prstGeom>
          <a:solidFill>
            <a:schemeClr val="accent4">
              <a:alpha val="100000"/>
            </a:schemeClr>
          </a:solidFill>
          <a:ln/>
        </p:spPr>
        <p:extLst>
          <p:ext uri="http://schemas.baidu.com/office/drawing/2023/templateData">
            <bd:templateData xmlns:bd="http://schemas.baidu.com/office/drawing/2023/templateData">eyJ0YWciOiJub0VkaXQifQ==</bd:templateData>
          </p:ext>
        </p:extLst>
      </p:sp>
      <p:sp>
        <p:nvSpPr>
          <p:cNvPr id="12" name="TextBox 12"/>
          <p:cNvSpPr txBox="1"/>
          <p:nvPr/>
        </p:nvSpPr>
        <p:spPr>
          <a:xfrm flipH="1" rot="0">
            <a:off x="6954024" y="2044408"/>
            <a:ext cx="2752725" cy="542925"/>
          </a:xfrm>
          <a:prstGeom prst="rect">
            <a:avLst/>
          </a:prstGeom>
          <a:noFill/>
          <a:ln/>
        </p:spPr>
        <p:txBody>
          <a:bodyPr anchor="t" anchorCtr="0" bIns="0" lIns="0" rIns="0" rtlCol="0" tIns="0" vert="horz" wrap="square">
            <a:spAutoFit/>
          </a:bodyPr>
          <a:lstStyle/>
          <a:p>
            <a:pPr algn="r">
              <a:lnSpc>
                <a:spcPct val="113999"/>
              </a:lnSpc>
            </a:pPr>
            <a:r>
              <a:rPr lang="en-US" sz="999">
                <a:solidFill>
                  <a:schemeClr val="dk1">
                    <a:alpha val="100000"/>
                  </a:schemeClr>
                </a:solidFill>
                <a:latin typeface="Noto Sans SC"/>
                <a:ea typeface="Noto Sans SC"/>
                <a:cs typeface="Noto Sans SC"/>
              </a:rPr>
              <a:t>Echarts实现动态图表展示，D3.js处理复杂网络关系可视化</a:t>
            </a:r>
          </a:p>
        </p:txBody>
        <p:extLst>
          <p:ext uri="http://schemas.baidu.com/office/drawing/2023/templateData">
            <bd:templateData xmlns:bd="http://schemas.baidu.com/office/drawing/2023/templateData">eyJfdGVtcGxhdGVEYXRhIjp7ImxpbmVDb3VudCI6IjIiLCJ3b3JkQ291bnQiOiIxOSJ9LCJ0YWciOiJub0VkaXQifQ==</bd:templateData>
          </p:ext>
        </p:extLst>
      </p:sp>
      <p:sp>
        <p:nvSpPr>
          <p:cNvPr id="13" name="TextBox 13"/>
          <p:cNvSpPr txBox="1"/>
          <p:nvPr/>
        </p:nvSpPr>
        <p:spPr>
          <a:xfrm flipH="1" rot="0">
            <a:off x="7013480" y="1718106"/>
            <a:ext cx="2700173" cy="238125"/>
          </a:xfrm>
          <a:prstGeom prst="rect">
            <a:avLst/>
          </a:prstGeom>
          <a:noFill/>
          <a:ln/>
        </p:spPr>
        <p:txBody>
          <a:bodyPr anchor="t" anchorCtr="0" bIns="0" lIns="0" rIns="0" rtlCol="0" tIns="0" vert="horz" wrap="square">
            <a:spAutoFit/>
          </a:bodyPr>
          <a:lstStyle/>
          <a:p>
            <a:pPr algn="r">
              <a:lnSpc>
                <a:spcPct val="80000"/>
              </a:lnSpc>
            </a:pPr>
            <a:r>
              <a:rPr lang="en-US" sz="1550">
                <a:solidFill>
                  <a:schemeClr val="dk1">
                    <a:alpha val="100000"/>
                  </a:schemeClr>
                </a:solidFill>
                <a:latin typeface="Noto Sans SC"/>
                <a:ea typeface="Noto Sans SC"/>
                <a:cs typeface="Noto Sans SC"/>
              </a:rPr>
              <a:t>可视化技术</a:t>
            </a:r>
          </a:p>
        </p:txBody>
        <p:extLst>
          <p:ext uri="http://schemas.baidu.com/office/drawing/2023/templateData">
            <bd:templateData xmlns:bd="http://schemas.baidu.com/office/drawing/2023/templateData">eyJ0YWciOiJub0VkaXQifQ==</bd:templateData>
          </p:ext>
        </p:extLst>
      </p:sp>
      <p:sp>
        <p:nvSpPr>
          <p:cNvPr id="14" name="AutoShape 14"/>
          <p:cNvSpPr/>
          <p:nvPr/>
        </p:nvSpPr>
        <p:spPr>
          <a:xfrm rot="0">
            <a:off x="924082" y="3226111"/>
            <a:ext cx="3985999" cy="1211059"/>
          </a:xfrm>
          <a:prstGeom prst="homePlate">
            <a:avLst>
              <a:gd fmla="val 23738"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15" name="AutoShape 15"/>
          <p:cNvSpPr/>
          <p:nvPr/>
        </p:nvSpPr>
        <p:spPr>
          <a:xfrm rot="5400000">
            <a:off x="319863" y="3309641"/>
            <a:ext cx="1211061" cy="1044000"/>
          </a:xfrm>
          <a:prstGeom prst="hexagon">
            <a:avLst>
              <a:gd fmla="val 25000" name="adj"/>
              <a:gd fmla="val 115470" name="vf"/>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6" name="TextBox 16"/>
          <p:cNvSpPr txBox="1"/>
          <p:nvPr/>
        </p:nvSpPr>
        <p:spPr>
          <a:xfrm flipH="1" rot="0">
            <a:off x="1675599" y="3732517"/>
            <a:ext cx="2752725" cy="542925"/>
          </a:xfrm>
          <a:prstGeom prst="rect">
            <a:avLst/>
          </a:prstGeom>
          <a:noFill/>
          <a:ln/>
        </p:spPr>
        <p:txBody>
          <a:bodyPr anchor="t" anchorCtr="0" bIns="0" lIns="0" rIns="0" rtlCol="0" tIns="0" vert="horz" wrap="square">
            <a:spAutoFit/>
          </a:bodyPr>
          <a:lstStyle/>
          <a:p>
            <a:pPr algn="l">
              <a:lnSpc>
                <a:spcPct val="113999"/>
              </a:lnSpc>
            </a:pPr>
            <a:r>
              <a:rPr lang="en-US" sz="999">
                <a:solidFill>
                  <a:schemeClr val="dk1">
                    <a:alpha val="100000"/>
                  </a:schemeClr>
                </a:solidFill>
                <a:latin typeface="Noto Sans SC"/>
                <a:ea typeface="Noto Sans SC"/>
                <a:cs typeface="Noto Sans SC"/>
              </a:rPr>
              <a:t>使用Pandas和NumPy进行数据处理，结合NetworkX构建贡献者关系网络</a:t>
            </a:r>
          </a:p>
        </p:txBody>
        <p:extLst>
          <p:ext uri="http://schemas.baidu.com/office/drawing/2023/templateData">
            <bd:templateData xmlns:bd="http://schemas.baidu.com/office/drawing/2023/templateData">eyJfdGVtcGxhdGVEYXRhIjp7ImxpbmVDb3VudCI6IjIiLCJ3b3JkQ291bnQiOiIxOSJ9LCJ0YWciOiJub0VkaXQifQ==</bd:templateData>
          </p:ext>
        </p:extLst>
      </p:sp>
      <p:sp>
        <p:nvSpPr>
          <p:cNvPr id="17" name="TextBox 17"/>
          <p:cNvSpPr txBox="1"/>
          <p:nvPr/>
        </p:nvSpPr>
        <p:spPr>
          <a:xfrm flipH="1" rot="0">
            <a:off x="1675601" y="3406215"/>
            <a:ext cx="1571625" cy="238125"/>
          </a:xfrm>
          <a:prstGeom prst="rect">
            <a:avLst/>
          </a:prstGeom>
          <a:noFill/>
          <a:ln/>
        </p:spPr>
        <p:txBody>
          <a:bodyPr anchor="t" anchorCtr="0" bIns="0" lIns="0" rIns="0" rtlCol="0" tIns="0" vert="horz" wrap="none">
            <a:spAutoFit/>
          </a:bodyPr>
          <a:lstStyle/>
          <a:p>
            <a:pPr algn="l">
              <a:lnSpc>
                <a:spcPct val="80000"/>
              </a:lnSpc>
            </a:pPr>
            <a:r>
              <a:rPr lang="en-US" sz="1550">
                <a:solidFill>
                  <a:schemeClr val="dk1">
                    <a:alpha val="100000"/>
                  </a:schemeClr>
                </a:solidFill>
                <a:latin typeface="Noto Sans SC"/>
                <a:ea typeface="Noto Sans SC"/>
                <a:cs typeface="Noto Sans SC"/>
              </a:rPr>
              <a:t>数据分析</a:t>
            </a:r>
          </a:p>
        </p:txBody>
        <p:extLst>
          <p:ext uri="http://schemas.baidu.com/office/drawing/2023/templateData">
            <bd:templateData xmlns:bd="http://schemas.baidu.com/office/drawing/2023/templateData">eyJ0YWciOiJub0VkaXQifQ==</bd:templateData>
          </p:ext>
        </p:extLst>
      </p:sp>
      <p:sp>
        <p:nvSpPr>
          <p:cNvPr id="18" name="AutoShape 18"/>
          <p:cNvSpPr/>
          <p:nvPr/>
        </p:nvSpPr>
        <p:spPr>
          <a:xfrm flipH="1" rot="0">
            <a:off x="7326755" y="3226112"/>
            <a:ext cx="3985999" cy="1211059"/>
          </a:xfrm>
          <a:prstGeom prst="homePlate">
            <a:avLst>
              <a:gd fmla="val 23738"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19" name="AutoShape 19"/>
          <p:cNvSpPr/>
          <p:nvPr/>
        </p:nvSpPr>
        <p:spPr>
          <a:xfrm rot="5400000">
            <a:off x="10705910" y="3309642"/>
            <a:ext cx="1211061" cy="1044000"/>
          </a:xfrm>
          <a:prstGeom prst="hexagon">
            <a:avLst>
              <a:gd fmla="val 25000" name="adj"/>
              <a:gd fmla="val 115470" name="vf"/>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20" name="TextBox 20"/>
          <p:cNvSpPr txBox="1"/>
          <p:nvPr/>
        </p:nvSpPr>
        <p:spPr>
          <a:xfrm flipH="1" rot="0">
            <a:off x="7694648" y="3732518"/>
            <a:ext cx="2847975" cy="542925"/>
          </a:xfrm>
          <a:prstGeom prst="rect">
            <a:avLst/>
          </a:prstGeom>
          <a:noFill/>
          <a:ln/>
        </p:spPr>
        <p:txBody>
          <a:bodyPr anchor="t" anchorCtr="0" bIns="0" lIns="0" rIns="0" rtlCol="0" tIns="0" vert="horz" wrap="square">
            <a:spAutoFit/>
          </a:bodyPr>
          <a:lstStyle/>
          <a:p>
            <a:pPr algn="r">
              <a:lnSpc>
                <a:spcPct val="113999"/>
              </a:lnSpc>
            </a:pPr>
            <a:r>
              <a:rPr lang="en-US" sz="999">
                <a:solidFill>
                  <a:schemeClr val="dk1">
                    <a:alpha val="100000"/>
                  </a:schemeClr>
                </a:solidFill>
                <a:latin typeface="Noto Sans SC"/>
                <a:ea typeface="Noto Sans SC"/>
                <a:cs typeface="Noto Sans SC"/>
              </a:rPr>
              <a:t>Docker容器化部署，Kubernetes实现服务编排和自动扩展</a:t>
            </a:r>
          </a:p>
        </p:txBody>
        <p:extLst>
          <p:ext uri="http://schemas.baidu.com/office/drawing/2023/templateData">
            <bd:templateData xmlns:bd="http://schemas.baidu.com/office/drawing/2023/templateData">eyJfdGVtcGxhdGVEYXRhIjp7ImxpbmVDb3VudCI6IjMiLCJ3b3JkQ291bnQiOiIxOSJ9LCJ0YWciOiJub0VkaXQifQ==</bd:templateData>
          </p:ext>
        </p:extLst>
      </p:sp>
      <p:sp>
        <p:nvSpPr>
          <p:cNvPr id="21" name="TextBox 21"/>
          <p:cNvSpPr txBox="1"/>
          <p:nvPr/>
        </p:nvSpPr>
        <p:spPr>
          <a:xfrm flipH="1" rot="0">
            <a:off x="7778228" y="3406216"/>
            <a:ext cx="2771170" cy="238125"/>
          </a:xfrm>
          <a:prstGeom prst="rect">
            <a:avLst/>
          </a:prstGeom>
          <a:noFill/>
          <a:ln/>
        </p:spPr>
        <p:txBody>
          <a:bodyPr anchor="t" anchorCtr="0" bIns="0" lIns="0" rIns="0" rtlCol="0" tIns="0" vert="horz" wrap="square">
            <a:spAutoFit/>
          </a:bodyPr>
          <a:lstStyle/>
          <a:p>
            <a:pPr algn="r">
              <a:lnSpc>
                <a:spcPct val="80000"/>
              </a:lnSpc>
            </a:pPr>
            <a:r>
              <a:rPr lang="en-US" sz="1550">
                <a:solidFill>
                  <a:schemeClr val="dk1">
                    <a:alpha val="100000"/>
                  </a:schemeClr>
                </a:solidFill>
                <a:latin typeface="Noto Sans SC"/>
                <a:ea typeface="Noto Sans SC"/>
                <a:cs typeface="Noto Sans SC"/>
              </a:rPr>
              <a:t>部署方案</a:t>
            </a:r>
          </a:p>
        </p:txBody>
        <p:extLst>
          <p:ext uri="http://schemas.baidu.com/office/drawing/2023/templateData">
            <bd:templateData xmlns:bd="http://schemas.baidu.com/office/drawing/2023/templateData">eyJ0YWciOiJub0VkaXQifQ==</bd:templateData>
          </p:ext>
        </p:extLst>
      </p:sp>
      <p:sp>
        <p:nvSpPr>
          <p:cNvPr id="22" name="AutoShape 22"/>
          <p:cNvSpPr/>
          <p:nvPr/>
        </p:nvSpPr>
        <p:spPr>
          <a:xfrm rot="0">
            <a:off x="1746454" y="4912071"/>
            <a:ext cx="3985999" cy="1211059"/>
          </a:xfrm>
          <a:prstGeom prst="homePlate">
            <a:avLst>
              <a:gd fmla="val 23738"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23" name="AutoShape 23"/>
          <p:cNvSpPr/>
          <p:nvPr/>
        </p:nvSpPr>
        <p:spPr>
          <a:xfrm rot="5400000">
            <a:off x="1142235" y="4995601"/>
            <a:ext cx="1211061" cy="1044000"/>
          </a:xfrm>
          <a:prstGeom prst="hexagon">
            <a:avLst>
              <a:gd fmla="val 25000" name="adj"/>
              <a:gd fmla="val 115470" name="vf"/>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24" name="TextBox 24"/>
          <p:cNvSpPr txBox="1"/>
          <p:nvPr/>
        </p:nvSpPr>
        <p:spPr>
          <a:xfrm flipH="1" rot="0">
            <a:off x="2497971" y="5418477"/>
            <a:ext cx="2752725" cy="542925"/>
          </a:xfrm>
          <a:prstGeom prst="rect">
            <a:avLst/>
          </a:prstGeom>
          <a:noFill/>
          <a:ln/>
        </p:spPr>
        <p:txBody>
          <a:bodyPr anchor="t" anchorCtr="0" bIns="0" lIns="0" rIns="0" rtlCol="0" tIns="0" vert="horz" wrap="square">
            <a:spAutoFit/>
          </a:bodyPr>
          <a:lstStyle/>
          <a:p>
            <a:pPr algn="l">
              <a:lnSpc>
                <a:spcPct val="113999"/>
              </a:lnSpc>
            </a:pPr>
            <a:r>
              <a:rPr lang="en-US" sz="999">
                <a:solidFill>
                  <a:schemeClr val="dk1">
                    <a:alpha val="100000"/>
                  </a:schemeClr>
                </a:solidFill>
                <a:latin typeface="Noto Sans SC"/>
                <a:ea typeface="Noto Sans SC"/>
                <a:cs typeface="Noto Sans SC"/>
              </a:rPr>
              <a:t>MySQL存储结构化数据，Neo4j图数据库处理贡献者关系网络</a:t>
            </a:r>
          </a:p>
        </p:txBody>
        <p:extLst>
          <p:ext uri="http://schemas.baidu.com/office/drawing/2023/templateData">
            <bd:templateData xmlns:bd="http://schemas.baidu.com/office/drawing/2023/templateData">eyJfdGVtcGxhdGVEYXRhIjp7ImxpbmVDb3VudCI6IjIiLCJ3b3JkQ291bnQiOiIxOSJ9LCJ0YWciOiJub0VkaXQifQ==</bd:templateData>
          </p:ext>
        </p:extLst>
      </p:sp>
      <p:sp>
        <p:nvSpPr>
          <p:cNvPr id="25" name="TextBox 25"/>
          <p:cNvSpPr txBox="1"/>
          <p:nvPr/>
        </p:nvSpPr>
        <p:spPr>
          <a:xfrm flipH="1" rot="0">
            <a:off x="2497973" y="5092175"/>
            <a:ext cx="1381125" cy="238125"/>
          </a:xfrm>
          <a:prstGeom prst="rect">
            <a:avLst/>
          </a:prstGeom>
          <a:noFill/>
          <a:ln/>
        </p:spPr>
        <p:txBody>
          <a:bodyPr anchor="t" anchorCtr="0" bIns="0" lIns="0" rIns="0" rtlCol="0" tIns="0" vert="horz" wrap="none">
            <a:spAutoFit/>
          </a:bodyPr>
          <a:lstStyle/>
          <a:p>
            <a:pPr algn="l">
              <a:lnSpc>
                <a:spcPct val="80000"/>
              </a:lnSpc>
            </a:pPr>
            <a:r>
              <a:rPr lang="en-US" sz="1550">
                <a:solidFill>
                  <a:schemeClr val="dk1">
                    <a:alpha val="100000"/>
                  </a:schemeClr>
                </a:solidFill>
                <a:latin typeface="Noto Sans SC"/>
                <a:ea typeface="Noto Sans SC"/>
                <a:cs typeface="Noto Sans SC"/>
              </a:rPr>
              <a:t>数据库选型</a:t>
            </a:r>
          </a:p>
        </p:txBody>
        <p:extLst>
          <p:ext uri="http://schemas.baidu.com/office/drawing/2023/templateData">
            <bd:templateData xmlns:bd="http://schemas.baidu.com/office/drawing/2023/templateData">eyJ0YWciOiJub0VkaXQifQ==</bd:templateData>
          </p:ext>
        </p:extLst>
      </p:sp>
      <p:sp>
        <p:nvSpPr>
          <p:cNvPr id="26" name="AutoShape 26"/>
          <p:cNvSpPr/>
          <p:nvPr/>
        </p:nvSpPr>
        <p:spPr>
          <a:xfrm flipH="1" rot="0">
            <a:off x="6489435" y="4912071"/>
            <a:ext cx="3985999" cy="1211059"/>
          </a:xfrm>
          <a:prstGeom prst="homePlate">
            <a:avLst>
              <a:gd fmla="val 23738"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27" name="AutoShape 27"/>
          <p:cNvSpPr/>
          <p:nvPr/>
        </p:nvSpPr>
        <p:spPr>
          <a:xfrm rot="5400000">
            <a:off x="9868591" y="4995601"/>
            <a:ext cx="1211061" cy="1044000"/>
          </a:xfrm>
          <a:prstGeom prst="hexagon">
            <a:avLst>
              <a:gd fmla="val 25000" name="adj"/>
              <a:gd fmla="val 115470" name="vf"/>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28" name="TextBox 28"/>
          <p:cNvSpPr txBox="1"/>
          <p:nvPr/>
        </p:nvSpPr>
        <p:spPr>
          <a:xfrm flipH="1" rot="0">
            <a:off x="6954024" y="5418477"/>
            <a:ext cx="2752725" cy="542925"/>
          </a:xfrm>
          <a:prstGeom prst="rect">
            <a:avLst/>
          </a:prstGeom>
          <a:noFill/>
          <a:ln/>
        </p:spPr>
        <p:txBody>
          <a:bodyPr anchor="t" anchorCtr="0" bIns="0" lIns="0" rIns="0" rtlCol="0" tIns="0" vert="horz" wrap="square">
            <a:spAutoFit/>
          </a:bodyPr>
          <a:lstStyle/>
          <a:p>
            <a:pPr algn="r">
              <a:lnSpc>
                <a:spcPct val="113999"/>
              </a:lnSpc>
            </a:pPr>
            <a:r>
              <a:rPr lang="en-US" sz="999">
                <a:solidFill>
                  <a:schemeClr val="dk1">
                    <a:alpha val="100000"/>
                  </a:schemeClr>
                </a:solidFill>
                <a:latin typeface="Noto Sans SC"/>
                <a:ea typeface="Noto Sans SC"/>
                <a:cs typeface="Noto Sans SC"/>
              </a:rPr>
              <a:t>Prometheus采集系统指标，Grafana构建可视化监控看板</a:t>
            </a:r>
          </a:p>
        </p:txBody>
        <p:extLst>
          <p:ext uri="http://schemas.baidu.com/office/drawing/2023/templateData">
            <bd:templateData xmlns:bd="http://schemas.baidu.com/office/drawing/2023/templateData">eyJfdGVtcGxhdGVEYXRhIjp7ImxpbmVDb3VudCI6IjIiLCJ3b3JkQ291bnQiOiIxOSJ9LCJ0YWciOiJub0VkaXQifQ==</bd:templateData>
          </p:ext>
        </p:extLst>
      </p:sp>
      <p:sp>
        <p:nvSpPr>
          <p:cNvPr id="29" name="TextBox 29"/>
          <p:cNvSpPr txBox="1"/>
          <p:nvPr/>
        </p:nvSpPr>
        <p:spPr>
          <a:xfrm flipH="1" rot="0">
            <a:off x="7122336" y="5092175"/>
            <a:ext cx="2589742" cy="238125"/>
          </a:xfrm>
          <a:prstGeom prst="rect">
            <a:avLst/>
          </a:prstGeom>
          <a:noFill/>
          <a:ln/>
        </p:spPr>
        <p:txBody>
          <a:bodyPr anchor="t" anchorCtr="0" bIns="0" lIns="0" rIns="0" rtlCol="0" tIns="0" vert="horz" wrap="square">
            <a:spAutoFit/>
          </a:bodyPr>
          <a:lstStyle/>
          <a:p>
            <a:pPr algn="r">
              <a:lnSpc>
                <a:spcPct val="80000"/>
              </a:lnSpc>
            </a:pPr>
            <a:r>
              <a:rPr lang="en-US" sz="1550">
                <a:solidFill>
                  <a:schemeClr val="dk1">
                    <a:alpha val="100000"/>
                  </a:schemeClr>
                </a:solidFill>
                <a:latin typeface="Noto Sans SC"/>
                <a:ea typeface="Noto Sans SC"/>
                <a:cs typeface="Noto Sans SC"/>
              </a:rPr>
              <a:t>监控系统</a:t>
            </a:r>
          </a:p>
        </p:txBody>
        <p:extLst>
          <p:ext uri="http://schemas.baidu.com/office/drawing/2023/templateData">
            <bd:templateData xmlns:bd="http://schemas.baidu.com/office/drawing/2023/templateData">eyJ0YWciOiJub0VkaXQifQ==</bd:templateData>
          </p:ext>
        </p:extLst>
      </p:sp>
      <p:sp>
        <p:nvSpPr>
          <p:cNvPr id="30" name="TextBox 30"/>
          <p:cNvSpPr txBox="1"/>
          <p:nvPr/>
        </p:nvSpPr>
        <p:spPr>
          <a:xfrm flipH="1" rot="0">
            <a:off x="4997796" y="1433390"/>
            <a:ext cx="2236351" cy="238125"/>
          </a:xfrm>
          <a:prstGeom prst="rect">
            <a:avLst/>
          </a:prstGeom>
          <a:noFill/>
          <a:ln/>
        </p:spPr>
        <p:txBody>
          <a:bodyPr anchor="t" anchorCtr="0" bIns="0" lIns="0" rIns="0" rtlCol="0" tIns="0" vert="horz" wrap="square">
            <a:spAutoFit/>
          </a:bodyPr>
          <a:lstStyle/>
          <a:p>
            <a:pPr algn="ctr">
              <a:lnSpc>
                <a:spcPct val="80000"/>
              </a:lnSpc>
            </a:pPr>
            <a:r>
              <a:rPr lang="en-US" sz="1550">
                <a:solidFill>
                  <a:schemeClr val="accent3">
                    <a:alpha val="100000"/>
                  </a:schemeClr>
                </a:solidFill>
                <a:latin typeface="Noto Sans SC"/>
                <a:ea typeface="Noto Sans SC"/>
                <a:cs typeface="Noto Sans SC"/>
              </a:rPr>
              <a:t>后端技术</a:t>
            </a:r>
          </a:p>
        </p:txBody>
        <p:extLst>
          <p:ext uri="http://schemas.baidu.com/office/drawing/2023/templateData">
            <bd:templateData xmlns:bd="http://schemas.baidu.com/office/drawing/2023/templateData">eyJfdGVtcGxhdGVEYXRhIjp7ImxpbmVDb3VudCI6IjEiLCJ3b3JkQ291bnQiOiIyIn0sInRhZyI6Im5vRWRpdCJ9</bd:templateData>
          </p:ext>
        </p:extLst>
      </p:sp>
      <p:cxnSp>
        <p:nvCxnSpPr>
          <p:cNvPr id="31" name="Connector 31"/>
          <p:cNvCxnSpPr/>
          <p:nvPr/>
        </p:nvCxnSpPr>
        <p:spPr>
          <a:xfrm>
            <a:off x="6094045" y="1781155"/>
            <a:ext cx="0" cy="831982"/>
          </a:xfrm>
          <a:prstGeom prst="line">
            <a:avLst/>
          </a:prstGeom>
          <a:ln w="12700">
            <a:solidFill>
              <a:schemeClr val="accent3"/>
            </a:solidFill>
            <a:prstDash val="solid"/>
            <a:headEnd type="oval"/>
            <a:tailEnd type="none"/>
          </a:ln>
        </p:spPr>
        <p:style>
          <a:lnRef idx="0">
            <a:schemeClr val="accent3"/>
          </a:lnRef>
          <a:fillRef idx="1">
            <a:schemeClr val="accent3"/>
          </a:fillRef>
          <a:effectRef idx="0">
            <a:schemeClr val="accent3"/>
          </a:effectRef>
          <a:fontRef idx="minor">
            <a:schemeClr val="lt1"/>
          </a:fontRef>
        </p:style>
        <p:extLst>
          <p:ext uri="http://schemas.baidu.com/office/drawing/2023/templateData">
            <bd:templateData xmlns:bd="http://schemas.baidu.com/office/drawing/2023/templateData">eyJ0YWciOiJub0VkaXQifQ==</bd:templateData>
          </p:ext>
        </p:extLst>
      </p:cxnSp>
      <p:cxnSp>
        <p:nvCxnSpPr>
          <p:cNvPr id="32" name="Connector 32"/>
          <p:cNvCxnSpPr/>
          <p:nvPr/>
        </p:nvCxnSpPr>
        <p:spPr>
          <a:xfrm flipV="1">
            <a:off x="6094045" y="5074746"/>
            <a:ext cx="0" cy="922484"/>
          </a:xfrm>
          <a:prstGeom prst="line">
            <a:avLst/>
          </a:prstGeom>
          <a:ln w="12700">
            <a:solidFill>
              <a:schemeClr val="accent3"/>
            </a:solidFill>
            <a:prstDash val="solid"/>
            <a:headEnd type="oval"/>
            <a:tailEnd type="none"/>
          </a:ln>
        </p:spPr>
        <p:style>
          <a:lnRef idx="0">
            <a:schemeClr val="accent3"/>
          </a:lnRef>
          <a:fillRef idx="1">
            <a:schemeClr val="accent3"/>
          </a:fillRef>
          <a:effectRef idx="0">
            <a:schemeClr val="accent3"/>
          </a:effectRef>
          <a:fontRef idx="minor">
            <a:schemeClr val="lt1"/>
          </a:fontRef>
        </p:style>
        <p:extLst>
          <p:ext uri="http://schemas.baidu.com/office/drawing/2023/templateData">
            <bd:templateData xmlns:bd="http://schemas.baidu.com/office/drawing/2023/templateData">eyJ0YWciOiJub0VkaXQifQ==</bd:templateData>
          </p:ext>
        </p:extLst>
      </p:cxnSp>
      <p:sp>
        <p:nvSpPr>
          <p:cNvPr id="33" name="TextBox 33"/>
          <p:cNvSpPr txBox="1"/>
          <p:nvPr/>
        </p:nvSpPr>
        <p:spPr>
          <a:xfrm rot="0">
            <a:off x="5159263" y="3470045"/>
            <a:ext cx="1963073" cy="323850"/>
          </a:xfrm>
          <a:prstGeom prst="rect">
            <a:avLst/>
          </a:prstGeom>
          <a:noFill/>
          <a:ln/>
        </p:spPr>
        <p:txBody>
          <a:bodyPr anchor="t" anchorCtr="0" bIns="0" lIns="0" rIns="0" rtlCol="0" tIns="0" vert="horz" wrap="square">
            <a:spAutoFit/>
          </a:bodyPr>
          <a:lstStyle/>
          <a:p>
            <a:pPr algn="ctr">
              <a:lnSpc>
                <a:spcPct val="80000"/>
              </a:lnSpc>
            </a:pPr>
            <a:r>
              <a:rPr lang="en-US" sz="2100">
                <a:solidFill>
                  <a:srgbClr val="F3F4F2">
                    <a:alpha val="100000"/>
                  </a:srgbClr>
                </a:solidFill>
                <a:latin typeface="Noto Sans SC"/>
                <a:ea typeface="Noto Sans SC"/>
                <a:cs typeface="Noto Sans SC"/>
              </a:rPr>
              <a:t>前端技术</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34" name="TextBox 34"/>
          <p:cNvSpPr txBox="1"/>
          <p:nvPr/>
        </p:nvSpPr>
        <p:spPr>
          <a:xfrm rot="0">
            <a:off x="5363378" y="3988574"/>
            <a:ext cx="1495425" cy="342900"/>
          </a:xfrm>
          <a:prstGeom prst="rect">
            <a:avLst/>
          </a:prstGeom>
          <a:noFill/>
          <a:ln/>
        </p:spPr>
        <p:txBody>
          <a:bodyPr anchor="t" anchorCtr="0" bIns="0" lIns="0" rIns="0" rtlCol="0" tIns="0" vert="horz" wrap="square">
            <a:spAutoFit/>
          </a:bodyPr>
          <a:lstStyle/>
          <a:p>
            <a:pPr algn="ctr">
              <a:lnSpc>
                <a:spcPct val="120000"/>
              </a:lnSpc>
              <a:spcBef>
                <a:spcPct val="0"/>
              </a:spcBef>
            </a:pPr>
            <a:r>
              <a:rPr lang="en-US" sz="800">
                <a:solidFill>
                  <a:srgbClr val="FDFBFB">
                    <a:alpha val="100000"/>
                  </a:srgbClr>
                </a:solidFill>
                <a:latin typeface="Noto Sans SC"/>
                <a:ea typeface="Noto Sans SC"/>
                <a:cs typeface="Noto Sans SC"/>
              </a:rPr>
              <a:t>React+Ant Design构建用户界面</a:t>
            </a:r>
          </a:p>
        </p:txBody>
        <p:extLst>
          <p:ext uri="http://schemas.baidu.com/office/drawing/2023/templateData">
            <bd:templateData xmlns:bd="http://schemas.baidu.com/office/drawing/2023/templateData">eyJfdGVtcGxhdGVEYXRhIjp7ImxpbmVDb3VudCI6IjEiLCJ3b3JkQ291bnQiOiIxMSJ9LCJ0YWciOiJub0VkaXQifQ==</bd:templateData>
          </p:ext>
        </p:extLst>
      </p:sp>
      <p:sp>
        <p:nvSpPr>
          <p:cNvPr id="35" name="TextBox 35"/>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2799">
                <a:solidFill>
                  <a:schemeClr val="dk2">
                    <a:alpha val="100000"/>
                  </a:schemeClr>
                </a:solidFill>
                <a:latin typeface="Noto Sans SC"/>
                <a:ea typeface="Noto Sans SC"/>
                <a:cs typeface="Noto Sans SC"/>
              </a:rPr>
              <a:t>技术栈组成</a:t>
            </a:r>
          </a:p>
        </p:txBody>
        <p:extLst>
          <p:ext uri="http://schemas.baidu.com/office/drawing/2023/templateData">
            <bd:templateData xmlns:bd="http://schemas.baidu.com/office/drawing/2023/templateData">eyJfdGVtcGxhdGVEYXRhIjp7ImNvbnRlbnRUeXBlIjoiJHRpdGxlIiwibGluZUNvdW50IjoiMSIsIndvcmRDb3VudCI6IjMwIn0sInRhZyI6Im5vRWRpdCJ9</bd:templateData>
          </p:ext>
        </p:extLst>
      </p:sp>
      <p:sp>
        <p:nvSpPr>
          <p:cNvPr id="36" name="Freeform 36"/>
          <p:cNvSpPr/>
          <p:nvPr/>
        </p:nvSpPr>
        <p:spPr>
          <a:xfrm rot="0">
            <a:off x="1505268" y="1853004"/>
            <a:ext cx="432590" cy="464762"/>
          </a:xfrm>
          <a:custGeom>
            <a:avLst/>
            <a:gdLst/>
            <a:ahLst/>
            <a:cxnLst/>
            <a:rect b="b" l="l" r="r" t="t"/>
            <a:pathLst>
              <a:path h="304800" w="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9F8F7">
              <a:alpha val="100000"/>
            </a:srgbClr>
          </a:solidFill>
          <a:ln/>
        </p:spPr>
        <p:extLst>
          <p:ext uri="http://schemas.baidu.com/office/drawing/2023/templateData">
            <bd:templateData xmlns:bd="http://schemas.baidu.com/office/drawing/2023/templateData">eyJ0YWciOiJub0VkaXQifQ==</bd:templateData>
          </p:ext>
        </p:extLst>
      </p:sp>
      <p:sp>
        <p:nvSpPr>
          <p:cNvPr id="37" name="Freeform 37"/>
          <p:cNvSpPr/>
          <p:nvPr/>
        </p:nvSpPr>
        <p:spPr>
          <a:xfrm rot="0">
            <a:off x="707787" y="3561513"/>
            <a:ext cx="432590" cy="464762"/>
          </a:xfrm>
          <a:custGeom>
            <a:avLst/>
            <a:gdLst/>
            <a:ahLst/>
            <a:cxnLst/>
            <a:rect b="b" l="l" r="r" t="t"/>
            <a:pathLst>
              <a:path h="304800" w="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9F8F7">
              <a:alpha val="100000"/>
            </a:srgbClr>
          </a:solidFill>
          <a:ln/>
        </p:spPr>
        <p:extLst>
          <p:ext uri="http://schemas.baidu.com/office/drawing/2023/templateData">
            <bd:templateData xmlns:bd="http://schemas.baidu.com/office/drawing/2023/templateData">eyJ0YWciOiJub0VkaXQifQ==</bd:templateData>
          </p:ext>
        </p:extLst>
      </p:sp>
      <p:sp>
        <p:nvSpPr>
          <p:cNvPr id="38" name="Freeform 38"/>
          <p:cNvSpPr/>
          <p:nvPr/>
        </p:nvSpPr>
        <p:spPr>
          <a:xfrm rot="0">
            <a:off x="1530159" y="5285219"/>
            <a:ext cx="432590" cy="464762"/>
          </a:xfrm>
          <a:custGeom>
            <a:avLst/>
            <a:gdLst/>
            <a:ahLst/>
            <a:cxnLst/>
            <a:rect b="b" l="l" r="r" t="t"/>
            <a:pathLst>
              <a:path h="304800" w="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9F8F7">
              <a:alpha val="100000"/>
            </a:srgbClr>
          </a:solidFill>
          <a:ln/>
        </p:spPr>
        <p:extLst>
          <p:ext uri="http://schemas.baidu.com/office/drawing/2023/templateData">
            <bd:templateData xmlns:bd="http://schemas.baidu.com/office/drawing/2023/templateData">eyJ0YWciOiJub0VkaXQifQ==</bd:templateData>
          </p:ext>
        </p:extLst>
      </p:sp>
      <p:sp>
        <p:nvSpPr>
          <p:cNvPr id="39" name="Freeform 39"/>
          <p:cNvSpPr/>
          <p:nvPr/>
        </p:nvSpPr>
        <p:spPr>
          <a:xfrm rot="0">
            <a:off x="11096459" y="3561513"/>
            <a:ext cx="432590" cy="464762"/>
          </a:xfrm>
          <a:custGeom>
            <a:avLst/>
            <a:gdLst/>
            <a:ahLst/>
            <a:cxnLst/>
            <a:rect b="b" l="l" r="r" t="t"/>
            <a:pathLst>
              <a:path h="304800" w="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9F8F7">
              <a:alpha val="100000"/>
            </a:srgbClr>
          </a:solidFill>
          <a:ln/>
        </p:spPr>
        <p:extLst>
          <p:ext uri="http://schemas.baidu.com/office/drawing/2023/templateData">
            <bd:templateData xmlns:bd="http://schemas.baidu.com/office/drawing/2023/templateData">eyJ0YWciOiJub0VkaXQifQ==</bd:templateData>
          </p:ext>
        </p:extLst>
      </p:sp>
      <p:sp>
        <p:nvSpPr>
          <p:cNvPr id="40" name="Freeform 40"/>
          <p:cNvSpPr/>
          <p:nvPr/>
        </p:nvSpPr>
        <p:spPr>
          <a:xfrm rot="0">
            <a:off x="10231624" y="5285219"/>
            <a:ext cx="432590" cy="464762"/>
          </a:xfrm>
          <a:custGeom>
            <a:avLst/>
            <a:gdLst/>
            <a:ahLst/>
            <a:cxnLst/>
            <a:rect b="b" l="l" r="r" t="t"/>
            <a:pathLst>
              <a:path h="304800" w="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9F8F7">
              <a:alpha val="100000"/>
            </a:srgbClr>
          </a:solidFill>
          <a:ln/>
        </p:spPr>
        <p:extLst>
          <p:ext uri="http://schemas.baidu.com/office/drawing/2023/templateData">
            <bd:templateData xmlns:bd="http://schemas.baidu.com/office/drawing/2023/templateData">eyJ0YWciOiJub0VkaXQifQ==</bd:templateData>
          </p:ext>
        </p:extLst>
      </p:sp>
      <p:sp>
        <p:nvSpPr>
          <p:cNvPr id="41" name="Freeform 41"/>
          <p:cNvSpPr/>
          <p:nvPr/>
        </p:nvSpPr>
        <p:spPr>
          <a:xfrm rot="0">
            <a:off x="10259139" y="1911150"/>
            <a:ext cx="432590" cy="464762"/>
          </a:xfrm>
          <a:custGeom>
            <a:avLst/>
            <a:gdLst/>
            <a:ahLst/>
            <a:cxnLst/>
            <a:rect b="b" l="l" r="r" t="t"/>
            <a:pathLst>
              <a:path h="304800" w="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9F8F7">
              <a:alpha val="100000"/>
            </a:srgbClr>
          </a:solidFill>
          <a:ln/>
        </p:spPr>
        <p:extLst>
          <p:ext uri="http://schemas.baidu.com/office/drawing/2023/templateData">
            <bd:templateData xmlns:bd="http://schemas.baidu.com/office/drawing/2023/templateData">eyJ0YWciOiJub0VkaXQifQ==</bd:templateData>
          </p:ext>
        </p:extLst>
      </p:sp>
      <p:sp>
        <p:nvSpPr>
          <p:cNvPr id="42" name="TextBox 42"/>
          <p:cNvSpPr txBox="1"/>
          <p:nvPr/>
        </p:nvSpPr>
        <p:spPr>
          <a:xfrm flipH="1" rot="0">
            <a:off x="4968196" y="6123130"/>
            <a:ext cx="2238375" cy="238125"/>
          </a:xfrm>
          <a:prstGeom prst="rect">
            <a:avLst/>
          </a:prstGeom>
          <a:noFill/>
          <a:ln/>
        </p:spPr>
        <p:txBody>
          <a:bodyPr anchor="t" anchorCtr="0" bIns="0" lIns="0" rIns="0" rtlCol="0" tIns="0" vert="horz" wrap="square">
            <a:spAutoFit/>
          </a:bodyPr>
          <a:lstStyle/>
          <a:p>
            <a:pPr algn="ctr">
              <a:lnSpc>
                <a:spcPct val="80000"/>
              </a:lnSpc>
            </a:pPr>
            <a:r>
              <a:rPr lang="en-US" sz="1550">
                <a:solidFill>
                  <a:schemeClr val="accent3">
                    <a:alpha val="100000"/>
                  </a:schemeClr>
                </a:solidFill>
                <a:latin typeface="Noto Sans SC"/>
                <a:ea typeface="Noto Sans SC"/>
                <a:cs typeface="Noto Sans SC"/>
              </a:rPr>
              <a:t>微服务架构</a:t>
            </a:r>
          </a:p>
        </p:txBody>
        <p:extLst>
          <p:ext uri="http://schemas.baidu.com/office/drawing/2023/templateData">
            <bd:templateData xmlns:bd="http://schemas.baidu.com/office/drawing/2023/templateData">eyJfdGVtcGxhdGVEYXRhIjp7ImxpbmVDb3VudCI6IjEiLCJ3b3JkQ291bnQiOiIyIn0sInRhZyI6Im5vRWRpdCJ9</bd:templateData>
          </p:ext>
        </p:extLst>
      </p:sp>
    </p:spTree>
  </p:cSld>
  <p:clrMapOvr>
    <a:masterClrMapping/>
  </p:clrMapOvr>
  <p:extLst>
    <p:ext uri="http://schemas.baidu.com/office/drawing/2023/templateData">
      <bd:templateData xmlns:bd="http://schemas.baidu.com/office/drawing/2023/templateData">eyJtZCI6IiMjIOaKgOacr+mAieWei+S4juaetuaehOiuvuiuoVxuIyMjIOaKgOacr+agiOe7hOaIkCIsInRwbGlkIjoiNjgiLCJ0cGxOYW1lIjoidGl0bGVHcmFwaF9wcm80NSIsImVkaXRlZCI6ImZhbHNlIn0=</bd:templateData>
    </p:ext>
  </p:extLst>
</p:sld>
</file>

<file path=ppt/slides/slide8.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186" l="0" r="0" t="-186"/>
          </a:stretch>
        </a:blipFill>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100000"/>
          </a:blip>
          <a:srcRect l="3488" r="3488"/>
          <a:stretch>
            <a:fillRect/>
          </a:stretch>
        </p:blipFill>
        <p:spPr>
          <a:xfrm rot="0">
            <a:off x="476023" y="1726817"/>
            <a:ext cx="4434840" cy="4434841"/>
          </a:xfrm>
          <a:prstGeom prst="roundRect">
            <a:avLst/>
          </a:prstGeom>
        </p:spPr>
        <p:extLst>
          <p:ext uri="http://schemas.baidu.com/office/drawing/2023/templateData">
            <bd:templateData xmlns:bd="http://schemas.baidu.com/office/drawing/2023/templateData">eyJfdGVtcGxhdGVEYXRhIjp7ImNvbnRlbnRUeXBlIjoiJGltZzAifSwidGFnIjoiJGltZzAifQ==</bd:templateData>
          </p:ext>
        </p:extLst>
      </p:pic>
      <p:sp>
        <p:nvSpPr>
          <p:cNvPr id="3" name="TextBox 3"/>
          <p:cNvSpPr txBox="1"/>
          <p:nvPr/>
        </p:nvSpPr>
        <p:spPr>
          <a:xfrm rot="0">
            <a:off x="5562187" y="4881292"/>
            <a:ext cx="6000750" cy="711336"/>
          </a:xfrm>
          <a:prstGeom prst="rect">
            <a:avLst/>
          </a:prstGeom>
          <a:ln/>
        </p:spPr>
        <p:txBody>
          <a:bodyPr anchor="b" anchorCtr="0" bIns="123825" lIns="123825" rIns="57150" rtlCol="0" tIns="123825" vert="horz" wrap="square">
            <a:noAutofit/>
          </a:bodyPr>
          <a:lstStyle/>
          <a:p>
            <a:pPr>
              <a:lnSpc>
                <a:spcPct val="120000"/>
              </a:lnSpc>
            </a:pPr>
            <a:r>
              <a:rPr b="1" lang="en-US" sz="2400">
                <a:solidFill>
                  <a:schemeClr val="accent1">
                    <a:alpha val="100000"/>
                  </a:schemeClr>
                </a:solidFill>
                <a:latin typeface="Noto Sans SC"/>
                <a:ea typeface="Noto Sans SC"/>
                <a:cs typeface="Noto Sans SC"/>
              </a:rPr>
              <a:t>全流程服务支持</a:t>
            </a:r>
          </a:p>
        </p:txBody>
        <p:extLst>
          <p:ext uri="http://schemas.baidu.com/office/drawing/2023/templateData">
            <bd:templateData xmlns:bd="http://schemas.baidu.com/office/drawing/2023/templateData">eyJfdGVtcGxhdGVEYXRhIjp7ImNvbnRlbnRUeXBlIjoiJGl0ZW0zX3RpdGxlIiwibGluZUNvdW50IjoiMSIsIndvcmRDb3VudCI6IjE4In0sInRhZyI6IiRpdGVtM190aXRsZSJ9</bd:templateData>
          </p:ext>
        </p:extLst>
      </p:sp>
      <p:sp>
        <p:nvSpPr>
          <p:cNvPr id="4" name="TextBox 4"/>
          <p:cNvSpPr txBox="1"/>
          <p:nvPr/>
        </p:nvSpPr>
        <p:spPr>
          <a:xfrm rot="0">
            <a:off x="5267801" y="5523753"/>
            <a:ext cx="6477000" cy="914400"/>
          </a:xfrm>
          <a:prstGeom prst="rect">
            <a:avLst/>
          </a:prstGeom>
          <a:ln/>
        </p:spPr>
        <p:txBody>
          <a:bodyPr anchor="t" anchorCtr="0" bIns="0" lIns="0" rIns="0" rtlCol="0" tIns="0" vert="horz" wrap="square">
            <a:noAutofit/>
          </a:bodyPr>
          <a:lstStyle/>
          <a:p>
            <a:pPr>
              <a:lnSpc>
                <a:spcPct val="140000"/>
              </a:lnSpc>
            </a:pPr>
            <a:r>
              <a:rPr lang="en-US" sz="1500">
                <a:solidFill>
                  <a:schemeClr val="dk1">
                    <a:alpha val="100000"/>
                  </a:schemeClr>
                </a:solidFill>
                <a:latin typeface="Noto Sans SC"/>
                <a:ea typeface="Noto Sans SC"/>
                <a:cs typeface="Noto Sans SC"/>
              </a:rPr>
              <a:t>覆盖数据可视化、报告生成到权限管理，形成闭环服务链，提升用户体验。</a:t>
            </a:r>
          </a:p>
        </p:txBody>
        <p:extLst>
          <p:ext uri="http://schemas.baidu.com/office/drawing/2023/templateData">
            <bd:templateData xmlns:bd="http://schemas.baidu.com/office/drawing/2023/templateData">eyJfdGVtcGxhdGVEYXRhIjp7ImNvbnRlbnRUeXBlIjoiJGl0ZW0zX2MiLCJsaW5lQ291bnQiOiIyIiwid29yZENvdW50IjoiMzIifSwidGFnIjoiJGl0ZW0zX2MifQ==</bd:templateData>
          </p:ext>
        </p:extLst>
      </p:sp>
      <p:sp>
        <p:nvSpPr>
          <p:cNvPr id="5" name="AutoShape 5"/>
          <p:cNvSpPr/>
          <p:nvPr/>
        </p:nvSpPr>
        <p:spPr>
          <a:xfrm rot="0">
            <a:off x="5267801" y="1835975"/>
            <a:ext cx="238125" cy="238125"/>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6" name="TextBox 6"/>
          <p:cNvSpPr txBox="1"/>
          <p:nvPr/>
        </p:nvSpPr>
        <p:spPr>
          <a:xfrm rot="0">
            <a:off x="5562187" y="1621998"/>
            <a:ext cx="6000750" cy="666079"/>
          </a:xfrm>
          <a:prstGeom prst="rect">
            <a:avLst/>
          </a:prstGeom>
          <a:ln/>
        </p:spPr>
        <p:txBody>
          <a:bodyPr anchor="b" anchorCtr="0" bIns="123825" lIns="123825" rIns="57150" rtlCol="0" tIns="123825" vert="horz" wrap="square">
            <a:noAutofit/>
          </a:bodyPr>
          <a:lstStyle/>
          <a:p>
            <a:pPr>
              <a:lnSpc>
                <a:spcPct val="120000"/>
              </a:lnSpc>
            </a:pPr>
            <a:r>
              <a:rPr b="1" lang="en-US" sz="2400">
                <a:solidFill>
                  <a:schemeClr val="accent1">
                    <a:alpha val="100000"/>
                  </a:schemeClr>
                </a:solidFill>
                <a:latin typeface="Noto Sans SC"/>
                <a:ea typeface="Noto Sans SC"/>
                <a:cs typeface="Noto Sans SC"/>
              </a:rPr>
              <a:t>模块化架构设计</a:t>
            </a:r>
          </a:p>
        </p:txBody>
        <p:extLst>
          <p:ext uri="http://schemas.baidu.com/office/drawing/2023/templateData">
            <bd:templateData xmlns:bd="http://schemas.baidu.com/office/drawing/2023/templateData">eyJfdGVtcGxhdGVEYXRhIjp7ImNvbnRlbnRUeXBlIjoiJGl0ZW0xX3RpdGxlIiwibGluZUNvdW50IjoiMSIsIndvcmRDb3VudCI6IjE4In0sInRhZyI6IiRpdGVtMV90aXRsZSJ9</bd:templateData>
          </p:ext>
        </p:extLst>
      </p:sp>
      <p:sp>
        <p:nvSpPr>
          <p:cNvPr id="7" name="TextBox 7"/>
          <p:cNvSpPr txBox="1"/>
          <p:nvPr/>
        </p:nvSpPr>
        <p:spPr>
          <a:xfrm rot="0">
            <a:off x="5267801" y="2234038"/>
            <a:ext cx="6477000" cy="914400"/>
          </a:xfrm>
          <a:prstGeom prst="rect">
            <a:avLst/>
          </a:prstGeom>
          <a:ln/>
        </p:spPr>
        <p:txBody>
          <a:bodyPr anchor="t" anchorCtr="0" bIns="0" lIns="0" rIns="0" rtlCol="0" tIns="0" vert="horz" wrap="square">
            <a:noAutofit/>
          </a:bodyPr>
          <a:lstStyle/>
          <a:p>
            <a:pPr>
              <a:lnSpc>
                <a:spcPct val="140000"/>
              </a:lnSpc>
            </a:pPr>
            <a:r>
              <a:rPr lang="en-US" sz="1500">
                <a:solidFill>
                  <a:schemeClr val="dk1">
                    <a:alpha val="100000"/>
                  </a:schemeClr>
                </a:solidFill>
                <a:latin typeface="Noto Sans SC"/>
                <a:ea typeface="Noto Sans SC"/>
                <a:cs typeface="Noto Sans SC"/>
              </a:rPr>
              <a:t>系统通过数据收集、分析处理、评估规则和结果输出四大核心模块实现高效协同。  </a:t>
            </a:r>
          </a:p>
        </p:txBody>
        <p:extLst>
          <p:ext uri="http://schemas.baidu.com/office/drawing/2023/templateData">
            <bd:templateData xmlns:bd="http://schemas.baidu.com/office/drawing/2023/templateData">eyJfdGVtcGxhdGVEYXRhIjp7ImNvbnRlbnRUeXBlIjoiJGl0ZW0xX2MiLCJsaW5lQ291bnQiOiIyIiwid29yZENvdW50IjoiMzIifSwidGFnIjoiJGl0ZW0xX2MifQ==</bd:templateData>
          </p:ext>
        </p:extLst>
      </p:sp>
      <p:sp>
        <p:nvSpPr>
          <p:cNvPr id="8" name="TextBox 8"/>
          <p:cNvSpPr txBox="1"/>
          <p:nvPr/>
        </p:nvSpPr>
        <p:spPr>
          <a:xfrm rot="0">
            <a:off x="5562187" y="3262274"/>
            <a:ext cx="6000750" cy="697555"/>
          </a:xfrm>
          <a:prstGeom prst="rect">
            <a:avLst/>
          </a:prstGeom>
          <a:ln/>
        </p:spPr>
        <p:txBody>
          <a:bodyPr anchor="b" anchorCtr="0" bIns="123825" lIns="123825" rIns="57150" rtlCol="0" tIns="123825" vert="horz" wrap="square">
            <a:noAutofit/>
          </a:bodyPr>
          <a:lstStyle/>
          <a:p>
            <a:pPr>
              <a:lnSpc>
                <a:spcPct val="120000"/>
              </a:lnSpc>
            </a:pPr>
            <a:r>
              <a:rPr b="1" lang="en-US" sz="2400">
                <a:solidFill>
                  <a:schemeClr val="accent1">
                    <a:alpha val="100000"/>
                  </a:schemeClr>
                </a:solidFill>
                <a:latin typeface="Noto Sans SC"/>
                <a:ea typeface="Noto Sans SC"/>
                <a:cs typeface="Noto Sans SC"/>
              </a:rPr>
              <a:t>精准影响力评估</a:t>
            </a:r>
          </a:p>
        </p:txBody>
        <p:extLst>
          <p:ext uri="http://schemas.baidu.com/office/drawing/2023/templateData">
            <bd:templateData xmlns:bd="http://schemas.baidu.com/office/drawing/2023/templateData">eyJfdGVtcGxhdGVEYXRhIjp7ImNvbnRlbnRUeXBlIjoiJGl0ZW0yX3RpdGxlIiwibGluZUNvdW50IjoiMSIsIndvcmRDb3VudCI6IjE4In0sInRhZyI6IiRpdGVtMl90aXRsZSJ9</bd:templateData>
          </p:ext>
        </p:extLst>
      </p:sp>
      <p:sp>
        <p:nvSpPr>
          <p:cNvPr id="9" name="TextBox 9"/>
          <p:cNvSpPr txBox="1"/>
          <p:nvPr/>
        </p:nvSpPr>
        <p:spPr>
          <a:xfrm rot="0">
            <a:off x="5267801" y="3896612"/>
            <a:ext cx="6477000" cy="914400"/>
          </a:xfrm>
          <a:prstGeom prst="rect">
            <a:avLst/>
          </a:prstGeom>
          <a:ln/>
        </p:spPr>
        <p:txBody>
          <a:bodyPr anchor="t" anchorCtr="0" bIns="0" lIns="0" rIns="0" rtlCol="0" tIns="0" vert="horz" wrap="square">
            <a:noAutofit/>
          </a:bodyPr>
          <a:lstStyle/>
          <a:p>
            <a:pPr>
              <a:lnSpc>
                <a:spcPct val="140000"/>
              </a:lnSpc>
            </a:pPr>
            <a:r>
              <a:rPr lang="en-US" sz="1500">
                <a:solidFill>
                  <a:schemeClr val="dk1">
                    <a:alpha val="100000"/>
                  </a:schemeClr>
                </a:solidFill>
                <a:latin typeface="Noto Sans SC"/>
                <a:ea typeface="Noto Sans SC"/>
                <a:cs typeface="Noto Sans SC"/>
              </a:rPr>
              <a:t>基于代码贡献、文档编写等多维度数据，构建科学的影响力排名体系。  </a:t>
            </a:r>
          </a:p>
        </p:txBody>
        <p:extLst>
          <p:ext uri="http://schemas.baidu.com/office/drawing/2023/templateData">
            <bd:templateData xmlns:bd="http://schemas.baidu.com/office/drawing/2023/templateData">eyJfdGVtcGxhdGVEYXRhIjp7ImNvbnRlbnRUeXBlIjoiJGl0ZW0yX2MiLCJsaW5lQ291bnQiOiIyIiwid29yZENvdW50IjoiMzIifSwidGFnIjoiJGl0ZW0yX2MifQ==</bd:templateData>
          </p:ext>
        </p:extLst>
      </p:sp>
      <p:sp>
        <p:nvSpPr>
          <p:cNvPr id="10" name="TextBox 10"/>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系统模块划分</a:t>
            </a:r>
          </a:p>
        </p:txBody>
        <p:extLst>
          <p:ext uri="http://schemas.baidu.com/office/drawing/2023/templateData">
            <bd:templateData xmlns:bd="http://schemas.baidu.com/office/drawing/2023/templateData">eyJfdGVtcGxhdGVEYXRhIjp7ImNvbnRlbnRUeXBlIjoiJHRpdGxlIiwibGluZUNvdW50IjoiMSIsIndvcmRDb3VudCI6IjI4In0sInRhZyI6IiR0aXRsZSJ9</bd:templateData>
          </p:ext>
        </p:extLst>
      </p:sp>
      <p:sp>
        <p:nvSpPr>
          <p:cNvPr id="11" name="AutoShape 11"/>
          <p:cNvSpPr/>
          <p:nvPr/>
        </p:nvSpPr>
        <p:spPr>
          <a:xfrm rot="0">
            <a:off x="5267801" y="3491989"/>
            <a:ext cx="238125" cy="238125"/>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2" name="AutoShape 12"/>
          <p:cNvSpPr/>
          <p:nvPr/>
        </p:nvSpPr>
        <p:spPr>
          <a:xfrm rot="0">
            <a:off x="5267801" y="5117897"/>
            <a:ext cx="238125" cy="238125"/>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Tree>
  </p:cSld>
  <p:clrMapOvr>
    <a:masterClrMapping/>
  </p:clrMapOvr>
  <p:extLst>
    <p:ext uri="http://schemas.baidu.com/office/drawing/2023/templateData">
      <bd:templateData xmlns:bd="http://schemas.baidu.com/office/drawing/2023/templateData">eyJtZCI6IiMjIOezu+e7n+aooeWdl+WIkuWIhlxuPHVybD57XCJ1cmxcIjogXCJodHRwczovL3dlbmt1LXN0cmF0ZWd5LXBwdC1zZHBpYy5jZG4uYmNlYm9zLmNvbS9wcHRfY2hhcnQvMjAyNS0xMi0yNy8yODkxODg5NjMxMjEyMjdfMjQ1MDk2NjQzMDIxMjI3XzY0YTdiY2ZkZDgxNjQ4Nzc4NDU1NzliYTBhNGI1MDA2LnBuZz9hdXRob3JpemF0aW9uPWJjZS1hdXRoLXYxJTJGZmExMTI2ZTkxNDg5NDAxZmE3Y2M4NTA0NWNlNzE3OWUlMkYyMDI1LTEyLTI3VDA1JTNBMTclM0EzMVolMkYtMSUyRmhvc3QlMkZhNDhhMzY5YjQxODZkYTA1NGVkZDJiYmIyMThlM2JkNGE5OWQwMGI2Nzg2MGM3ZTI0MjI1M2VmYTFlZjQ3NmQ4XCIsIFwid2lkdGhcIjogODYwLCBcImhlaWdodFwiOiA4MDB9XG4jIyMg5qih5Z2X5YyW5p625p6E6K6+6K6hXG7ns7vnu5/pgJrov4fmlbDmja7mlLbpm4bjgIHliIbmnpDlpITnkIbjgIHor4TkvLDop4TliJnlkoznu5PmnpzovpPlh7rlm5vlpKfmoLjlv4PmqKHlnZflrp7njrDpq5jmlYjljY/lkIzjgIIgIFxuIyMjIOeyvuWHhuW9seWTjeWKm+ivhOS8sFxu5Z+65LqO5Luj56CB6LSh54yu44CB5paH5qGj57yW5YaZ562J5aSa57u05bqm5pWw5o2u77yM5p6E5bu656eR5a2m55qE5b2x5ZON5Yqb5o6S5ZCN5L2T57O744CCICBcbiMjIyDlhajmtYHnqIvmnI3liqHmlK/mjIFcbuimhuebluaVsOaNruWPr+inhuWMluOAgeaKpeWRiueUn+aIkOWIsOadg+mZkOeuoeeQhu+8jOW9ouaIkOmXreeOr+acjeWKoemTvu+8jOaPkOWNh+eUqOaIt+S9k+mqjOOAgiIsInRwbGlkIjoiNjgiLCJ0cGxOYW1lIjoibGlzdDNfSW1nMSIsImVkaXRlZCI6ImZhbHNlIn0=</bd:templateData>
    </p:ext>
  </p:extLst>
</p:sld>
</file>

<file path=ppt/slides/slide9.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3947160" y="1300388"/>
            <a:ext cx="4297680" cy="1522429"/>
          </a:xfrm>
          <a:prstGeom prst="rect">
            <a:avLst/>
          </a:prstGeom>
          <a:ln/>
        </p:spPr>
        <p:txBody>
          <a:bodyPr anchor="ctr" anchorCtr="0" bIns="45720" lIns="91440" rIns="91440" rtlCol="0" tIns="45720" vert="horz" wrap="square">
            <a:normAutofit/>
          </a:bodyPr>
          <a:lstStyle/>
          <a:p>
            <a:pPr algn="ctr">
              <a:lnSpc>
                <a:spcPct val="100000"/>
              </a:lnSpc>
              <a:spcBef>
                <a:spcPts val="375"/>
              </a:spcBef>
            </a:pPr>
            <a:r>
              <a:rPr b="1" lang="en-US" sz="7050">
                <a:solidFill>
                  <a:srgbClr val="1ACA6E">
                    <a:alpha val="100000"/>
                  </a:srgbClr>
                </a:solidFill>
                <a:latin typeface="Noto Sans SC"/>
                <a:ea typeface="Noto Sans SC"/>
                <a:cs typeface="Noto Sans SC"/>
              </a:rPr>
              <a:t>03</a:t>
            </a:r>
          </a:p>
        </p:txBody>
        <p:extLst>
          <p:ext uri="http://schemas.baidu.com/office/drawing/2023/templateData">
            <bd:templateData xmlns:bd="http://schemas.baidu.com/office/drawing/2023/templateData">eyJfdGVtcGxhdGVEYXRhIjp7ImNvbnRlbnRUeXBlIjoiJG51bWJlciIsImxpbmVDb3VudCI6IjEiLCJ3b3JkQ291bnQiOiIzIn0sInRhZyI6Im5vRWRpdCJ9</bd:templateData>
          </p:ext>
        </p:extLst>
      </p:sp>
      <p:sp>
        <p:nvSpPr>
          <p:cNvPr id="3" name="TextBox 3"/>
          <p:cNvSpPr txBox="1"/>
          <p:nvPr/>
        </p:nvSpPr>
        <p:spPr>
          <a:xfrm rot="0">
            <a:off x="1811474" y="2886383"/>
            <a:ext cx="8569053" cy="2874949"/>
          </a:xfrm>
          <a:prstGeom prst="rect">
            <a:avLst/>
          </a:prstGeom>
          <a:ln/>
        </p:spPr>
        <p:txBody>
          <a:bodyPr anchor="t" anchorCtr="0" bIns="45720" lIns="91440" rIns="91440" rtlCol="0" tIns="45720" vert="horz" wrap="square">
            <a:noAutofit/>
          </a:bodyPr>
          <a:lstStyle/>
          <a:p>
            <a:pPr algn="ctr">
              <a:lnSpc>
                <a:spcPct val="100000"/>
              </a:lnSpc>
              <a:spcBef>
                <a:spcPts val="375"/>
              </a:spcBef>
            </a:pPr>
            <a:r>
              <a:rPr b="1" lang="en-US" sz="5250">
                <a:solidFill>
                  <a:srgbClr val="152815">
                    <a:alpha val="100000"/>
                  </a:srgbClr>
                </a:solidFill>
                <a:latin typeface="Noto Sans SC"/>
                <a:ea typeface="Noto Sans SC"/>
                <a:cs typeface="Noto Sans SC"/>
              </a:rPr>
              <a:t>核心功能实现</a:t>
            </a:r>
          </a:p>
        </p:txBody>
        <p:extLst>
          <p:ext uri="http://schemas.baidu.com/office/drawing/2023/templateData">
            <bd:templateData xmlns:bd="http://schemas.baidu.com/office/drawing/2023/templateData">eyJfdGVtcGxhdGVEYXRhIjp7ImNvbnRlbnRUeXBlIjoiJHRpdGxlIiwibGluZUNvdW50IjoiMyIsIndvcmRDb3VudCI6IjExIn0sInRhZyI6IiR0aXRsZSJ9</bd:templateData>
          </p:ext>
        </p:extLst>
      </p:sp>
    </p:spTree>
  </p:cSld>
  <p:clrMapOvr>
    <a:masterClrMapping/>
  </p:clrMapOvr>
  <p:extLst>
    <p:ext uri="http://schemas.baidu.com/office/drawing/2023/templateData">
      <bd:templateData xmlns:bd="http://schemas.baidu.com/office/drawing/2023/templateData">eyJtZCI6IiMjIOaguOW/g+WKn+iDveWunueOsCIsInRwbGlkIjoiNjgiLCJ0cGxOYW1lIjoiaDJ0aXRsZV82OGdsYXNzIiwiZWRpdGVkIjoiZmFsc2UifQ==</bd:templateData>
    </p:ext>
  </p:extLst>
</p:sld>
</file>

<file path=ppt/slides/slide10.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Freeform 2"/>
          <p:cNvSpPr/>
          <p:nvPr/>
        </p:nvSpPr>
        <p:spPr>
          <a:xfrm rot="0">
            <a:off x="6032113" y="5184323"/>
            <a:ext cx="2429542" cy="1127284"/>
          </a:xfrm>
          <a:custGeom>
            <a:avLst/>
            <a:gdLst/>
            <a:ahLst/>
            <a:cxnLst/>
            <a:rect b="b" l="l" r="r" t="t"/>
            <a:pathLst>
              <a:path h="135" w="292">
                <a:moveTo>
                  <a:pt x="130" y="19"/>
                </a:moveTo>
                <a:cubicBezTo>
                  <a:pt x="75" y="38"/>
                  <a:pt x="31" y="73"/>
                  <a:pt x="0" y="118"/>
                </a:cubicBezTo>
                <a:cubicBezTo>
                  <a:pt x="52" y="134"/>
                  <a:pt x="108" y="135"/>
                  <a:pt x="163" y="116"/>
                </a:cubicBezTo>
                <a:cubicBezTo>
                  <a:pt x="218" y="97"/>
                  <a:pt x="262" y="61"/>
                  <a:pt x="292" y="17"/>
                </a:cubicBezTo>
                <a:cubicBezTo>
                  <a:pt x="241" y="0"/>
                  <a:pt x="184" y="0"/>
                  <a:pt x="130" y="19"/>
                </a:cubicBezTo>
              </a:path>
            </a:pathLst>
          </a:cu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3" name="Freeform 3"/>
          <p:cNvSpPr/>
          <p:nvPr/>
        </p:nvSpPr>
        <p:spPr>
          <a:xfrm rot="0">
            <a:off x="6032113" y="4073042"/>
            <a:ext cx="1515142" cy="2095595"/>
          </a:xfrm>
          <a:custGeom>
            <a:avLst/>
            <a:gdLst/>
            <a:ahLst/>
            <a:cxnLst/>
            <a:rect b="b" l="l" r="r" t="t"/>
            <a:pathLst>
              <a:path h="251" w="182">
                <a:moveTo>
                  <a:pt x="49" y="96"/>
                </a:moveTo>
                <a:cubicBezTo>
                  <a:pt x="15" y="143"/>
                  <a:pt x="0" y="197"/>
                  <a:pt x="1" y="251"/>
                </a:cubicBezTo>
                <a:cubicBezTo>
                  <a:pt x="52" y="235"/>
                  <a:pt x="99" y="203"/>
                  <a:pt x="132" y="156"/>
                </a:cubicBezTo>
                <a:cubicBezTo>
                  <a:pt x="166" y="109"/>
                  <a:pt x="182" y="54"/>
                  <a:pt x="181" y="0"/>
                </a:cubicBezTo>
                <a:cubicBezTo>
                  <a:pt x="130" y="16"/>
                  <a:pt x="83" y="49"/>
                  <a:pt x="49" y="96"/>
                </a:cubicBezTo>
              </a:path>
            </a:pathLst>
          </a:custGeom>
          <a:solidFill>
            <a:schemeClr val="accent1">
              <a:alpha val="60000"/>
            </a:schemeClr>
          </a:solidFill>
          <a:ln/>
        </p:spPr>
        <p:extLst>
          <p:ext uri="http://schemas.baidu.com/office/drawing/2023/templateData">
            <bd:templateData xmlns:bd="http://schemas.baidu.com/office/drawing/2023/templateData">eyJ0YWciOiJub0VkaXQifQ==</bd:templateData>
          </p:ext>
        </p:extLst>
      </p:sp>
      <p:sp>
        <p:nvSpPr>
          <p:cNvPr id="4" name="Freeform 4"/>
          <p:cNvSpPr/>
          <p:nvPr/>
        </p:nvSpPr>
        <p:spPr>
          <a:xfrm rot="0">
            <a:off x="3612763" y="5184323"/>
            <a:ext cx="2419350" cy="1127284"/>
          </a:xfrm>
          <a:custGeom>
            <a:avLst/>
            <a:gdLst/>
            <a:ahLst/>
            <a:cxnLst/>
            <a:rect b="b" l="l" r="r" t="t"/>
            <a:pathLst>
              <a:path h="135" w="291">
                <a:moveTo>
                  <a:pt x="162" y="19"/>
                </a:moveTo>
                <a:cubicBezTo>
                  <a:pt x="217" y="38"/>
                  <a:pt x="261" y="73"/>
                  <a:pt x="291" y="118"/>
                </a:cubicBezTo>
                <a:cubicBezTo>
                  <a:pt x="240" y="134"/>
                  <a:pt x="184" y="135"/>
                  <a:pt x="129" y="116"/>
                </a:cubicBezTo>
                <a:cubicBezTo>
                  <a:pt x="74" y="97"/>
                  <a:pt x="30" y="61"/>
                  <a:pt x="0" y="17"/>
                </a:cubicBezTo>
                <a:cubicBezTo>
                  <a:pt x="51" y="0"/>
                  <a:pt x="108" y="0"/>
                  <a:pt x="162" y="19"/>
                </a:cubicBezTo>
              </a:path>
            </a:pathLst>
          </a:cu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5" name="Freeform 5"/>
          <p:cNvSpPr/>
          <p:nvPr/>
        </p:nvSpPr>
        <p:spPr>
          <a:xfrm rot="0">
            <a:off x="4527163" y="4073042"/>
            <a:ext cx="1513713" cy="2095595"/>
          </a:xfrm>
          <a:custGeom>
            <a:avLst/>
            <a:gdLst/>
            <a:ahLst/>
            <a:cxnLst/>
            <a:rect b="b" l="l" r="r" t="t"/>
            <a:pathLst>
              <a:path h="251" w="182">
                <a:moveTo>
                  <a:pt x="133" y="96"/>
                </a:moveTo>
                <a:cubicBezTo>
                  <a:pt x="167" y="143"/>
                  <a:pt x="182" y="197"/>
                  <a:pt x="181" y="251"/>
                </a:cubicBezTo>
                <a:cubicBezTo>
                  <a:pt x="130" y="235"/>
                  <a:pt x="83" y="203"/>
                  <a:pt x="50" y="156"/>
                </a:cubicBezTo>
                <a:cubicBezTo>
                  <a:pt x="16" y="109"/>
                  <a:pt x="0" y="54"/>
                  <a:pt x="1" y="0"/>
                </a:cubicBezTo>
                <a:cubicBezTo>
                  <a:pt x="52" y="16"/>
                  <a:pt x="99" y="49"/>
                  <a:pt x="133" y="96"/>
                </a:cubicBezTo>
              </a:path>
            </a:pathLst>
          </a:custGeom>
          <a:solidFill>
            <a:schemeClr val="accent1">
              <a:alpha val="60000"/>
            </a:schemeClr>
          </a:solidFill>
          <a:ln/>
        </p:spPr>
        <p:extLst>
          <p:ext uri="http://schemas.baidu.com/office/drawing/2023/templateData">
            <bd:templateData xmlns:bd="http://schemas.baidu.com/office/drawing/2023/templateData">eyJ0YWciOiJub0VkaXQifQ==</bd:templateData>
          </p:ext>
        </p:extLst>
      </p:sp>
      <p:sp>
        <p:nvSpPr>
          <p:cNvPr id="6" name="Freeform 6"/>
          <p:cNvSpPr/>
          <p:nvPr/>
        </p:nvSpPr>
        <p:spPr>
          <a:xfrm rot="0">
            <a:off x="5609203" y="3588886"/>
            <a:ext cx="856012" cy="2579751"/>
          </a:xfrm>
          <a:custGeom>
            <a:avLst/>
            <a:gdLst/>
            <a:ahLst/>
            <a:cxnLst/>
            <a:rect b="b" l="l" r="r" t="t"/>
            <a:pathLst>
              <a:path h="309" w="103">
                <a:moveTo>
                  <a:pt x="0" y="154"/>
                </a:moveTo>
                <a:cubicBezTo>
                  <a:pt x="0" y="212"/>
                  <a:pt x="19" y="266"/>
                  <a:pt x="51" y="309"/>
                </a:cubicBezTo>
                <a:cubicBezTo>
                  <a:pt x="84" y="266"/>
                  <a:pt x="103" y="212"/>
                  <a:pt x="103" y="154"/>
                </a:cubicBezTo>
                <a:cubicBezTo>
                  <a:pt x="103" y="97"/>
                  <a:pt x="84" y="43"/>
                  <a:pt x="51" y="0"/>
                </a:cubicBezTo>
                <a:cubicBezTo>
                  <a:pt x="19" y="43"/>
                  <a:pt x="0" y="97"/>
                  <a:pt x="0" y="154"/>
                </a:cubicBezTo>
              </a:path>
            </a:pathLst>
          </a:cu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7" name="TextBox 7"/>
          <p:cNvSpPr txBox="1"/>
          <p:nvPr/>
        </p:nvSpPr>
        <p:spPr>
          <a:xfrm rot="0">
            <a:off x="463378" y="4535812"/>
            <a:ext cx="2931336" cy="490334"/>
          </a:xfrm>
          <a:prstGeom prst="rect">
            <a:avLst/>
          </a:prstGeom>
          <a:ln/>
        </p:spPr>
        <p:txBody>
          <a:bodyPr anchor="ctr" anchorCtr="0" bIns="33052" lIns="66008" rIns="66008" rtlCol="0" tIns="33052" vert="horz" wrap="square">
            <a:noAutofit/>
          </a:bodyPr>
          <a:lstStyle/>
          <a:p>
            <a:pPr algn="ctr">
              <a:lnSpc>
                <a:spcPct val="120000"/>
              </a:lnSpc>
            </a:pPr>
            <a:r>
              <a:rPr b="1" lang="en-US" sz="2100">
                <a:solidFill>
                  <a:schemeClr val="accent1">
                    <a:alpha val="100000"/>
                  </a:schemeClr>
                </a:solidFill>
                <a:latin typeface="Noto Sans SC"/>
                <a:ea typeface="Noto Sans SC"/>
                <a:cs typeface="Noto Sans SC"/>
              </a:rPr>
              <a:t>代码贡献权重计算</a:t>
            </a:r>
          </a:p>
        </p:txBody>
        <p:extLst>
          <p:ext uri="http://schemas.baidu.com/office/drawing/2023/templateData">
            <bd:templateData xmlns:bd="http://schemas.baidu.com/office/drawing/2023/templateData">eyJfdGVtcGxhdGVEYXRhIjp7ImNvbnRlbnRUeXBlIjoiJGl0ZW0xX3RpdGxlIiwibGluZUNvdW50IjoiMSIsIndvcmRDb3VudCI6IjkifSwidGFnIjoiJGl0ZW0xX3RpdGxlIn0=</bd:templateData>
          </p:ext>
        </p:extLst>
      </p:sp>
      <p:sp>
        <p:nvSpPr>
          <p:cNvPr id="8" name="TextBox 8"/>
          <p:cNvSpPr txBox="1"/>
          <p:nvPr/>
        </p:nvSpPr>
        <p:spPr>
          <a:xfrm rot="0">
            <a:off x="449597" y="5004954"/>
            <a:ext cx="2931336" cy="1398504"/>
          </a:xfrm>
          <a:prstGeom prst="rect">
            <a:avLst/>
          </a:prstGeom>
          <a:ln/>
        </p:spPr>
        <p:txBody>
          <a:bodyPr anchor="t" anchorCtr="0" bIns="33052" lIns="66008" rIns="66008" rtlCol="0" tIns="33052" vert="horz" wrap="square">
            <a:noAutofit/>
          </a:bodyPr>
          <a:lstStyle/>
          <a:p>
            <a:pPr algn="ctr">
              <a:lnSpc>
                <a:spcPct val="140000"/>
              </a:lnSpc>
            </a:pPr>
            <a:r>
              <a:rPr lang="en-US" sz="1400">
                <a:solidFill>
                  <a:schemeClr val="dk1">
                    <a:alpha val="100000"/>
                  </a:schemeClr>
                </a:solidFill>
                <a:latin typeface="Noto Sans SC"/>
                <a:ea typeface="Noto Sans SC"/>
                <a:cs typeface="Noto Sans SC"/>
              </a:rPr>
              <a:t>通过分析提交的代码行数、修复的缺陷数量以及实现的特性复杂度，量化开发者的技术贡献价值。</a:t>
            </a:r>
          </a:p>
        </p:txBody>
        <p:extLst>
          <p:ext uri="http://schemas.baidu.com/office/drawing/2023/templateData">
            <bd:templateData xmlns:bd="http://schemas.baidu.com/office/drawing/2023/templateData">eyJfdGVtcGxhdGVEYXRhIjp7ImNvbnRlbnRUeXBlIjoiJGl0ZW0xX2MiLCJsaW5lQ291bnQiOiI0Iiwid29yZENvdW50IjoiMTQifSwidGFnIjoiJGl0ZW0xX2MifQ==</bd:templateData>
          </p:ext>
        </p:extLst>
      </p:sp>
      <p:sp>
        <p:nvSpPr>
          <p:cNvPr id="9" name="TextBox 9"/>
          <p:cNvSpPr txBox="1"/>
          <p:nvPr/>
        </p:nvSpPr>
        <p:spPr>
          <a:xfrm rot="0">
            <a:off x="1288216" y="2422580"/>
            <a:ext cx="2931336" cy="490334"/>
          </a:xfrm>
          <a:prstGeom prst="rect">
            <a:avLst/>
          </a:prstGeom>
          <a:ln/>
        </p:spPr>
        <p:txBody>
          <a:bodyPr anchor="ctr" anchorCtr="0" bIns="33052" lIns="66008" rIns="66008" rtlCol="0" tIns="33052" vert="horz" wrap="square">
            <a:noAutofit/>
          </a:bodyPr>
          <a:lstStyle/>
          <a:p>
            <a:pPr algn="ctr">
              <a:lnSpc>
                <a:spcPct val="120000"/>
              </a:lnSpc>
            </a:pPr>
            <a:r>
              <a:rPr b="1" lang="en-US" sz="2100">
                <a:solidFill>
                  <a:schemeClr val="accent1">
                    <a:alpha val="100000"/>
                  </a:schemeClr>
                </a:solidFill>
                <a:latin typeface="Noto Sans SC"/>
                <a:ea typeface="Noto Sans SC"/>
                <a:cs typeface="Noto Sans SC"/>
              </a:rPr>
              <a:t>社区互动影响力评估</a:t>
            </a:r>
          </a:p>
        </p:txBody>
        <p:extLst>
          <p:ext uri="http://schemas.baidu.com/office/drawing/2023/templateData">
            <bd:templateData xmlns:bd="http://schemas.baidu.com/office/drawing/2023/templateData">eyJfdGVtcGxhdGVEYXRhIjp7ImNvbnRlbnRUeXBlIjoiJGl0ZW0yX3RpdGxlIiwibGluZUNvdW50IjoiMSIsIndvcmRDb3VudCI6IjkifSwidGFnIjoiJGl0ZW0yX3RpdGxlIn0=</bd:templateData>
          </p:ext>
        </p:extLst>
      </p:sp>
      <p:sp>
        <p:nvSpPr>
          <p:cNvPr id="10" name="TextBox 10"/>
          <p:cNvSpPr txBox="1"/>
          <p:nvPr/>
        </p:nvSpPr>
        <p:spPr>
          <a:xfrm rot="0">
            <a:off x="1274435" y="2891723"/>
            <a:ext cx="2931336" cy="1398504"/>
          </a:xfrm>
          <a:prstGeom prst="rect">
            <a:avLst/>
          </a:prstGeom>
          <a:ln/>
        </p:spPr>
        <p:txBody>
          <a:bodyPr anchor="t" anchorCtr="0" bIns="33052" lIns="66008" rIns="66008" rtlCol="0" tIns="33052" vert="horz" wrap="square">
            <a:noAutofit/>
          </a:bodyPr>
          <a:lstStyle/>
          <a:p>
            <a:pPr algn="ctr">
              <a:lnSpc>
                <a:spcPct val="140000"/>
              </a:lnSpc>
            </a:pPr>
            <a:r>
              <a:rPr lang="en-US" sz="1400">
                <a:solidFill>
                  <a:schemeClr val="dk1">
                    <a:alpha val="100000"/>
                  </a:schemeClr>
                </a:solidFill>
                <a:latin typeface="Noto Sans SC"/>
                <a:ea typeface="Noto Sans SC"/>
                <a:cs typeface="Noto Sans SC"/>
              </a:rPr>
              <a:t>综合考虑开发者参与讨论的议题重要性、解答问题的准确度以及在邮件列表中的活跃程度。</a:t>
            </a:r>
          </a:p>
        </p:txBody>
        <p:extLst>
          <p:ext uri="http://schemas.baidu.com/office/drawing/2023/templateData">
            <bd:templateData xmlns:bd="http://schemas.baidu.com/office/drawing/2023/templateData">eyJfdGVtcGxhdGVEYXRhIjp7ImNvbnRlbnRUeXBlIjoiJGl0ZW0yX2MiLCJsaW5lQ291bnQiOiI0Iiwid29yZENvdW50IjoiMTQifSwidGFnIjoiJGl0ZW0yX2MifQ==</bd:templateData>
          </p:ext>
        </p:extLst>
      </p:sp>
      <p:sp>
        <p:nvSpPr>
          <p:cNvPr id="11" name="TextBox 11"/>
          <p:cNvSpPr txBox="1"/>
          <p:nvPr/>
        </p:nvSpPr>
        <p:spPr>
          <a:xfrm rot="0">
            <a:off x="4540944" y="1591726"/>
            <a:ext cx="3020092" cy="490334"/>
          </a:xfrm>
          <a:prstGeom prst="rect">
            <a:avLst/>
          </a:prstGeom>
          <a:ln/>
        </p:spPr>
        <p:txBody>
          <a:bodyPr anchor="ctr" anchorCtr="0" bIns="33052" lIns="66008" rIns="66008" rtlCol="0" tIns="33052" vert="horz" wrap="square">
            <a:noAutofit/>
          </a:bodyPr>
          <a:lstStyle/>
          <a:p>
            <a:pPr algn="ctr">
              <a:lnSpc>
                <a:spcPct val="120000"/>
              </a:lnSpc>
            </a:pPr>
            <a:r>
              <a:rPr b="1" lang="en-US" sz="2100">
                <a:solidFill>
                  <a:schemeClr val="accent1">
                    <a:alpha val="100000"/>
                  </a:schemeClr>
                </a:solidFill>
                <a:latin typeface="Noto Sans SC"/>
                <a:ea typeface="Noto Sans SC"/>
                <a:cs typeface="Noto Sans SC"/>
              </a:rPr>
              <a:t>项目维护参与度</a:t>
            </a:r>
          </a:p>
        </p:txBody>
        <p:extLst>
          <p:ext uri="http://schemas.baidu.com/office/drawing/2023/templateData">
            <bd:templateData xmlns:bd="http://schemas.baidu.com/office/drawing/2023/templateData">eyJfdGVtcGxhdGVEYXRhIjp7ImNvbnRlbnRUeXBlIjoiJGl0ZW0zX3RpdGxlIiwibGluZUNvdW50IjoiMSIsIndvcmRDb3VudCI6IjkifSwidGFnIjoiJGl0ZW0zX3RpdGxlIn0=</bd:templateData>
          </p:ext>
        </p:extLst>
      </p:sp>
      <p:sp>
        <p:nvSpPr>
          <p:cNvPr id="12" name="TextBox 12"/>
          <p:cNvSpPr txBox="1"/>
          <p:nvPr/>
        </p:nvSpPr>
        <p:spPr>
          <a:xfrm rot="0">
            <a:off x="4564095" y="2060868"/>
            <a:ext cx="2931336" cy="1398504"/>
          </a:xfrm>
          <a:prstGeom prst="rect">
            <a:avLst/>
          </a:prstGeom>
          <a:ln/>
        </p:spPr>
        <p:txBody>
          <a:bodyPr anchor="t" anchorCtr="0" bIns="33052" lIns="66008" rIns="66008" rtlCol="0" tIns="33052" vert="horz" wrap="square">
            <a:noAutofit/>
          </a:bodyPr>
          <a:lstStyle/>
          <a:p>
            <a:pPr algn="ctr">
              <a:lnSpc>
                <a:spcPct val="140000"/>
              </a:lnSpc>
            </a:pPr>
            <a:r>
              <a:rPr lang="en-US" sz="1400">
                <a:solidFill>
                  <a:schemeClr val="dk1">
                    <a:alpha val="100000"/>
                  </a:schemeClr>
                </a:solidFill>
                <a:latin typeface="Noto Sans SC"/>
                <a:ea typeface="Noto Sans SC"/>
                <a:cs typeface="Noto Sans SC"/>
              </a:rPr>
              <a:t>评估开发者参与代码审查的频率、提出架构改进建议的质量以及版本发布管理中的决策作用。</a:t>
            </a:r>
          </a:p>
        </p:txBody>
        <p:extLst>
          <p:ext uri="http://schemas.baidu.com/office/drawing/2023/templateData">
            <bd:templateData xmlns:bd="http://schemas.baidu.com/office/drawing/2023/templateData">eyJfdGVtcGxhdGVEYXRhIjp7ImNvbnRlbnRUeXBlIjoiJGl0ZW0zX2MiLCJsaW5lQ291bnQiOiI0Iiwid29yZENvdW50IjoiMTQifSwidGFnIjoiJGl0ZW0zX2MifQ==</bd:templateData>
          </p:ext>
        </p:extLst>
      </p:sp>
      <p:sp>
        <p:nvSpPr>
          <p:cNvPr id="13" name="TextBox 13"/>
          <p:cNvSpPr txBox="1"/>
          <p:nvPr/>
        </p:nvSpPr>
        <p:spPr>
          <a:xfrm rot="0">
            <a:off x="8261908" y="2422580"/>
            <a:ext cx="2931336" cy="490334"/>
          </a:xfrm>
          <a:prstGeom prst="rect">
            <a:avLst/>
          </a:prstGeom>
          <a:ln/>
        </p:spPr>
        <p:txBody>
          <a:bodyPr anchor="ctr" anchorCtr="0" bIns="33052" lIns="66008" rIns="66008" rtlCol="0" tIns="33052" vert="horz" wrap="square">
            <a:noAutofit/>
          </a:bodyPr>
          <a:lstStyle/>
          <a:p>
            <a:pPr algn="ctr">
              <a:lnSpc>
                <a:spcPct val="120000"/>
              </a:lnSpc>
            </a:pPr>
            <a:r>
              <a:rPr b="1" lang="en-US" sz="2100">
                <a:solidFill>
                  <a:schemeClr val="accent1">
                    <a:alpha val="100000"/>
                  </a:schemeClr>
                </a:solidFill>
                <a:latin typeface="Noto Sans SC"/>
                <a:ea typeface="Noto Sans SC"/>
                <a:cs typeface="Noto Sans SC"/>
              </a:rPr>
              <a:t>知识传播影响力</a:t>
            </a:r>
          </a:p>
        </p:txBody>
        <p:extLst>
          <p:ext uri="http://schemas.baidu.com/office/drawing/2023/templateData">
            <bd:templateData xmlns:bd="http://schemas.baidu.com/office/drawing/2023/templateData">eyJfdGVtcGxhdGVEYXRhIjp7ImNvbnRlbnRUeXBlIjoiJGl0ZW00X3RpdGxlIiwibGluZUNvdW50IjoiMSIsIndvcmRDb3VudCI6IjkifSwidGFnIjoiJGl0ZW00X3RpdGxlIn0=</bd:templateData>
          </p:ext>
        </p:extLst>
      </p:sp>
      <p:sp>
        <p:nvSpPr>
          <p:cNvPr id="14" name="TextBox 14"/>
          <p:cNvSpPr txBox="1"/>
          <p:nvPr/>
        </p:nvSpPr>
        <p:spPr>
          <a:xfrm rot="0">
            <a:off x="8248127" y="2891723"/>
            <a:ext cx="2931336" cy="1398504"/>
          </a:xfrm>
          <a:prstGeom prst="rect">
            <a:avLst/>
          </a:prstGeom>
          <a:ln/>
        </p:spPr>
        <p:txBody>
          <a:bodyPr anchor="t" anchorCtr="0" bIns="33052" lIns="66008" rIns="66008" rtlCol="0" tIns="33052" vert="horz" wrap="square">
            <a:noAutofit/>
          </a:bodyPr>
          <a:lstStyle/>
          <a:p>
            <a:pPr algn="ctr">
              <a:lnSpc>
                <a:spcPct val="140000"/>
              </a:lnSpc>
            </a:pPr>
            <a:r>
              <a:rPr lang="en-US" sz="1400">
                <a:solidFill>
                  <a:schemeClr val="dk1">
                    <a:alpha val="100000"/>
                  </a:schemeClr>
                </a:solidFill>
                <a:latin typeface="Noto Sans SC"/>
                <a:ea typeface="Noto Sans SC"/>
                <a:cs typeface="Noto Sans SC"/>
              </a:rPr>
              <a:t>统计开发者撰写技术文档的完整性、举办培训讲座的频次以及在外部会议中的演讲影响力。</a:t>
            </a:r>
          </a:p>
        </p:txBody>
        <p:extLst>
          <p:ext uri="http://schemas.baidu.com/office/drawing/2023/templateData">
            <bd:templateData xmlns:bd="http://schemas.baidu.com/office/drawing/2023/templateData">eyJfdGVtcGxhdGVEYXRhIjp7ImNvbnRlbnRUeXBlIjoiJGl0ZW00X2MiLCJsaW5lQ291bnQiOiI0Iiwid29yZENvdW50IjoiMTQifSwidGFnIjoiJGl0ZW00X2MifQ==</bd:templateData>
          </p:ext>
        </p:extLst>
      </p:sp>
      <p:sp>
        <p:nvSpPr>
          <p:cNvPr id="15" name="TextBox 15"/>
          <p:cNvSpPr txBox="1"/>
          <p:nvPr/>
        </p:nvSpPr>
        <p:spPr>
          <a:xfrm rot="0">
            <a:off x="8814029" y="4535812"/>
            <a:ext cx="2931336" cy="490334"/>
          </a:xfrm>
          <a:prstGeom prst="rect">
            <a:avLst/>
          </a:prstGeom>
          <a:ln/>
        </p:spPr>
        <p:txBody>
          <a:bodyPr anchor="ctr" anchorCtr="0" bIns="33052" lIns="66008" rIns="66008" rtlCol="0" tIns="33052" vert="horz" wrap="square">
            <a:noAutofit/>
          </a:bodyPr>
          <a:lstStyle/>
          <a:p>
            <a:pPr algn="ctr">
              <a:lnSpc>
                <a:spcPct val="120000"/>
              </a:lnSpc>
            </a:pPr>
            <a:r>
              <a:rPr b="1" lang="en-US" sz="2100">
                <a:solidFill>
                  <a:schemeClr val="accent1">
                    <a:alpha val="100000"/>
                  </a:schemeClr>
                </a:solidFill>
                <a:latin typeface="Noto Sans SC"/>
                <a:ea typeface="Noto Sans SC"/>
                <a:cs typeface="Noto Sans SC"/>
              </a:rPr>
              <a:t>生态建设贡献度</a:t>
            </a:r>
          </a:p>
        </p:txBody>
        <p:extLst>
          <p:ext uri="http://schemas.baidu.com/office/drawing/2023/templateData">
            <bd:templateData xmlns:bd="http://schemas.baidu.com/office/drawing/2023/templateData">eyJfdGVtcGxhdGVEYXRhIjp7ImNvbnRlbnRUeXBlIjoiJGl0ZW01X3RpdGxlIiwibGluZUNvdW50IjoiMSIsIndvcmRDb3VudCI6IjkifSwidGFnIjoiJGl0ZW01X3RpdGxlIn0=</bd:templateData>
          </p:ext>
        </p:extLst>
      </p:sp>
      <p:sp>
        <p:nvSpPr>
          <p:cNvPr id="16" name="TextBox 16"/>
          <p:cNvSpPr txBox="1"/>
          <p:nvPr/>
        </p:nvSpPr>
        <p:spPr>
          <a:xfrm rot="0">
            <a:off x="8800248" y="5004954"/>
            <a:ext cx="2931336" cy="1398504"/>
          </a:xfrm>
          <a:prstGeom prst="rect">
            <a:avLst/>
          </a:prstGeom>
          <a:ln/>
        </p:spPr>
        <p:txBody>
          <a:bodyPr anchor="t" anchorCtr="0" bIns="33052" lIns="66008" rIns="66008" rtlCol="0" tIns="33052" vert="horz" wrap="square">
            <a:noAutofit/>
          </a:bodyPr>
          <a:lstStyle/>
          <a:p>
            <a:pPr algn="ctr">
              <a:lnSpc>
                <a:spcPct val="140000"/>
              </a:lnSpc>
            </a:pPr>
            <a:r>
              <a:rPr lang="en-US" sz="1400">
                <a:solidFill>
                  <a:schemeClr val="dk1">
                    <a:alpha val="100000"/>
                  </a:schemeClr>
                </a:solidFill>
                <a:latin typeface="Noto Sans SC"/>
                <a:ea typeface="Noto Sans SC"/>
                <a:cs typeface="Noto Sans SC"/>
              </a:rPr>
              <a:t>分析开发者推动项目周边工具链建设的成效、促进跨项目协作的能力以及培养新贡献者的成果。</a:t>
            </a:r>
          </a:p>
        </p:txBody>
        <p:extLst>
          <p:ext uri="http://schemas.baidu.com/office/drawing/2023/templateData">
            <bd:templateData xmlns:bd="http://schemas.baidu.com/office/drawing/2023/templateData">eyJfdGVtcGxhdGVEYXRhIjp7ImNvbnRlbnRUeXBlIjoiJGl0ZW01X2MiLCJsaW5lQ291bnQiOiI0Iiwid29yZENvdW50IjoiMTQifSwidGFnIjoiJGl0ZW01X2MifQ==</bd:templateData>
          </p:ext>
        </p:extLst>
      </p:sp>
      <p:sp>
        <p:nvSpPr>
          <p:cNvPr id="17" name="TextBox 17"/>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贡献者影响力评估模型</a:t>
            </a:r>
          </a:p>
        </p:txBody>
        <p:extLst>
          <p:ext uri="http://schemas.baidu.com/office/drawing/2023/templateData">
            <bd:templateData xmlns:bd="http://schemas.baidu.com/office/drawing/2023/templateData">eyJfdGVtcGxhdGVEYXRhIjp7ImNvbnRlbnRUeXBlIjoiJHRpdGxlIiwibGluZUNvdW50IjoiMSIsIndvcmRDb3VudCI6IjI4In0sInRhZyI6IiR0aXRsZSJ9</bd:templateData>
          </p:ext>
        </p:extLst>
      </p:sp>
      <p:sp>
        <p:nvSpPr>
          <p:cNvPr id="18" name="TextBox 18"/>
          <p:cNvSpPr txBox="1"/>
          <p:nvPr/>
        </p:nvSpPr>
        <p:spPr>
          <a:xfrm rot="0">
            <a:off x="3794737" y="5266000"/>
            <a:ext cx="849630" cy="481965"/>
          </a:xfrm>
          <a:prstGeom prst="rect">
            <a:avLst/>
          </a:prstGeom>
          <a:ln/>
        </p:spPr>
        <p:txBody>
          <a:bodyPr anchor="ctr" anchorCtr="0" bIns="45720" lIns="91440" rIns="91440" rtlCol="0" tIns="45720" vert="horz" wrap="square">
            <a:spAutoFit/>
          </a:bodyPr>
          <a:lstStyle/>
          <a:p>
            <a:pPr algn="ctr">
              <a:lnSpc>
                <a:spcPct val="100000"/>
              </a:lnSpc>
              <a:spcBef>
                <a:spcPts val="375"/>
              </a:spcBef>
            </a:pPr>
            <a:r>
              <a:rPr lang="en-US" sz="2400">
                <a:solidFill>
                  <a:srgbClr val="FFFFFF">
                    <a:alpha val="100000"/>
                  </a:srgbClr>
                </a:solidFill>
                <a:latin typeface="Noto Sans SC"/>
                <a:ea typeface="Noto Sans SC"/>
                <a:cs typeface="Noto Sans SC"/>
              </a:rPr>
              <a:t>01</a:t>
            </a:r>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19" name="TextBox 19"/>
          <p:cNvSpPr txBox="1"/>
          <p:nvPr/>
        </p:nvSpPr>
        <p:spPr>
          <a:xfrm rot="0">
            <a:off x="4527163" y="4396796"/>
            <a:ext cx="849630" cy="481965"/>
          </a:xfrm>
          <a:prstGeom prst="rect">
            <a:avLst/>
          </a:prstGeom>
          <a:ln/>
        </p:spPr>
        <p:txBody>
          <a:bodyPr anchor="ctr" anchorCtr="0" bIns="45720" lIns="91440" rIns="91440" rtlCol="0" tIns="45720" vert="horz" wrap="square">
            <a:spAutoFit/>
          </a:bodyPr>
          <a:lstStyle/>
          <a:p>
            <a:pPr algn="ctr">
              <a:lnSpc>
                <a:spcPct val="100000"/>
              </a:lnSpc>
              <a:spcBef>
                <a:spcPts val="375"/>
              </a:spcBef>
            </a:pPr>
            <a:r>
              <a:rPr lang="en-US" sz="2400">
                <a:solidFill>
                  <a:srgbClr val="FFFFFF">
                    <a:alpha val="100000"/>
                  </a:srgbClr>
                </a:solidFill>
                <a:latin typeface="Noto Sans SC"/>
                <a:ea typeface="Noto Sans SC"/>
                <a:cs typeface="Noto Sans SC"/>
              </a:rPr>
              <a:t>02</a:t>
            </a:r>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20" name="TextBox 20"/>
          <p:cNvSpPr txBox="1"/>
          <p:nvPr/>
        </p:nvSpPr>
        <p:spPr>
          <a:xfrm rot="0">
            <a:off x="5607298" y="4073042"/>
            <a:ext cx="849630" cy="481965"/>
          </a:xfrm>
          <a:prstGeom prst="rect">
            <a:avLst/>
          </a:prstGeom>
          <a:ln/>
        </p:spPr>
        <p:txBody>
          <a:bodyPr anchor="ctr" anchorCtr="0" bIns="45720" lIns="91440" rIns="91440" rtlCol="0" tIns="45720" vert="horz" wrap="square">
            <a:spAutoFit/>
          </a:bodyPr>
          <a:lstStyle/>
          <a:p>
            <a:pPr algn="ctr">
              <a:lnSpc>
                <a:spcPct val="100000"/>
              </a:lnSpc>
              <a:spcBef>
                <a:spcPts val="375"/>
              </a:spcBef>
            </a:pPr>
            <a:r>
              <a:rPr lang="en-US" sz="2400">
                <a:solidFill>
                  <a:srgbClr val="FFFFFF">
                    <a:alpha val="100000"/>
                  </a:srgbClr>
                </a:solidFill>
                <a:latin typeface="Noto Sans SC"/>
                <a:ea typeface="Noto Sans SC"/>
                <a:cs typeface="Noto Sans SC"/>
              </a:rPr>
              <a:t>03</a:t>
            </a:r>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21" name="TextBox 21"/>
          <p:cNvSpPr txBox="1"/>
          <p:nvPr/>
        </p:nvSpPr>
        <p:spPr>
          <a:xfrm rot="0">
            <a:off x="6697625" y="4396796"/>
            <a:ext cx="849630" cy="481965"/>
          </a:xfrm>
          <a:prstGeom prst="rect">
            <a:avLst/>
          </a:prstGeom>
          <a:ln/>
        </p:spPr>
        <p:txBody>
          <a:bodyPr anchor="ctr" anchorCtr="0" bIns="45720" lIns="91440" rIns="91440" rtlCol="0" tIns="45720" vert="horz" wrap="square">
            <a:spAutoFit/>
          </a:bodyPr>
          <a:lstStyle/>
          <a:p>
            <a:pPr algn="ctr">
              <a:lnSpc>
                <a:spcPct val="100000"/>
              </a:lnSpc>
              <a:spcBef>
                <a:spcPts val="375"/>
              </a:spcBef>
            </a:pPr>
            <a:r>
              <a:rPr lang="en-US" sz="2400">
                <a:solidFill>
                  <a:srgbClr val="FFFFFF">
                    <a:alpha val="100000"/>
                  </a:srgbClr>
                </a:solidFill>
                <a:latin typeface="Noto Sans SC"/>
                <a:ea typeface="Noto Sans SC"/>
                <a:cs typeface="Noto Sans SC"/>
              </a:rPr>
              <a:t>04</a:t>
            </a:r>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22" name="TextBox 22"/>
          <p:cNvSpPr txBox="1"/>
          <p:nvPr/>
        </p:nvSpPr>
        <p:spPr>
          <a:xfrm rot="0">
            <a:off x="7495431" y="5266000"/>
            <a:ext cx="849630" cy="481965"/>
          </a:xfrm>
          <a:prstGeom prst="rect">
            <a:avLst/>
          </a:prstGeom>
          <a:ln/>
        </p:spPr>
        <p:txBody>
          <a:bodyPr anchor="ctr" anchorCtr="0" bIns="45720" lIns="91440" rIns="91440" rtlCol="0" tIns="45720" vert="horz" wrap="square">
            <a:spAutoFit/>
          </a:bodyPr>
          <a:lstStyle/>
          <a:p>
            <a:pPr algn="ctr">
              <a:lnSpc>
                <a:spcPct val="100000"/>
              </a:lnSpc>
              <a:spcBef>
                <a:spcPts val="375"/>
              </a:spcBef>
            </a:pPr>
            <a:r>
              <a:rPr lang="en-US" sz="2400">
                <a:solidFill>
                  <a:srgbClr val="FFFFFF">
                    <a:alpha val="100000"/>
                  </a:srgbClr>
                </a:solidFill>
                <a:latin typeface="Noto Sans SC"/>
                <a:ea typeface="Noto Sans SC"/>
                <a:cs typeface="Noto Sans SC"/>
              </a:rPr>
              <a:t>05</a:t>
            </a:r>
          </a:p>
        </p:txBody>
        <p:extLst>
          <p:ext uri="http://schemas.baidu.com/office/drawing/2023/templateData">
            <bd:templateData xmlns:bd="http://schemas.baidu.com/office/drawing/2023/templateData">eyJfdGVtcGxhdGVEYXRhIjp7ImxpbmVDb3VudCI6IjEiLCJ3b3JkQ291bnQiOiIyIn0sInRhZyI6Im5vRWRpdCJ9</bd:templateData>
          </p:ext>
        </p:extLst>
      </p:sp>
    </p:spTree>
  </p:cSld>
  <p:clrMapOvr>
    <a:masterClrMapping/>
  </p:clrMapOvr>
  <p:extLst>
    <p:ext uri="http://schemas.baidu.com/office/drawing/2023/templateData">
      <bd:templateData xmlns:bd="http://schemas.baidu.com/office/drawing/2023/templateData">eyJtZCI6IiMjIOi0oeeMruiAheW9seWTjeWKm+ivhOS8sOaooeWei1xuIyMjIOS7o+eggei0oeeMruadg+mHjeiuoeeul1xu6YCa6L+H5YiG5p6Q5o+Q5Lqk55qE5Luj56CB6KGM5pWw44CB5L+u5aSN55qE57y66Zm35pWw6YeP5Lul5Y+K5a6e546w55qE54m55oCn5aSN5p2C5bqm77yM6YeP5YyW5byA5Y+R6ICF55qE5oqA5pyv6LSh54yu5Lu35YC844CCXG4jIyMg56S+5Yy65LqS5Yqo5b2x5ZON5Yqb6K+E5LywXG7nu7zlkIjogIPomZHlvIDlj5HogIXlj4LkuI7orqjorrrnmoTorq7popjph43opoHmgKfjgIHop6PnrZTpl67popjnmoTlh4bnoa7luqbku6Xlj4rlnKjpgq7ku7bliJfooajkuK3nmoTmtLvot4PnqIvluqbjgIJcbiMjIyDpobnnm67nu7TmiqTlj4LkuI7luqZcbuivhOS8sOW8gOWPkeiAheWPguS4juS7o+eggeWuoeafpeeahOmikeeOh+OAgeaPkOWHuuaetuaehOaUuei/m+W7uuiurueahOi0qOmHj+S7peWPiueJiOacrOWPkeW4g+euoeeQhuS4reeahOWGs+etluS9nOeUqOOAglxuIyMjIOefpeivhuS8oOaSreW9seWTjeWKm1xu57uf6K6h5byA5Y+R6ICF5pKw5YaZ5oqA5pyv5paH5qGj55qE5a6M5pW05oCn44CB5Li+5Yqe5Z+56K6t6K6y5bqn55qE6aKR5qyh5Lul5Y+K5Zyo5aSW6YOo5Lya6K6u5Lit55qE5ryU6K6y5b2x5ZON5Yqb44CCXG4jIyMg55Sf5oCB5bu66K6+6LSh54yu5bqmXG7liIbmnpDlvIDlj5HogIXmjqjliqjpobnnm67lkajovrnlt6Xlhbfpk77lu7rorr7nmoTmiJDmlYjjgIHkv4Pov5vot6jpobnnm67ljY/kvZznmoTog73lipvku6Xlj4rln7nlhbvmlrDotKHnjK7ogIXnmoTmiJDmnpzjgIIiLCJ0cGxpZCI6IjY4IiwidHBsTmFtZSI6Imxpc3Q1XzIzMTIwMTAxIiwiZWRpdGVkIjoiZmFsc2UifQ==</bd:templateData>
    </p:ext>
  </p:extLst>
</p:sld>
</file>

<file path=ppt/slides/slide11.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Freeform 2"/>
          <p:cNvSpPr/>
          <p:nvPr/>
        </p:nvSpPr>
        <p:spPr>
          <a:xfrm flipH="1" rot="0">
            <a:off x="8949118" y="3014472"/>
            <a:ext cx="1251680" cy="814102"/>
          </a:xfrm>
          <a:custGeom>
            <a:avLst/>
            <a:gdLst/>
            <a:ahLst/>
            <a:cxnLst/>
            <a:rect b="b" l="l" r="r" t="t"/>
            <a:pathLst>
              <a:path h="814136" w="1251658">
                <a:moveTo>
                  <a:pt x="0" y="0"/>
                </a:moveTo>
                <a:lnTo>
                  <a:pt x="832225" y="0"/>
                </a:lnTo>
                <a:cubicBezTo>
                  <a:pt x="1063862" y="0"/>
                  <a:pt x="1251659" y="182260"/>
                  <a:pt x="1251659" y="407068"/>
                </a:cubicBezTo>
                <a:lnTo>
                  <a:pt x="1251659" y="407068"/>
                </a:lnTo>
                <a:cubicBezTo>
                  <a:pt x="1251659" y="631877"/>
                  <a:pt x="1063862" y="814137"/>
                  <a:pt x="832225" y="814137"/>
                </a:cubicBezTo>
                <a:lnTo>
                  <a:pt x="0" y="814137"/>
                </a:lnTo>
              </a:path>
            </a:pathLst>
          </a:custGeom>
          <a:noFill/>
          <a:ln w="12700">
            <a:solidFill>
              <a:schemeClr val="accent4">
                <a:alpha val="100000"/>
              </a:schemeClr>
            </a:solidFill>
            <a:prstDash val="sysDash"/>
          </a:ln>
        </p:spPr>
        <p:extLst>
          <p:ext uri="http://schemas.baidu.com/office/drawing/2023/templateData">
            <bd:templateData xmlns:bd="http://schemas.baidu.com/office/drawing/2023/templateData">eyJ0YWciOiJub0VkaXQifQ==</bd:templateData>
          </p:ext>
        </p:extLst>
      </p:sp>
      <p:sp>
        <p:nvSpPr>
          <p:cNvPr id="3" name="Freeform 3"/>
          <p:cNvSpPr/>
          <p:nvPr/>
        </p:nvSpPr>
        <p:spPr>
          <a:xfrm flipH="1" rot="0">
            <a:off x="8528780" y="2172462"/>
            <a:ext cx="1681734" cy="2487739"/>
          </a:xfrm>
          <a:custGeom>
            <a:avLst/>
            <a:gdLst/>
            <a:ahLst/>
            <a:cxnLst/>
            <a:rect b="b" l="l" r="r" t="t"/>
            <a:pathLst>
              <a:path h="2487753" w="1681695">
                <a:moveTo>
                  <a:pt x="0" y="0"/>
                </a:moveTo>
                <a:lnTo>
                  <a:pt x="632420" y="0"/>
                </a:lnTo>
                <a:cubicBezTo>
                  <a:pt x="1211929" y="0"/>
                  <a:pt x="1681696" y="469767"/>
                  <a:pt x="1681696" y="1049277"/>
                </a:cubicBezTo>
                <a:lnTo>
                  <a:pt x="1681696" y="1438477"/>
                </a:lnTo>
                <a:cubicBezTo>
                  <a:pt x="1681696" y="2017987"/>
                  <a:pt x="1211929" y="2487753"/>
                  <a:pt x="632420" y="2487753"/>
                </a:cubicBezTo>
                <a:lnTo>
                  <a:pt x="39229" y="2487753"/>
                </a:lnTo>
              </a:path>
            </a:pathLst>
          </a:custGeom>
          <a:noFill/>
          <a:ln w="12700">
            <a:solidFill>
              <a:schemeClr val="accent4">
                <a:alpha val="100000"/>
              </a:schemeClr>
            </a:solidFill>
            <a:prstDash val="sysDash"/>
          </a:ln>
        </p:spPr>
        <p:extLst>
          <p:ext uri="http://schemas.baidu.com/office/drawing/2023/templateData">
            <bd:templateData xmlns:bd="http://schemas.baidu.com/office/drawing/2023/templateData">eyJ0YWciOiJub0VkaXQifQ==</bd:templateData>
          </p:ext>
        </p:extLst>
      </p:sp>
      <p:sp>
        <p:nvSpPr>
          <p:cNvPr id="4" name="Freeform 4"/>
          <p:cNvSpPr/>
          <p:nvPr/>
        </p:nvSpPr>
        <p:spPr>
          <a:xfrm rot="0">
            <a:off x="2022062" y="3044285"/>
            <a:ext cx="1251680" cy="814102"/>
          </a:xfrm>
          <a:custGeom>
            <a:avLst/>
            <a:gdLst/>
            <a:ahLst/>
            <a:cxnLst/>
            <a:rect b="b" l="l" r="r" t="t"/>
            <a:pathLst>
              <a:path h="814136" w="1251658">
                <a:moveTo>
                  <a:pt x="0" y="0"/>
                </a:moveTo>
                <a:lnTo>
                  <a:pt x="832225" y="0"/>
                </a:lnTo>
                <a:cubicBezTo>
                  <a:pt x="1063862" y="0"/>
                  <a:pt x="1251659" y="182260"/>
                  <a:pt x="1251659" y="407068"/>
                </a:cubicBezTo>
                <a:lnTo>
                  <a:pt x="1251659" y="407068"/>
                </a:lnTo>
                <a:cubicBezTo>
                  <a:pt x="1251659" y="631877"/>
                  <a:pt x="1063862" y="814137"/>
                  <a:pt x="832225" y="814137"/>
                </a:cubicBezTo>
                <a:lnTo>
                  <a:pt x="0" y="814137"/>
                </a:lnTo>
              </a:path>
            </a:pathLst>
          </a:custGeom>
          <a:noFill/>
          <a:ln w="12700">
            <a:solidFill>
              <a:schemeClr val="accent4">
                <a:alpha val="100000"/>
              </a:schemeClr>
            </a:solidFill>
            <a:prstDash val="sysDash"/>
          </a:ln>
        </p:spPr>
        <p:extLst>
          <p:ext uri="http://schemas.baidu.com/office/drawing/2023/templateData">
            <bd:templateData xmlns:bd="http://schemas.baidu.com/office/drawing/2023/templateData">eyJ0YWciOiJub0VkaXQifQ==</bd:templateData>
          </p:ext>
        </p:extLst>
      </p:sp>
      <p:sp>
        <p:nvSpPr>
          <p:cNvPr id="5" name="Freeform 5"/>
          <p:cNvSpPr/>
          <p:nvPr/>
        </p:nvSpPr>
        <p:spPr>
          <a:xfrm rot="0">
            <a:off x="2012347" y="2202275"/>
            <a:ext cx="1681734" cy="2487739"/>
          </a:xfrm>
          <a:custGeom>
            <a:avLst/>
            <a:gdLst/>
            <a:ahLst/>
            <a:cxnLst/>
            <a:rect b="b" l="l" r="r" t="t"/>
            <a:pathLst>
              <a:path h="2487753" w="1681695">
                <a:moveTo>
                  <a:pt x="0" y="0"/>
                </a:moveTo>
                <a:lnTo>
                  <a:pt x="632420" y="0"/>
                </a:lnTo>
                <a:cubicBezTo>
                  <a:pt x="1211929" y="0"/>
                  <a:pt x="1681696" y="469767"/>
                  <a:pt x="1681696" y="1049277"/>
                </a:cubicBezTo>
                <a:lnTo>
                  <a:pt x="1681696" y="1438477"/>
                </a:lnTo>
                <a:cubicBezTo>
                  <a:pt x="1681696" y="2017987"/>
                  <a:pt x="1211929" y="2487753"/>
                  <a:pt x="632420" y="2487753"/>
                </a:cubicBezTo>
                <a:lnTo>
                  <a:pt x="39229" y="2487753"/>
                </a:lnTo>
              </a:path>
            </a:pathLst>
          </a:custGeom>
          <a:noFill/>
          <a:ln w="12700">
            <a:solidFill>
              <a:schemeClr val="accent4">
                <a:alpha val="100000"/>
              </a:schemeClr>
            </a:solidFill>
            <a:prstDash val="sysDash"/>
          </a:ln>
        </p:spPr>
        <p:extLst>
          <p:ext uri="http://schemas.baidu.com/office/drawing/2023/templateData">
            <bd:templateData xmlns:bd="http://schemas.baidu.com/office/drawing/2023/templateData">eyJ0YWciOiJub0VkaXQifQ==</bd:templateData>
          </p:ext>
        </p:extLst>
      </p:sp>
      <p:sp>
        <p:nvSpPr>
          <p:cNvPr id="6" name="Freeform 6"/>
          <p:cNvSpPr/>
          <p:nvPr/>
        </p:nvSpPr>
        <p:spPr>
          <a:xfrm rot="0">
            <a:off x="3717876" y="4489575"/>
            <a:ext cx="884057" cy="884057"/>
          </a:xfrm>
          <a:custGeom>
            <a:avLst/>
            <a:gdLst/>
            <a:ahLst/>
            <a:cxnLst/>
            <a:rect b="b" l="l" r="r" t="t"/>
            <a:pathLst>
              <a:path h="884057" w="884057">
                <a:moveTo>
                  <a:pt x="884057" y="884057"/>
                </a:moveTo>
                <a:cubicBezTo>
                  <a:pt x="395823" y="884057"/>
                  <a:pt x="0" y="488234"/>
                  <a:pt x="0" y="0"/>
                </a:cubicBezTo>
              </a:path>
            </a:pathLst>
          </a:custGeom>
          <a:noFill/>
          <a:ln w="406948">
            <a:gradFill>
              <a:gsLst>
                <a:gs pos="9000">
                  <a:schemeClr val="accent1">
                    <a:alpha val="100000"/>
                  </a:schemeClr>
                </a:gs>
                <a:gs pos="85000">
                  <a:schemeClr val="accent1">
                    <a:alpha val="0"/>
                  </a:schemeClr>
                </a:gs>
              </a:gsLst>
              <a:lin ang="900000"/>
            </a:gradFill>
            <a:prstDash val="solid"/>
          </a:ln>
        </p:spPr>
        <p:extLst>
          <p:ext uri="http://schemas.baidu.com/office/drawing/2023/templateData">
            <bd:templateData xmlns:bd="http://schemas.baidu.com/office/drawing/2023/templateData">eyJ0YWciOiJub0VkaXQifQ==</bd:templateData>
          </p:ext>
        </p:extLst>
      </p:sp>
      <p:sp>
        <p:nvSpPr>
          <p:cNvPr id="7" name="Freeform 7"/>
          <p:cNvSpPr/>
          <p:nvPr/>
        </p:nvSpPr>
        <p:spPr>
          <a:xfrm rot="0">
            <a:off x="7586282" y="4489575"/>
            <a:ext cx="884056" cy="884057"/>
          </a:xfrm>
          <a:custGeom>
            <a:avLst/>
            <a:gdLst/>
            <a:ahLst/>
            <a:cxnLst/>
            <a:rect b="b" l="l" r="r" t="t"/>
            <a:pathLst>
              <a:path h="884057" w="884056">
                <a:moveTo>
                  <a:pt x="884057" y="0"/>
                </a:moveTo>
                <a:cubicBezTo>
                  <a:pt x="884057" y="488234"/>
                  <a:pt x="488234" y="884057"/>
                  <a:pt x="0" y="884057"/>
                </a:cubicBezTo>
              </a:path>
            </a:pathLst>
          </a:custGeom>
          <a:noFill/>
          <a:ln w="406948">
            <a:gradFill>
              <a:gsLst>
                <a:gs pos="15000">
                  <a:schemeClr val="accent1">
                    <a:alpha val="0"/>
                  </a:schemeClr>
                </a:gs>
                <a:gs pos="100000">
                  <a:schemeClr val="accent1">
                    <a:alpha val="100000"/>
                  </a:schemeClr>
                </a:gs>
              </a:gsLst>
              <a:lin ang="6600000"/>
            </a:gradFill>
            <a:prstDash val="solid"/>
          </a:ln>
        </p:spPr>
        <p:extLst>
          <p:ext uri="http://schemas.baidu.com/office/drawing/2023/templateData">
            <bd:templateData xmlns:bd="http://schemas.baidu.com/office/drawing/2023/templateData">eyJ0YWciOiJub0VkaXQifQ==</bd:templateData>
          </p:ext>
        </p:extLst>
      </p:sp>
      <p:sp>
        <p:nvSpPr>
          <p:cNvPr id="8" name="Freeform 8"/>
          <p:cNvSpPr/>
          <p:nvPr/>
        </p:nvSpPr>
        <p:spPr>
          <a:xfrm rot="0">
            <a:off x="7532108" y="1462255"/>
            <a:ext cx="884056" cy="884057"/>
          </a:xfrm>
          <a:custGeom>
            <a:avLst/>
            <a:gdLst/>
            <a:ahLst/>
            <a:cxnLst/>
            <a:rect b="b" l="l" r="r" t="t"/>
            <a:pathLst>
              <a:path h="884057" w="884056">
                <a:moveTo>
                  <a:pt x="0" y="0"/>
                </a:moveTo>
                <a:cubicBezTo>
                  <a:pt x="488234" y="0"/>
                  <a:pt x="884057" y="395823"/>
                  <a:pt x="884057" y="884057"/>
                </a:cubicBezTo>
              </a:path>
            </a:pathLst>
          </a:custGeom>
          <a:noFill/>
          <a:ln w="406948">
            <a:gradFill>
              <a:gsLst>
                <a:gs pos="16000">
                  <a:schemeClr val="accent1">
                    <a:alpha val="0"/>
                  </a:schemeClr>
                </a:gs>
                <a:gs pos="100000">
                  <a:schemeClr val="accent1">
                    <a:alpha val="100000"/>
                  </a:schemeClr>
                </a:gs>
              </a:gsLst>
              <a:lin ang="600000"/>
            </a:gradFill>
            <a:prstDash val="solid"/>
          </a:ln>
        </p:spPr>
        <p:extLst>
          <p:ext uri="http://schemas.baidu.com/office/drawing/2023/templateData">
            <bd:templateData xmlns:bd="http://schemas.baidu.com/office/drawing/2023/templateData">eyJ0YWciOiJub0VkaXQifQ==</bd:templateData>
          </p:ext>
        </p:extLst>
      </p:sp>
      <p:sp>
        <p:nvSpPr>
          <p:cNvPr id="9" name="Freeform 9"/>
          <p:cNvSpPr/>
          <p:nvPr/>
        </p:nvSpPr>
        <p:spPr>
          <a:xfrm rot="0">
            <a:off x="3717876" y="1462255"/>
            <a:ext cx="884057" cy="884057"/>
          </a:xfrm>
          <a:custGeom>
            <a:avLst/>
            <a:gdLst/>
            <a:ahLst/>
            <a:cxnLst/>
            <a:rect b="b" l="l" r="r" t="t"/>
            <a:pathLst>
              <a:path h="884057" w="884057">
                <a:moveTo>
                  <a:pt x="0" y="884057"/>
                </a:moveTo>
                <a:cubicBezTo>
                  <a:pt x="0" y="395823"/>
                  <a:pt x="395823" y="0"/>
                  <a:pt x="884057" y="0"/>
                </a:cubicBezTo>
              </a:path>
            </a:pathLst>
          </a:custGeom>
          <a:noFill/>
          <a:ln w="406948">
            <a:gradFill>
              <a:gsLst>
                <a:gs pos="0">
                  <a:schemeClr val="accent1">
                    <a:alpha val="100000"/>
                  </a:schemeClr>
                </a:gs>
                <a:gs pos="85000">
                  <a:schemeClr val="accent1">
                    <a:alpha val="0"/>
                  </a:schemeClr>
                </a:gs>
              </a:gsLst>
              <a:lin ang="6600000"/>
            </a:gradFill>
            <a:prstDash val="solid"/>
          </a:ln>
        </p:spPr>
        <p:extLst>
          <p:ext uri="http://schemas.baidu.com/office/drawing/2023/templateData">
            <bd:templateData xmlns:bd="http://schemas.baidu.com/office/drawing/2023/templateData">eyJ0YWciOiJub0VkaXQifQ==</bd:templateData>
          </p:ext>
        </p:extLst>
      </p:sp>
      <p:sp>
        <p:nvSpPr>
          <p:cNvPr id="10" name="AutoShape 10"/>
          <p:cNvSpPr/>
          <p:nvPr/>
        </p:nvSpPr>
        <p:spPr>
          <a:xfrm rot="0">
            <a:off x="4961805" y="929494"/>
            <a:ext cx="2253993" cy="974789"/>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1" name="AutoShape 11"/>
          <p:cNvSpPr/>
          <p:nvPr/>
        </p:nvSpPr>
        <p:spPr>
          <a:xfrm rot="0">
            <a:off x="4961805" y="4953953"/>
            <a:ext cx="2253993" cy="974789"/>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2" name="AutoShape 12"/>
          <p:cNvSpPr/>
          <p:nvPr/>
        </p:nvSpPr>
        <p:spPr>
          <a:xfrm rot="0">
            <a:off x="4779688" y="2120005"/>
            <a:ext cx="2618226" cy="261822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3" name="AutoShape 13"/>
          <p:cNvSpPr/>
          <p:nvPr/>
        </p:nvSpPr>
        <p:spPr>
          <a:xfrm rot="0">
            <a:off x="7768549" y="2737941"/>
            <a:ext cx="1382355" cy="1382355"/>
          </a:xfrm>
          <a:prstGeom prst="ellipse">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4" name="AutoShape 14"/>
          <p:cNvSpPr/>
          <p:nvPr/>
        </p:nvSpPr>
        <p:spPr>
          <a:xfrm rot="0">
            <a:off x="9403108" y="1927701"/>
            <a:ext cx="1547826" cy="523220"/>
          </a:xfrm>
          <a:prstGeom prst="roundRect">
            <a:avLst>
              <a:gd fmla="val 50000" name="adj"/>
            </a:avLst>
          </a:prstGeom>
          <a:solidFill>
            <a:schemeClr val="accent4">
              <a:alpha val="100000"/>
            </a:schemeClr>
          </a:solidFill>
          <a:ln/>
        </p:spPr>
        <p:extLst>
          <p:ext uri="http://schemas.baidu.com/office/drawing/2023/templateData">
            <bd:templateData xmlns:bd="http://schemas.baidu.com/office/drawing/2023/templateData">eyJ0YWciOiJub0VkaXQifQ==</bd:templateData>
          </p:ext>
        </p:extLst>
      </p:sp>
      <p:sp>
        <p:nvSpPr>
          <p:cNvPr id="15" name="AutoShape 15"/>
          <p:cNvSpPr/>
          <p:nvPr/>
        </p:nvSpPr>
        <p:spPr>
          <a:xfrm rot="0">
            <a:off x="9403108" y="3566749"/>
            <a:ext cx="1547826" cy="523220"/>
          </a:xfrm>
          <a:prstGeom prst="roundRect">
            <a:avLst>
              <a:gd fmla="val 50000" name="adj"/>
            </a:avLst>
          </a:prstGeom>
          <a:solidFill>
            <a:schemeClr val="accent4">
              <a:alpha val="100000"/>
            </a:schemeClr>
          </a:solidFill>
          <a:ln/>
        </p:spPr>
        <p:extLst>
          <p:ext uri="http://schemas.baidu.com/office/drawing/2023/templateData">
            <bd:templateData xmlns:bd="http://schemas.baidu.com/office/drawing/2023/templateData">eyJ0YWciOiJub0VkaXQifQ==</bd:templateData>
          </p:ext>
        </p:extLst>
      </p:sp>
      <p:sp>
        <p:nvSpPr>
          <p:cNvPr id="16" name="AutoShape 16"/>
          <p:cNvSpPr/>
          <p:nvPr/>
        </p:nvSpPr>
        <p:spPr>
          <a:xfrm rot="0">
            <a:off x="9403108" y="2747225"/>
            <a:ext cx="1547826" cy="523220"/>
          </a:xfrm>
          <a:prstGeom prst="roundRect">
            <a:avLst>
              <a:gd fmla="val 50000" name="adj"/>
            </a:avLst>
          </a:prstGeom>
          <a:solidFill>
            <a:schemeClr val="accent4">
              <a:alpha val="100000"/>
            </a:schemeClr>
          </a:solidFill>
          <a:ln/>
        </p:spPr>
        <p:extLst>
          <p:ext uri="http://schemas.baidu.com/office/drawing/2023/templateData">
            <bd:templateData xmlns:bd="http://schemas.baidu.com/office/drawing/2023/templateData">eyJ0YWciOiJub0VkaXQifQ==</bd:templateData>
          </p:ext>
        </p:extLst>
      </p:sp>
      <p:sp>
        <p:nvSpPr>
          <p:cNvPr id="17" name="AutoShape 17"/>
          <p:cNvSpPr/>
          <p:nvPr/>
        </p:nvSpPr>
        <p:spPr>
          <a:xfrm rot="0">
            <a:off x="9403108" y="4386274"/>
            <a:ext cx="1547826" cy="523220"/>
          </a:xfrm>
          <a:prstGeom prst="roundRect">
            <a:avLst>
              <a:gd fmla="val 50000" name="adj"/>
            </a:avLst>
          </a:prstGeom>
          <a:solidFill>
            <a:schemeClr val="accent4">
              <a:alpha val="100000"/>
            </a:schemeClr>
          </a:solidFill>
          <a:ln/>
        </p:spPr>
        <p:extLst>
          <p:ext uri="http://schemas.baidu.com/office/drawing/2023/templateData">
            <bd:templateData xmlns:bd="http://schemas.baidu.com/office/drawing/2023/templateData">eyJ0YWciOiJub0VkaXQifQ==</bd:templateData>
          </p:ext>
        </p:extLst>
      </p:sp>
      <p:sp>
        <p:nvSpPr>
          <p:cNvPr id="18" name="TextBox 18"/>
          <p:cNvSpPr txBox="1"/>
          <p:nvPr/>
        </p:nvSpPr>
        <p:spPr>
          <a:xfrm rot="3176463">
            <a:off x="7470350" y="1663500"/>
            <a:ext cx="1284608" cy="481567"/>
          </a:xfrm>
          <a:prstGeom prst="rect">
            <a:avLst/>
          </a:prstGeom>
          <a:noFill/>
          <a:ln/>
        </p:spPr>
        <p:txBody>
          <a:bodyPr anchor="t" anchorCtr="0" bIns="0" lIns="0" rIns="0" rtlCol="0" tIns="0" vert="horz" wrap="square">
            <a:noAutofit/>
          </a:bodyPr>
          <a:lstStyle/>
          <a:p>
            <a:pPr algn="ctr">
              <a:lnSpc>
                <a:spcPct val="120000"/>
              </a:lnSpc>
              <a:spcBef>
                <a:spcPct val="0"/>
              </a:spcBef>
            </a:pPr>
            <a:r>
              <a:rPr lang="en-US" sz="1400">
                <a:solidFill>
                  <a:srgbClr val="F9F8F8">
                    <a:alpha val="100000"/>
                  </a:srgbClr>
                </a:solidFill>
                <a:latin typeface="Noto Sans SC"/>
                <a:ea typeface="Noto Sans SC"/>
                <a:cs typeface="Noto Sans SC"/>
              </a:rPr>
              <a:t>REST接口</a:t>
            </a:r>
          </a:p>
        </p:txBody>
        <p:extLst>
          <p:ext uri="http://schemas.baidu.com/office/drawing/2023/templateData">
            <bd:templateData xmlns:bd="http://schemas.baidu.com/office/drawing/2023/templateData">eyJfdGVtcGxhdGVEYXRhIjp7ImxpbmVDb3VudCI6IjEiLCJ3b3JkQ291bnQiOiI1In0sInRhZyI6Im5vRWRpdCJ9</bd:templateData>
          </p:ext>
        </p:extLst>
      </p:sp>
      <p:sp>
        <p:nvSpPr>
          <p:cNvPr id="19" name="TextBox 19"/>
          <p:cNvSpPr txBox="1"/>
          <p:nvPr/>
        </p:nvSpPr>
        <p:spPr>
          <a:xfrm rot="19495322">
            <a:off x="7533774" y="5015407"/>
            <a:ext cx="1284608" cy="481567"/>
          </a:xfrm>
          <a:prstGeom prst="rect">
            <a:avLst/>
          </a:prstGeom>
          <a:noFill/>
          <a:ln/>
        </p:spPr>
        <p:txBody>
          <a:bodyPr anchor="t" anchorCtr="0" bIns="0" lIns="0" rIns="0" rtlCol="0" tIns="0" vert="horz" wrap="square">
            <a:noAutofit/>
          </a:bodyPr>
          <a:lstStyle/>
          <a:p>
            <a:pPr algn="ctr">
              <a:lnSpc>
                <a:spcPct val="120000"/>
              </a:lnSpc>
              <a:spcBef>
                <a:spcPct val="0"/>
              </a:spcBef>
            </a:pPr>
            <a:r>
              <a:rPr lang="en-US" sz="1400">
                <a:solidFill>
                  <a:srgbClr val="F9F6F6">
                    <a:alpha val="100000"/>
                  </a:srgbClr>
                </a:solidFill>
                <a:latin typeface="Noto Sans SC"/>
                <a:ea typeface="Noto Sans SC"/>
                <a:cs typeface="Noto Sans SC"/>
              </a:rPr>
              <a:t>定制分析</a:t>
            </a:r>
          </a:p>
        </p:txBody>
        <p:extLst>
          <p:ext uri="http://schemas.baidu.com/office/drawing/2023/templateData">
            <bd:templateData xmlns:bd="http://schemas.baidu.com/office/drawing/2023/templateData">eyJfdGVtcGxhdGVEYXRhIjp7ImxpbmVDb3VudCI6IjEiLCJ3b3JkQ291bnQiOiI1In0sInRhZyI6Im5vRWRpdCJ9</bd:templateData>
          </p:ext>
        </p:extLst>
      </p:sp>
      <p:sp>
        <p:nvSpPr>
          <p:cNvPr id="20" name="TextBox 20"/>
          <p:cNvSpPr txBox="1"/>
          <p:nvPr/>
        </p:nvSpPr>
        <p:spPr>
          <a:xfrm rot="19521600">
            <a:off x="3517600" y="1542329"/>
            <a:ext cx="1284608" cy="481567"/>
          </a:xfrm>
          <a:prstGeom prst="rect">
            <a:avLst/>
          </a:prstGeom>
          <a:noFill/>
          <a:ln/>
        </p:spPr>
        <p:txBody>
          <a:bodyPr anchor="t" anchorCtr="0" bIns="0" lIns="0" rIns="0" rtlCol="0" tIns="0" vert="horz" wrap="square">
            <a:noAutofit/>
          </a:bodyPr>
          <a:lstStyle/>
          <a:p>
            <a:pPr algn="ctr">
              <a:lnSpc>
                <a:spcPct val="120000"/>
              </a:lnSpc>
              <a:spcBef>
                <a:spcPct val="0"/>
              </a:spcBef>
            </a:pPr>
            <a:r>
              <a:rPr lang="en-US" sz="1400">
                <a:solidFill>
                  <a:srgbClr val="F9F4F4">
                    <a:alpha val="100000"/>
                  </a:srgbClr>
                </a:solidFill>
                <a:latin typeface="Noto Sans SC"/>
                <a:ea typeface="Noto Sans SC"/>
                <a:cs typeface="Noto Sans SC"/>
              </a:rPr>
              <a:t>容器服务</a:t>
            </a:r>
          </a:p>
        </p:txBody>
        <p:extLst>
          <p:ext uri="http://schemas.baidu.com/office/drawing/2023/templateData">
            <bd:templateData xmlns:bd="http://schemas.baidu.com/office/drawing/2023/templateData">eyJ0YWciOiJub0VkaXQifQ==</bd:templateData>
          </p:ext>
        </p:extLst>
      </p:sp>
      <p:sp>
        <p:nvSpPr>
          <p:cNvPr id="21" name="TextBox 21"/>
          <p:cNvSpPr txBox="1"/>
          <p:nvPr/>
        </p:nvSpPr>
        <p:spPr>
          <a:xfrm rot="3065617">
            <a:off x="3195029" y="4890314"/>
            <a:ext cx="1284608" cy="481567"/>
          </a:xfrm>
          <a:prstGeom prst="rect">
            <a:avLst/>
          </a:prstGeom>
          <a:noFill/>
          <a:ln/>
        </p:spPr>
        <p:txBody>
          <a:bodyPr anchor="t" anchorCtr="0" bIns="0" lIns="0" rIns="0" rtlCol="0" tIns="0" vert="horz" wrap="square">
            <a:noAutofit/>
          </a:bodyPr>
          <a:lstStyle/>
          <a:p>
            <a:pPr algn="ctr">
              <a:lnSpc>
                <a:spcPct val="120000"/>
              </a:lnSpc>
              <a:spcBef>
                <a:spcPct val="0"/>
              </a:spcBef>
            </a:pPr>
            <a:r>
              <a:rPr lang="en-US" sz="1400">
                <a:solidFill>
                  <a:srgbClr val="FBF8F8">
                    <a:alpha val="100000"/>
                  </a:srgbClr>
                </a:solidFill>
                <a:latin typeface="Noto Sans SC"/>
                <a:ea typeface="Noto Sans SC"/>
                <a:cs typeface="Noto Sans SC"/>
              </a:rPr>
              <a:t>知识图谱</a:t>
            </a:r>
          </a:p>
        </p:txBody>
        <p:extLst>
          <p:ext uri="http://schemas.baidu.com/office/drawing/2023/templateData">
            <bd:templateData xmlns:bd="http://schemas.baidu.com/office/drawing/2023/templateData">eyJfdGVtcGxhdGVEYXRhIjp7ImxpbmVDb3VudCI6IjEiLCJ3b3JkQ291bnQiOiI1In0sInRhZyI6Im5vRWRpdCJ9</bd:templateData>
          </p:ext>
        </p:extLst>
      </p:sp>
      <p:sp>
        <p:nvSpPr>
          <p:cNvPr id="22" name="AutoShape 22"/>
          <p:cNvSpPr/>
          <p:nvPr/>
        </p:nvSpPr>
        <p:spPr>
          <a:xfrm rot="0">
            <a:off x="5745901" y="2031237"/>
            <a:ext cx="685800" cy="335034"/>
          </a:xfrm>
          <a:prstGeom prst="triangle">
            <a:avLst>
              <a:gd fmla="val 50000" name="adj"/>
            </a:avLst>
          </a:prstGeom>
          <a:gradFill>
            <a:gsLst>
              <a:gs pos="0">
                <a:schemeClr val="lt2">
                  <a:alpha val="92000"/>
                </a:schemeClr>
              </a:gs>
              <a:gs pos="75000">
                <a:schemeClr val="accent1">
                  <a:alpha val="100000"/>
                </a:schemeClr>
              </a:gs>
            </a:gsLst>
            <a:lin ang="5400000"/>
          </a:gradFill>
          <a:ln/>
        </p:spPr>
        <p:extLst>
          <p:ext uri="http://schemas.baidu.com/office/drawing/2023/templateData">
            <bd:templateData xmlns:bd="http://schemas.baidu.com/office/drawing/2023/templateData">eyJ0YWciOiJub0VkaXQifQ==</bd:templateData>
          </p:ext>
        </p:extLst>
      </p:sp>
      <p:sp>
        <p:nvSpPr>
          <p:cNvPr id="23" name="AutoShape 23"/>
          <p:cNvSpPr/>
          <p:nvPr/>
        </p:nvSpPr>
        <p:spPr>
          <a:xfrm rot="5400000">
            <a:off x="7013599" y="3261601"/>
            <a:ext cx="685800" cy="335034"/>
          </a:xfrm>
          <a:prstGeom prst="triangle">
            <a:avLst>
              <a:gd fmla="val 50000" name="adj"/>
            </a:avLst>
          </a:prstGeom>
          <a:gradFill>
            <a:gsLst>
              <a:gs pos="0">
                <a:schemeClr val="lt2">
                  <a:alpha val="92000"/>
                </a:schemeClr>
              </a:gs>
              <a:gs pos="75000">
                <a:schemeClr val="accent1">
                  <a:alpha val="100000"/>
                </a:schemeClr>
              </a:gs>
            </a:gsLst>
            <a:lin ang="5400000"/>
          </a:gradFill>
          <a:ln/>
        </p:spPr>
        <p:extLst>
          <p:ext uri="http://schemas.baidu.com/office/drawing/2023/templateData">
            <bd:templateData xmlns:bd="http://schemas.baidu.com/office/drawing/2023/templateData">eyJ0YWciOiJub0VkaXQifQ==</bd:templateData>
          </p:ext>
        </p:extLst>
      </p:sp>
      <p:sp>
        <p:nvSpPr>
          <p:cNvPr id="24" name="AutoShape 24"/>
          <p:cNvSpPr/>
          <p:nvPr/>
        </p:nvSpPr>
        <p:spPr>
          <a:xfrm flipH="1" rot="16200000">
            <a:off x="4510122" y="3261602"/>
            <a:ext cx="685800" cy="335034"/>
          </a:xfrm>
          <a:prstGeom prst="triangle">
            <a:avLst>
              <a:gd fmla="val 50000" name="adj"/>
            </a:avLst>
          </a:prstGeom>
          <a:gradFill>
            <a:gsLst>
              <a:gs pos="0">
                <a:schemeClr val="lt2">
                  <a:alpha val="92000"/>
                </a:schemeClr>
              </a:gs>
              <a:gs pos="75000">
                <a:schemeClr val="accent1">
                  <a:alpha val="100000"/>
                </a:schemeClr>
              </a:gs>
            </a:gsLst>
            <a:lin ang="5400000"/>
          </a:gradFill>
          <a:ln/>
        </p:spPr>
        <p:extLst>
          <p:ext uri="http://schemas.baidu.com/office/drawing/2023/templateData">
            <bd:templateData xmlns:bd="http://schemas.baidu.com/office/drawing/2023/templateData">eyJ0YWciOiJub0VkaXQifQ==</bd:templateData>
          </p:ext>
        </p:extLst>
      </p:sp>
      <p:sp>
        <p:nvSpPr>
          <p:cNvPr id="25" name="AutoShape 25"/>
          <p:cNvSpPr/>
          <p:nvPr/>
        </p:nvSpPr>
        <p:spPr>
          <a:xfrm flipV="1" rot="0">
            <a:off x="5745901" y="4513569"/>
            <a:ext cx="685800" cy="335034"/>
          </a:xfrm>
          <a:prstGeom prst="triangle">
            <a:avLst>
              <a:gd fmla="val 50000" name="adj"/>
            </a:avLst>
          </a:prstGeom>
          <a:gradFill>
            <a:gsLst>
              <a:gs pos="0">
                <a:schemeClr val="lt2">
                  <a:alpha val="92000"/>
                </a:schemeClr>
              </a:gs>
              <a:gs pos="75000">
                <a:schemeClr val="accent1">
                  <a:alpha val="100000"/>
                </a:schemeClr>
              </a:gs>
            </a:gsLst>
            <a:lin ang="5400000"/>
          </a:gradFill>
          <a:ln/>
        </p:spPr>
        <p:extLst>
          <p:ext uri="http://schemas.baidu.com/office/drawing/2023/templateData">
            <bd:templateData xmlns:bd="http://schemas.baidu.com/office/drawing/2023/templateData">eyJ0YWciOiJub0VkaXQifQ==</bd:templateData>
          </p:ext>
        </p:extLst>
      </p:sp>
      <p:sp>
        <p:nvSpPr>
          <p:cNvPr id="26" name="TextBox 26"/>
          <p:cNvSpPr txBox="1"/>
          <p:nvPr/>
        </p:nvSpPr>
        <p:spPr>
          <a:xfrm rot="0">
            <a:off x="5240569" y="1106125"/>
            <a:ext cx="1754505" cy="377190"/>
          </a:xfrm>
          <a:prstGeom prst="rect">
            <a:avLst/>
          </a:prstGeom>
          <a:noFill/>
          <a:ln/>
        </p:spPr>
        <p:txBody>
          <a:bodyPr anchor="t" anchorCtr="0" bIns="45720" lIns="91440" rIns="91440" rtlCol="0" tIns="45720" vert="horz" wrap="square">
            <a:spAutoFit/>
          </a:bodyPr>
          <a:lstStyle/>
          <a:p>
            <a:pPr algn="ctr">
              <a:lnSpc>
                <a:spcPct val="100000"/>
              </a:lnSpc>
              <a:spcBef>
                <a:spcPct val="0"/>
              </a:spcBef>
            </a:pPr>
            <a:r>
              <a:rPr lang="en-US" sz="1800">
                <a:solidFill>
                  <a:srgbClr val="F9F8F8">
                    <a:alpha val="100000"/>
                  </a:srgbClr>
                </a:solidFill>
                <a:latin typeface="Noto Sans SC"/>
                <a:ea typeface="Noto Sans SC"/>
                <a:cs typeface="Noto Sans SC"/>
              </a:rPr>
              <a:t>数据管道</a:t>
            </a:r>
          </a:p>
        </p:txBody>
        <p:extLst>
          <p:ext uri="http://schemas.baidu.com/office/drawing/2023/templateData">
            <bd:templateData xmlns:bd="http://schemas.baidu.com/office/drawing/2023/templateData">eyJfdGVtcGxhdGVEYXRhIjp7ImxpbmVDb3VudCI6IjEiLCJ3b3JkQ291bnQiOiI1In0sInRhZyI6Im5vRWRpdCJ9</bd:templateData>
          </p:ext>
        </p:extLst>
      </p:sp>
      <p:sp>
        <p:nvSpPr>
          <p:cNvPr id="27" name="TextBox 27"/>
          <p:cNvSpPr txBox="1"/>
          <p:nvPr/>
        </p:nvSpPr>
        <p:spPr>
          <a:xfrm rot="0">
            <a:off x="5020538" y="1461711"/>
            <a:ext cx="2164080" cy="320040"/>
          </a:xfrm>
          <a:prstGeom prst="rect">
            <a:avLst/>
          </a:prstGeom>
          <a:noFill/>
          <a:ln/>
        </p:spPr>
        <p:txBody>
          <a:bodyPr anchor="t" anchorCtr="0" bIns="45720" lIns="91440" rIns="91440" rtlCol="0" tIns="45720" vert="horz" wrap="square">
            <a:spAutoFit/>
          </a:bodyPr>
          <a:lstStyle/>
          <a:p>
            <a:pPr algn="ctr">
              <a:lnSpc>
                <a:spcPct val="100000"/>
              </a:lnSpc>
              <a:spcBef>
                <a:spcPct val="0"/>
              </a:spcBef>
            </a:pPr>
            <a:r>
              <a:rPr lang="en-US" sz="1400">
                <a:solidFill>
                  <a:srgbClr val="F9F7F7">
                    <a:alpha val="100000"/>
                  </a:srgbClr>
                </a:solidFill>
                <a:latin typeface="Noto Sans SC"/>
                <a:ea typeface="Noto Sans SC"/>
                <a:cs typeface="Noto Sans SC"/>
              </a:rPr>
              <a:t>爬虫采集</a:t>
            </a:r>
          </a:p>
        </p:txBody>
        <p:extLst>
          <p:ext uri="http://schemas.baidu.com/office/drawing/2023/templateData">
            <bd:templateData xmlns:bd="http://schemas.baidu.com/office/drawing/2023/templateData">eyJfdGVtcGxhdGVEYXRhIjp7ImxpbmVDb3VudCI6IjEiLCJ3b3JkQ291bnQiOiIxMCJ9LCJ0YWciOiJub0VkaXQifQ==</bd:templateData>
          </p:ext>
        </p:extLst>
      </p:sp>
      <p:sp>
        <p:nvSpPr>
          <p:cNvPr id="28" name="TextBox 28"/>
          <p:cNvSpPr txBox="1"/>
          <p:nvPr/>
        </p:nvSpPr>
        <p:spPr>
          <a:xfrm rot="0">
            <a:off x="5181836" y="5136093"/>
            <a:ext cx="1754505" cy="377190"/>
          </a:xfrm>
          <a:prstGeom prst="rect">
            <a:avLst/>
          </a:prstGeom>
          <a:noFill/>
          <a:ln/>
        </p:spPr>
        <p:txBody>
          <a:bodyPr anchor="t" anchorCtr="0" bIns="45720" lIns="91440" rIns="91440" rtlCol="0" tIns="45720" vert="horz" wrap="square">
            <a:spAutoFit/>
          </a:bodyPr>
          <a:lstStyle/>
          <a:p>
            <a:pPr algn="ctr">
              <a:lnSpc>
                <a:spcPct val="100000"/>
              </a:lnSpc>
              <a:spcBef>
                <a:spcPct val="0"/>
              </a:spcBef>
            </a:pPr>
            <a:r>
              <a:rPr lang="en-US" sz="1800">
                <a:solidFill>
                  <a:srgbClr val="F9F4F4">
                    <a:alpha val="100000"/>
                  </a:srgbClr>
                </a:solidFill>
                <a:latin typeface="Noto Sans SC"/>
                <a:ea typeface="Noto Sans SC"/>
                <a:cs typeface="Noto Sans SC"/>
              </a:rPr>
              <a:t>安全审计</a:t>
            </a:r>
          </a:p>
        </p:txBody>
        <p:extLst>
          <p:ext uri="http://schemas.baidu.com/office/drawing/2023/templateData">
            <bd:templateData xmlns:bd="http://schemas.baidu.com/office/drawing/2023/templateData">eyJfdGVtcGxhdGVEYXRhIjp7ImxpbmVDb3VudCI6IjEiLCJ3b3JkQ291bnQiOiI1In0sInRhZyI6Im5vRWRpdCJ9</bd:templateData>
          </p:ext>
        </p:extLst>
      </p:sp>
      <p:sp>
        <p:nvSpPr>
          <p:cNvPr id="29" name="TextBox 29"/>
          <p:cNvSpPr txBox="1"/>
          <p:nvPr/>
        </p:nvSpPr>
        <p:spPr>
          <a:xfrm rot="0">
            <a:off x="4961805" y="5491679"/>
            <a:ext cx="2164080" cy="320040"/>
          </a:xfrm>
          <a:prstGeom prst="rect">
            <a:avLst/>
          </a:prstGeom>
          <a:noFill/>
          <a:ln/>
        </p:spPr>
        <p:txBody>
          <a:bodyPr anchor="t" anchorCtr="0" bIns="45720" lIns="91440" rIns="91440" rtlCol="0" tIns="45720" vert="horz" wrap="square">
            <a:spAutoFit/>
          </a:bodyPr>
          <a:lstStyle/>
          <a:p>
            <a:pPr algn="ctr">
              <a:lnSpc>
                <a:spcPct val="100000"/>
              </a:lnSpc>
              <a:spcBef>
                <a:spcPct val="0"/>
              </a:spcBef>
            </a:pPr>
            <a:r>
              <a:rPr lang="en-US" sz="1400">
                <a:solidFill>
                  <a:srgbClr val="F9F6F6">
                    <a:alpha val="100000"/>
                  </a:srgbClr>
                </a:solidFill>
                <a:latin typeface="Noto Sans SC"/>
                <a:ea typeface="Noto Sans SC"/>
                <a:cs typeface="Noto Sans SC"/>
              </a:rPr>
              <a:t>SSL加密</a:t>
            </a:r>
          </a:p>
        </p:txBody>
        <p:extLst>
          <p:ext uri="http://schemas.baidu.com/office/drawing/2023/templateData">
            <bd:templateData xmlns:bd="http://schemas.baidu.com/office/drawing/2023/templateData">eyJfdGVtcGxhdGVEYXRhIjp7ImxpbmVDb3VudCI6IjEiLCJ3b3JkQ291bnQiOiIxMCJ9LCJ0YWciOiJub0VkaXQifQ==</bd:templateData>
          </p:ext>
        </p:extLst>
      </p:sp>
      <p:sp>
        <p:nvSpPr>
          <p:cNvPr id="30" name="TextBox 30"/>
          <p:cNvSpPr txBox="1"/>
          <p:nvPr/>
        </p:nvSpPr>
        <p:spPr>
          <a:xfrm rot="0">
            <a:off x="4829270" y="2971182"/>
            <a:ext cx="2516505" cy="605790"/>
          </a:xfrm>
          <a:prstGeom prst="rect">
            <a:avLst/>
          </a:prstGeom>
          <a:noFill/>
          <a:ln/>
        </p:spPr>
        <p:txBody>
          <a:bodyPr anchor="t" anchorCtr="0" bIns="45720" lIns="91440" rIns="91440" rtlCol="0" tIns="45720" vert="horz" wrap="square">
            <a:spAutoFit/>
          </a:bodyPr>
          <a:lstStyle/>
          <a:p>
            <a:pPr algn="ctr">
              <a:lnSpc>
                <a:spcPct val="100000"/>
              </a:lnSpc>
              <a:spcBef>
                <a:spcPct val="0"/>
              </a:spcBef>
            </a:pPr>
            <a:r>
              <a:rPr lang="en-US" sz="3200">
                <a:solidFill>
                  <a:srgbClr val="FBF9F9">
                    <a:alpha val="100000"/>
                  </a:srgbClr>
                </a:solidFill>
                <a:latin typeface="Noto Sans SC"/>
                <a:ea typeface="Noto Sans SC"/>
                <a:cs typeface="Noto Sans SC"/>
              </a:rPr>
              <a:t>架构设计</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31" name="TextBox 31"/>
          <p:cNvSpPr txBox="1"/>
          <p:nvPr/>
        </p:nvSpPr>
        <p:spPr>
          <a:xfrm rot="0">
            <a:off x="4973447" y="3503657"/>
            <a:ext cx="2164080" cy="320040"/>
          </a:xfrm>
          <a:prstGeom prst="rect">
            <a:avLst/>
          </a:prstGeom>
          <a:noFill/>
          <a:ln/>
        </p:spPr>
        <p:txBody>
          <a:bodyPr anchor="t" anchorCtr="0" bIns="45720" lIns="91440" rIns="91440" rtlCol="0" tIns="45720" vert="horz" wrap="square">
            <a:spAutoFit/>
          </a:bodyPr>
          <a:lstStyle/>
          <a:p>
            <a:pPr algn="ctr">
              <a:lnSpc>
                <a:spcPct val="100000"/>
              </a:lnSpc>
              <a:spcBef>
                <a:spcPct val="0"/>
              </a:spcBef>
            </a:pPr>
            <a:r>
              <a:rPr lang="en-US" sz="1400">
                <a:solidFill>
                  <a:srgbClr val="FBF8F8">
                    <a:alpha val="100000"/>
                  </a:srgbClr>
                </a:solidFill>
                <a:latin typeface="Noto Sans SC"/>
                <a:ea typeface="Noto Sans SC"/>
                <a:cs typeface="Noto Sans SC"/>
              </a:rPr>
              <a:t>全球节点</a:t>
            </a:r>
          </a:p>
        </p:txBody>
        <p:extLst>
          <p:ext uri="http://schemas.baidu.com/office/drawing/2023/templateData">
            <bd:templateData xmlns:bd="http://schemas.baidu.com/office/drawing/2023/templateData">eyJfdGVtcGxhdGVEYXRhIjp7ImxpbmVDb3VudCI6IjEiLCJ3b3JkQ291bnQiOiIxMCJ9LCJ0YWciOiJub0VkaXQifQ==</bd:templateData>
          </p:ext>
        </p:extLst>
      </p:sp>
      <p:sp>
        <p:nvSpPr>
          <p:cNvPr id="32" name="TextBox 32"/>
          <p:cNvSpPr txBox="1"/>
          <p:nvPr/>
        </p:nvSpPr>
        <p:spPr>
          <a:xfrm rot="0">
            <a:off x="7857112" y="3422303"/>
            <a:ext cx="1183005" cy="320040"/>
          </a:xfrm>
          <a:prstGeom prst="rect">
            <a:avLst/>
          </a:prstGeom>
          <a:noFill/>
          <a:ln/>
        </p:spPr>
        <p:txBody>
          <a:bodyPr anchor="t" anchorCtr="0" bIns="45720" lIns="91440" rIns="91440" rtlCol="0" tIns="45720" vert="horz" wrap="square">
            <a:spAutoFit/>
          </a:bodyPr>
          <a:lstStyle/>
          <a:p>
            <a:pPr algn="ctr">
              <a:lnSpc>
                <a:spcPct val="100000"/>
              </a:lnSpc>
              <a:spcBef>
                <a:spcPct val="0"/>
              </a:spcBef>
            </a:pPr>
            <a:r>
              <a:rPr lang="en-US" sz="1400">
                <a:solidFill>
                  <a:srgbClr val="F9F4F4">
                    <a:alpha val="100000"/>
                  </a:srgbClr>
                </a:solidFill>
                <a:latin typeface="Noto Sans SC"/>
                <a:ea typeface="Noto Sans SC"/>
                <a:cs typeface="Noto Sans SC"/>
              </a:rPr>
              <a:t>SpringCloud</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33" name="AutoShape 33"/>
          <p:cNvSpPr/>
          <p:nvPr/>
        </p:nvSpPr>
        <p:spPr>
          <a:xfrm rot="0">
            <a:off x="1241067" y="1937144"/>
            <a:ext cx="1547826" cy="523220"/>
          </a:xfrm>
          <a:prstGeom prst="roundRect">
            <a:avLst>
              <a:gd fmla="val 50000" name="adj"/>
            </a:avLst>
          </a:prstGeom>
          <a:solidFill>
            <a:schemeClr val="accent4">
              <a:alpha val="100000"/>
            </a:schemeClr>
          </a:solidFill>
          <a:ln/>
        </p:spPr>
        <p:extLst>
          <p:ext uri="http://schemas.baidu.com/office/drawing/2023/templateData">
            <bd:templateData xmlns:bd="http://schemas.baidu.com/office/drawing/2023/templateData">eyJ0YWciOiJub0VkaXQifQ==</bd:templateData>
          </p:ext>
        </p:extLst>
      </p:sp>
      <p:sp>
        <p:nvSpPr>
          <p:cNvPr id="34" name="AutoShape 34"/>
          <p:cNvSpPr/>
          <p:nvPr/>
        </p:nvSpPr>
        <p:spPr>
          <a:xfrm rot="0">
            <a:off x="1241067" y="3576192"/>
            <a:ext cx="1547826" cy="523220"/>
          </a:xfrm>
          <a:prstGeom prst="roundRect">
            <a:avLst>
              <a:gd fmla="val 50000" name="adj"/>
            </a:avLst>
          </a:prstGeom>
          <a:solidFill>
            <a:schemeClr val="accent4">
              <a:alpha val="100000"/>
            </a:schemeClr>
          </a:solidFill>
          <a:ln/>
        </p:spPr>
        <p:extLst>
          <p:ext uri="http://schemas.baidu.com/office/drawing/2023/templateData">
            <bd:templateData xmlns:bd="http://schemas.baidu.com/office/drawing/2023/templateData">eyJ0YWciOiJub0VkaXQifQ==</bd:templateData>
          </p:ext>
        </p:extLst>
      </p:sp>
      <p:sp>
        <p:nvSpPr>
          <p:cNvPr id="35" name="AutoShape 35"/>
          <p:cNvSpPr/>
          <p:nvPr/>
        </p:nvSpPr>
        <p:spPr>
          <a:xfrm rot="0">
            <a:off x="1241067" y="2756668"/>
            <a:ext cx="1547826" cy="523220"/>
          </a:xfrm>
          <a:prstGeom prst="roundRect">
            <a:avLst>
              <a:gd fmla="val 50000" name="adj"/>
            </a:avLst>
          </a:prstGeom>
          <a:solidFill>
            <a:schemeClr val="accent4">
              <a:alpha val="100000"/>
            </a:schemeClr>
          </a:solidFill>
          <a:ln/>
        </p:spPr>
        <p:extLst>
          <p:ext uri="http://schemas.baidu.com/office/drawing/2023/templateData">
            <bd:templateData xmlns:bd="http://schemas.baidu.com/office/drawing/2023/templateData">eyJ0YWciOiJub0VkaXQifQ==</bd:templateData>
          </p:ext>
        </p:extLst>
      </p:sp>
      <p:sp>
        <p:nvSpPr>
          <p:cNvPr id="36" name="AutoShape 36"/>
          <p:cNvSpPr/>
          <p:nvPr/>
        </p:nvSpPr>
        <p:spPr>
          <a:xfrm rot="0">
            <a:off x="1241067" y="4395717"/>
            <a:ext cx="1547826" cy="523220"/>
          </a:xfrm>
          <a:prstGeom prst="roundRect">
            <a:avLst>
              <a:gd fmla="val 50000" name="adj"/>
            </a:avLst>
          </a:prstGeom>
          <a:solidFill>
            <a:schemeClr val="accent4">
              <a:alpha val="100000"/>
            </a:schemeClr>
          </a:solidFill>
          <a:ln/>
        </p:spPr>
        <p:extLst>
          <p:ext uri="http://schemas.baidu.com/office/drawing/2023/templateData">
            <bd:templateData xmlns:bd="http://schemas.baidu.com/office/drawing/2023/templateData">eyJ0YWciOiJub0VkaXQifQ==</bd:templateData>
          </p:ext>
        </p:extLst>
      </p:sp>
      <p:sp>
        <p:nvSpPr>
          <p:cNvPr id="37" name="AutoShape 37"/>
          <p:cNvSpPr/>
          <p:nvPr/>
        </p:nvSpPr>
        <p:spPr>
          <a:xfrm rot="0">
            <a:off x="3026698" y="2737941"/>
            <a:ext cx="1382355" cy="1382355"/>
          </a:xfrm>
          <a:prstGeom prst="ellipse">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38" name="TextBox 38"/>
          <p:cNvSpPr txBox="1"/>
          <p:nvPr/>
        </p:nvSpPr>
        <p:spPr>
          <a:xfrm rot="0">
            <a:off x="3072326" y="3096230"/>
            <a:ext cx="1325880" cy="377190"/>
          </a:xfrm>
          <a:prstGeom prst="rect">
            <a:avLst/>
          </a:prstGeom>
          <a:noFill/>
          <a:ln/>
        </p:spPr>
        <p:txBody>
          <a:bodyPr anchor="t" anchorCtr="0" bIns="45720" lIns="91440" rIns="91440" rtlCol="0" tIns="45720" vert="horz" wrap="square">
            <a:spAutoFit/>
          </a:bodyPr>
          <a:lstStyle/>
          <a:p>
            <a:pPr algn="ctr">
              <a:lnSpc>
                <a:spcPct val="100000"/>
              </a:lnSpc>
              <a:spcBef>
                <a:spcPct val="0"/>
              </a:spcBef>
            </a:pPr>
            <a:r>
              <a:rPr lang="en-US" sz="1800">
                <a:solidFill>
                  <a:srgbClr val="FFFDFD">
                    <a:alpha val="100000"/>
                  </a:srgbClr>
                </a:solidFill>
                <a:latin typeface="Noto Sans SC"/>
                <a:ea typeface="Noto Sans SC"/>
                <a:cs typeface="Noto Sans SC"/>
              </a:rPr>
              <a:t>基础设施</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39" name="TextBox 39"/>
          <p:cNvSpPr txBox="1"/>
          <p:nvPr/>
        </p:nvSpPr>
        <p:spPr>
          <a:xfrm rot="0">
            <a:off x="3124515" y="3411475"/>
            <a:ext cx="1183005" cy="320040"/>
          </a:xfrm>
          <a:prstGeom prst="rect">
            <a:avLst/>
          </a:prstGeom>
          <a:noFill/>
          <a:ln/>
        </p:spPr>
        <p:txBody>
          <a:bodyPr anchor="t" anchorCtr="0" bIns="45720" lIns="91440" rIns="91440" rtlCol="0" tIns="45720" vert="horz" wrap="square">
            <a:spAutoFit/>
          </a:bodyPr>
          <a:lstStyle/>
          <a:p>
            <a:pPr algn="ctr">
              <a:lnSpc>
                <a:spcPct val="100000"/>
              </a:lnSpc>
              <a:spcBef>
                <a:spcPct val="0"/>
              </a:spcBef>
            </a:pPr>
            <a:r>
              <a:rPr lang="en-US" sz="1400">
                <a:solidFill>
                  <a:srgbClr val="F9F4F4">
                    <a:alpha val="100000"/>
                  </a:srgbClr>
                </a:solidFill>
                <a:latin typeface="Noto Sans SC"/>
                <a:ea typeface="Noto Sans SC"/>
                <a:cs typeface="Noto Sans SC"/>
              </a:rPr>
              <a:t>云服务器</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0" name="TextBox 40"/>
          <p:cNvSpPr txBox="1"/>
          <p:nvPr/>
        </p:nvSpPr>
        <p:spPr>
          <a:xfrm rot="0">
            <a:off x="1241067" y="2075644"/>
            <a:ext cx="1547826" cy="2667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9F8F8">
                    <a:alpha val="100000"/>
                  </a:srgbClr>
                </a:solidFill>
                <a:latin typeface="Noto Sans SC"/>
                <a:ea typeface="Noto Sans SC"/>
                <a:cs typeface="Noto Sans SC"/>
              </a:rPr>
              <a:t>计算集群</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1" name="TextBox 41"/>
          <p:cNvSpPr txBox="1"/>
          <p:nvPr/>
        </p:nvSpPr>
        <p:spPr>
          <a:xfrm rot="0">
            <a:off x="1241067" y="2919193"/>
            <a:ext cx="1547826" cy="2667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9F9F9">
                    <a:alpha val="100000"/>
                  </a:srgbClr>
                </a:solidFill>
                <a:latin typeface="Noto Sans SC"/>
                <a:ea typeface="Noto Sans SC"/>
                <a:cs typeface="Noto Sans SC"/>
              </a:rPr>
              <a:t>图数据库</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2" name="TextBox 42"/>
          <p:cNvSpPr txBox="1"/>
          <p:nvPr/>
        </p:nvSpPr>
        <p:spPr>
          <a:xfrm rot="0">
            <a:off x="1241067" y="3737238"/>
            <a:ext cx="1547826" cy="2667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6F5F5">
                    <a:alpha val="100000"/>
                  </a:srgbClr>
                </a:solidFill>
                <a:latin typeface="Noto Sans SC"/>
                <a:ea typeface="Noto Sans SC"/>
                <a:cs typeface="Noto Sans SC"/>
              </a:rPr>
              <a:t>关系存储</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3" name="TextBox 43"/>
          <p:cNvSpPr txBox="1"/>
          <p:nvPr/>
        </p:nvSpPr>
        <p:spPr>
          <a:xfrm rot="0">
            <a:off x="1241067" y="4534216"/>
            <a:ext cx="1547826" cy="2667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BF9F9">
                    <a:alpha val="100000"/>
                  </a:srgbClr>
                </a:solidFill>
                <a:latin typeface="Noto Sans SC"/>
                <a:ea typeface="Noto Sans SC"/>
                <a:cs typeface="Noto Sans SC"/>
              </a:rPr>
              <a:t>监控系统</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4" name="TextBox 44"/>
          <p:cNvSpPr txBox="1"/>
          <p:nvPr/>
        </p:nvSpPr>
        <p:spPr>
          <a:xfrm rot="0">
            <a:off x="9403108" y="2066201"/>
            <a:ext cx="1547826" cy="2667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BF8F8">
                    <a:alpha val="100000"/>
                  </a:srgbClr>
                </a:solidFill>
                <a:latin typeface="Noto Sans SC"/>
                <a:ea typeface="Noto Sans SC"/>
                <a:cs typeface="Noto Sans SC"/>
              </a:rPr>
              <a:t>协作关系</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5" name="TextBox 45"/>
          <p:cNvSpPr txBox="1"/>
          <p:nvPr/>
        </p:nvSpPr>
        <p:spPr>
          <a:xfrm rot="0">
            <a:off x="9567529" y="2885725"/>
            <a:ext cx="1219200" cy="2571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BF8F8">
                    <a:alpha val="100000"/>
                  </a:srgbClr>
                </a:solidFill>
                <a:latin typeface="Noto Sans SC"/>
                <a:ea typeface="Noto Sans SC"/>
                <a:cs typeface="Noto Sans SC"/>
              </a:rPr>
              <a:t>贡献行为</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6" name="TextBox 46"/>
          <p:cNvSpPr txBox="1"/>
          <p:nvPr/>
        </p:nvSpPr>
        <p:spPr>
          <a:xfrm rot="0">
            <a:off x="9403108" y="3705249"/>
            <a:ext cx="1547826" cy="2667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DFAFA">
                    <a:alpha val="100000"/>
                  </a:srgbClr>
                </a:solidFill>
                <a:latin typeface="Noto Sans SC"/>
                <a:ea typeface="Noto Sans SC"/>
                <a:cs typeface="Noto Sans SC"/>
              </a:rPr>
              <a:t>权限验证</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7" name="TextBox 47"/>
          <p:cNvSpPr txBox="1"/>
          <p:nvPr/>
        </p:nvSpPr>
        <p:spPr>
          <a:xfrm rot="0">
            <a:off x="9403108" y="4524774"/>
            <a:ext cx="1547826" cy="2667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9F7F7">
                    <a:alpha val="100000"/>
                  </a:srgbClr>
                </a:solidFill>
                <a:latin typeface="Noto Sans SC"/>
                <a:ea typeface="Noto Sans SC"/>
                <a:cs typeface="Noto Sans SC"/>
              </a:rPr>
              <a:t>图谱渲染</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8" name="AutoShape 48"/>
          <p:cNvSpPr/>
          <p:nvPr/>
        </p:nvSpPr>
        <p:spPr>
          <a:xfrm rot="0">
            <a:off x="369164" y="6014280"/>
            <a:ext cx="11459847" cy="503999"/>
          </a:xfrm>
          <a:prstGeom prst="roundRect">
            <a:avLst>
              <a:gd fmla="val 0" name="adj"/>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49" name="TextBox 49"/>
          <p:cNvSpPr txBox="1"/>
          <p:nvPr/>
        </p:nvSpPr>
        <p:spPr>
          <a:xfrm rot="0">
            <a:off x="818363" y="6010095"/>
            <a:ext cx="10565130" cy="472440"/>
          </a:xfrm>
          <a:prstGeom prst="rect">
            <a:avLst/>
          </a:prstGeom>
          <a:noFill/>
          <a:ln/>
        </p:spPr>
        <p:txBody>
          <a:bodyPr anchor="t" anchorCtr="0" bIns="45720" lIns="91440" rIns="91440" rtlCol="0" tIns="45720" vert="horz" wrap="square">
            <a:spAutoFit/>
          </a:bodyPr>
          <a:lstStyle/>
          <a:p>
            <a:pPr algn="ctr">
              <a:lnSpc>
                <a:spcPct val="150000"/>
              </a:lnSpc>
              <a:spcBef>
                <a:spcPct val="0"/>
              </a:spcBef>
            </a:pPr>
            <a:r>
              <a:rPr lang="en-US" sz="1599">
                <a:solidFill>
                  <a:srgbClr val="FFFDFD">
                    <a:alpha val="100000"/>
                  </a:srgbClr>
                </a:solidFill>
                <a:latin typeface="Noto Sans SC"/>
                <a:ea typeface="Noto Sans SC"/>
                <a:cs typeface="Noto Sans SC"/>
              </a:rPr>
              <a:t>采用图神经网络量化开发者协作关系与影响力传播路径</a:t>
            </a:r>
          </a:p>
        </p:txBody>
        <p:extLst>
          <p:ext uri="http://schemas.baidu.com/office/drawing/2023/templateData">
            <bd:templateData xmlns:bd="http://schemas.baidu.com/office/drawing/2023/templateData">eyJfdGVtcGxhdGVEYXRhIjp7ImxpbmVDb3VudCI6IjEiLCJ3b3JkQ291bnQiOiI1MCJ9LCJ0YWciOiJub0VkaXQifQ==</bd:templateData>
          </p:ext>
        </p:extLst>
      </p:sp>
      <p:sp>
        <p:nvSpPr>
          <p:cNvPr id="50" name="TextBox 50"/>
          <p:cNvSpPr txBox="1"/>
          <p:nvPr/>
        </p:nvSpPr>
        <p:spPr>
          <a:xfrm rot="0">
            <a:off x="7792244" y="3096230"/>
            <a:ext cx="1325880" cy="377190"/>
          </a:xfrm>
          <a:prstGeom prst="rect">
            <a:avLst/>
          </a:prstGeom>
          <a:noFill/>
          <a:ln/>
        </p:spPr>
        <p:txBody>
          <a:bodyPr anchor="t" anchorCtr="0" bIns="45720" lIns="91440" rIns="91440" rtlCol="0" tIns="45720" vert="horz" wrap="square">
            <a:spAutoFit/>
          </a:bodyPr>
          <a:lstStyle/>
          <a:p>
            <a:pPr algn="ctr">
              <a:lnSpc>
                <a:spcPct val="100000"/>
              </a:lnSpc>
              <a:spcBef>
                <a:spcPct val="0"/>
              </a:spcBef>
            </a:pPr>
            <a:r>
              <a:rPr lang="en-US" sz="1800">
                <a:solidFill>
                  <a:srgbClr val="FBFAFA">
                    <a:alpha val="100000"/>
                  </a:srgbClr>
                </a:solidFill>
                <a:latin typeface="Noto Sans SC"/>
                <a:ea typeface="Noto Sans SC"/>
                <a:cs typeface="Noto Sans SC"/>
              </a:rPr>
              <a:t>分析引擎</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51" name="TextBox 51"/>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开发者网络分析算法</a:t>
            </a:r>
          </a:p>
        </p:txBody>
        <p:extLst>
          <p:ext uri="http://schemas.baidu.com/office/drawing/2023/templateData">
            <bd:templateData xmlns:bd="http://schemas.baidu.com/office/drawing/2023/templateData">eyJfdGVtcGxhdGVEYXRhIjp7ImNvbnRlbnRUeXBlIjoiJHRpdGxlIiwibGluZUNvdW50IjoiMSIsIndvcmRDb3VudCI6IjI4In0sInRhZyI6Im5vRWRpdCJ9</bd:templateData>
          </p:ext>
        </p:extLst>
      </p:sp>
    </p:spTree>
  </p:cSld>
  <p:clrMapOvr>
    <a:masterClrMapping/>
  </p:clrMapOvr>
  <p:extLst>
    <p:ext uri="http://schemas.baidu.com/office/drawing/2023/templateData">
      <bd:templateData xmlns:bd="http://schemas.baidu.com/office/drawing/2023/templateData">eyJtZCI6IiMjIOaguOW/g+WKn+iDveWunueOsFxuIyMjIOW8gOWPkeiAhee9kee7nOWIhuaekOeul+azlSIsInRwbGlkIjoiNjgiLCJ0cGxOYW1lIjoidGl0bGVHcmFwaF9wcm8xMzIiLCJlZGl0ZWQiOiJmYWxzZSJ9</bd:templateData>
    </p:ext>
  </p:extLst>
</p:sld>
</file>

<file path=ppt/slides/slide12.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1241668" y="1405020"/>
            <a:ext cx="2857500" cy="695325"/>
          </a:xfrm>
          <a:prstGeom prst="rect">
            <a:avLst/>
          </a:prstGeom>
          <a:ln/>
        </p:spPr>
        <p:txBody>
          <a:bodyPr anchor="b" anchorCtr="0" bIns="123825" lIns="123825" rIns="57150" rtlCol="0" tIns="123825" vert="horz" wrap="square">
            <a:noAutofit/>
          </a:bodyPr>
          <a:lstStyle/>
          <a:p>
            <a:pPr>
              <a:lnSpc>
                <a:spcPct val="120000"/>
              </a:lnSpc>
            </a:pPr>
            <a:r>
              <a:rPr b="1" lang="en-US" sz="2000">
                <a:solidFill>
                  <a:schemeClr val="accent1">
                    <a:alpha val="100000"/>
                  </a:schemeClr>
                </a:solidFill>
                <a:latin typeface="Noto Sans SC"/>
                <a:ea typeface="Noto Sans SC"/>
                <a:cs typeface="Noto Sans SC"/>
              </a:rPr>
              <a:t>个人贡献雷达图</a:t>
            </a:r>
          </a:p>
        </p:txBody>
        <p:extLst>
          <p:ext uri="http://schemas.baidu.com/office/drawing/2023/templateData">
            <bd:templateData xmlns:bd="http://schemas.baidu.com/office/drawing/2023/templateData">eyJfdGVtcGxhdGVEYXRhIjp7ImNvbnRlbnRUeXBlIjoiJGl0ZW0xX3RpdGxlIiwibGluZUNvdW50IjoiMSIsIndvcmRDb3VudCI6IjkifSwidGFnIjoiJGl0ZW0xX3RpdGxlIn0=</bd:templateData>
          </p:ext>
        </p:extLst>
      </p:sp>
      <p:sp>
        <p:nvSpPr>
          <p:cNvPr id="3" name="TextBox 3"/>
          <p:cNvSpPr txBox="1"/>
          <p:nvPr/>
        </p:nvSpPr>
        <p:spPr>
          <a:xfrm rot="0">
            <a:off x="1241668" y="1916915"/>
            <a:ext cx="4314825" cy="916471"/>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用多维坐标系展示开发者在代码、文档、社区等多方面的综合贡献分布。</a:t>
            </a:r>
          </a:p>
        </p:txBody>
        <p:extLst>
          <p:ext uri="http://schemas.baidu.com/office/drawing/2023/templateData">
            <bd:templateData xmlns:bd="http://schemas.baidu.com/office/drawing/2023/templateData">eyJfdGVtcGxhdGVEYXRhIjp7ImNvbnRlbnRUeXBlIjoiJGl0ZW0xX2MiLCJsaW5lQ291bnQiOiIyIiwid29yZENvdW50IjoiMjAifSwidGFnIjoiJGl0ZW0xX2MifQ==</bd:templateData>
          </p:ext>
        </p:extLst>
      </p:sp>
      <p:sp>
        <p:nvSpPr>
          <p:cNvPr id="4" name="TextBox 4"/>
          <p:cNvSpPr txBox="1"/>
          <p:nvPr/>
        </p:nvSpPr>
        <p:spPr>
          <a:xfrm rot="0">
            <a:off x="7246698" y="1405020"/>
            <a:ext cx="2857500" cy="695325"/>
          </a:xfrm>
          <a:prstGeom prst="rect">
            <a:avLst/>
          </a:prstGeom>
          <a:ln/>
        </p:spPr>
        <p:txBody>
          <a:bodyPr anchor="b" anchorCtr="0" bIns="123825" lIns="123825" rIns="57150" rtlCol="0" tIns="123825" vert="horz" wrap="square">
            <a:noAutofit/>
          </a:bodyPr>
          <a:lstStyle/>
          <a:p>
            <a:pPr>
              <a:lnSpc>
                <a:spcPct val="120000"/>
              </a:lnSpc>
            </a:pPr>
            <a:r>
              <a:rPr b="1" lang="en-US" sz="2000">
                <a:solidFill>
                  <a:schemeClr val="accent1">
                    <a:alpha val="100000"/>
                  </a:schemeClr>
                </a:solidFill>
                <a:latin typeface="Noto Sans SC"/>
                <a:ea typeface="Noto Sans SC"/>
                <a:cs typeface="Noto Sans SC"/>
              </a:rPr>
              <a:t>协作网络力导向图</a:t>
            </a:r>
          </a:p>
        </p:txBody>
        <p:extLst>
          <p:ext uri="http://schemas.baidu.com/office/drawing/2023/templateData">
            <bd:templateData xmlns:bd="http://schemas.baidu.com/office/drawing/2023/templateData">eyJfdGVtcGxhdGVEYXRhIjp7ImNvbnRlbnRUeXBlIjoiJGl0ZW0yX3RpdGxlIiwibGluZUNvdW50IjoiMSIsIndvcmRDb3VudCI6IjkifSwidGFnIjoiJGl0ZW0yX3RpdGxlIn0=</bd:templateData>
          </p:ext>
        </p:extLst>
      </p:sp>
      <p:sp>
        <p:nvSpPr>
          <p:cNvPr id="5" name="TextBox 5"/>
          <p:cNvSpPr txBox="1"/>
          <p:nvPr/>
        </p:nvSpPr>
        <p:spPr>
          <a:xfrm rot="0">
            <a:off x="7246698" y="1916915"/>
            <a:ext cx="4295775" cy="966982"/>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动态呈现开发者间的协作强度和技术依赖关系，支持交互式探索。</a:t>
            </a:r>
          </a:p>
        </p:txBody>
        <p:extLst>
          <p:ext uri="http://schemas.baidu.com/office/drawing/2023/templateData">
            <bd:templateData xmlns:bd="http://schemas.baidu.com/office/drawing/2023/templateData">eyJfdGVtcGxhdGVEYXRhIjp7ImNvbnRlbnRUeXBlIjoiJGl0ZW0yX2MiLCJsaW5lQ291bnQiOiIyIiwid29yZENvdW50IjoiMjAifSwidGFnIjoiJGl0ZW0yX2MifQ==</bd:templateData>
          </p:ext>
        </p:extLst>
      </p:sp>
      <p:sp>
        <p:nvSpPr>
          <p:cNvPr id="6" name="TextBox 6"/>
          <p:cNvSpPr txBox="1"/>
          <p:nvPr/>
        </p:nvSpPr>
        <p:spPr>
          <a:xfrm rot="0">
            <a:off x="1241668" y="3037215"/>
            <a:ext cx="2857500" cy="695325"/>
          </a:xfrm>
          <a:prstGeom prst="rect">
            <a:avLst/>
          </a:prstGeom>
          <a:ln/>
        </p:spPr>
        <p:txBody>
          <a:bodyPr anchor="b" anchorCtr="0" bIns="123825" lIns="123825" rIns="57150" rtlCol="0" tIns="123825" vert="horz" wrap="square">
            <a:noAutofit/>
          </a:bodyPr>
          <a:lstStyle/>
          <a:p>
            <a:pPr>
              <a:lnSpc>
                <a:spcPct val="120000"/>
              </a:lnSpc>
            </a:pPr>
            <a:r>
              <a:rPr b="1" lang="en-US" sz="2000">
                <a:solidFill>
                  <a:schemeClr val="accent1">
                    <a:alpha val="100000"/>
                  </a:schemeClr>
                </a:solidFill>
                <a:latin typeface="Noto Sans SC"/>
                <a:ea typeface="Noto Sans SC"/>
                <a:cs typeface="Noto Sans SC"/>
              </a:rPr>
              <a:t>影响力热力图</a:t>
            </a:r>
          </a:p>
        </p:txBody>
        <p:extLst>
          <p:ext uri="http://schemas.baidu.com/office/drawing/2023/templateData">
            <bd:templateData xmlns:bd="http://schemas.baidu.com/office/drawing/2023/templateData">eyJfdGVtcGxhdGVEYXRhIjp7ImNvbnRlbnRUeXBlIjoiJGl0ZW0zX3RpdGxlIiwibGluZUNvdW50IjoiMSIsIndvcmRDb3VudCI6IjkifSwidGFnIjoiJGl0ZW0zX3RpdGxlIn0=</bd:templateData>
          </p:ext>
        </p:extLst>
      </p:sp>
      <p:sp>
        <p:nvSpPr>
          <p:cNvPr id="7" name="TextBox 7"/>
          <p:cNvSpPr txBox="1"/>
          <p:nvPr/>
        </p:nvSpPr>
        <p:spPr>
          <a:xfrm rot="0">
            <a:off x="1241668" y="3547367"/>
            <a:ext cx="4314825" cy="891930"/>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在地理坐标或组织架构图上叠加显示开发者影响力的空间分布特征。</a:t>
            </a:r>
          </a:p>
        </p:txBody>
        <p:extLst>
          <p:ext uri="http://schemas.baidu.com/office/drawing/2023/templateData">
            <bd:templateData xmlns:bd="http://schemas.baidu.com/office/drawing/2023/templateData">eyJfdGVtcGxhdGVEYXRhIjp7ImNvbnRlbnRUeXBlIjoiJGl0ZW0zX2MiLCJsaW5lQ291bnQiOiIyIiwid29yZENvdW50IjoiMjAifSwidGFnIjoiJGl0ZW0zX2MifQ==</bd:templateData>
          </p:ext>
        </p:extLst>
      </p:sp>
      <p:sp>
        <p:nvSpPr>
          <p:cNvPr id="8" name="TextBox 8"/>
          <p:cNvSpPr txBox="1"/>
          <p:nvPr/>
        </p:nvSpPr>
        <p:spPr>
          <a:xfrm rot="0">
            <a:off x="7246698" y="3037215"/>
            <a:ext cx="2857500" cy="695325"/>
          </a:xfrm>
          <a:prstGeom prst="rect">
            <a:avLst/>
          </a:prstGeom>
          <a:ln/>
        </p:spPr>
        <p:txBody>
          <a:bodyPr anchor="b" anchorCtr="0" bIns="123825" lIns="123825" rIns="57150" rtlCol="0" tIns="123825" vert="horz" wrap="square">
            <a:noAutofit/>
          </a:bodyPr>
          <a:lstStyle/>
          <a:p>
            <a:pPr>
              <a:lnSpc>
                <a:spcPct val="120000"/>
              </a:lnSpc>
            </a:pPr>
            <a:r>
              <a:rPr b="1" lang="en-US" sz="2000">
                <a:solidFill>
                  <a:schemeClr val="accent1">
                    <a:alpha val="100000"/>
                  </a:schemeClr>
                </a:solidFill>
                <a:latin typeface="Noto Sans SC"/>
                <a:ea typeface="Noto Sans SC"/>
                <a:cs typeface="Noto Sans SC"/>
              </a:rPr>
              <a:t>贡献趋势河流图</a:t>
            </a:r>
          </a:p>
        </p:txBody>
        <p:extLst>
          <p:ext uri="http://schemas.baidu.com/office/drawing/2023/templateData">
            <bd:templateData xmlns:bd="http://schemas.baidu.com/office/drawing/2023/templateData">eyJfdGVtcGxhdGVEYXRhIjp7ImNvbnRlbnRUeXBlIjoiJGl0ZW00X3RpdGxlIiwibGluZUNvdW50IjoiMSIsIndvcmRDb3VudCI6IjkifSwidGFnIjoiJGl0ZW00X3RpdGxlIn0=</bd:templateData>
          </p:ext>
        </p:extLst>
      </p:sp>
      <p:sp>
        <p:nvSpPr>
          <p:cNvPr id="9" name="TextBox 9"/>
          <p:cNvSpPr txBox="1"/>
          <p:nvPr/>
        </p:nvSpPr>
        <p:spPr>
          <a:xfrm rot="0">
            <a:off x="7246698" y="3547367"/>
            <a:ext cx="4295775" cy="891930"/>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通过流动的带状图表展现不同技术领域贡献量的时序变化和此消彼长。</a:t>
            </a:r>
          </a:p>
        </p:txBody>
        <p:extLst>
          <p:ext uri="http://schemas.baidu.com/office/drawing/2023/templateData">
            <bd:templateData xmlns:bd="http://schemas.baidu.com/office/drawing/2023/templateData">eyJfdGVtcGxhdGVEYXRhIjp7ImNvbnRlbnRUeXBlIjoiJGl0ZW00X2MiLCJsaW5lQ291bnQiOiIyIiwid29yZENvdW50IjoiMjAifSwidGFnIjoiJGl0ZW00X2MifQ==</bd:templateData>
          </p:ext>
        </p:extLst>
      </p:sp>
      <p:sp>
        <p:nvSpPr>
          <p:cNvPr id="10" name="TextBox 10"/>
          <p:cNvSpPr txBox="1"/>
          <p:nvPr/>
        </p:nvSpPr>
        <p:spPr>
          <a:xfrm rot="0">
            <a:off x="1241668" y="4693420"/>
            <a:ext cx="2857500" cy="695325"/>
          </a:xfrm>
          <a:prstGeom prst="rect">
            <a:avLst/>
          </a:prstGeom>
          <a:ln/>
        </p:spPr>
        <p:txBody>
          <a:bodyPr anchor="b" anchorCtr="0" bIns="123825" lIns="123825" rIns="57150" rtlCol="0" tIns="123825" vert="horz" wrap="square">
            <a:noAutofit/>
          </a:bodyPr>
          <a:lstStyle/>
          <a:p>
            <a:pPr>
              <a:lnSpc>
                <a:spcPct val="120000"/>
              </a:lnSpc>
            </a:pPr>
            <a:r>
              <a:rPr b="1" lang="en-US" sz="2000">
                <a:solidFill>
                  <a:schemeClr val="accent1">
                    <a:alpha val="100000"/>
                  </a:schemeClr>
                </a:solidFill>
                <a:latin typeface="Noto Sans SC"/>
                <a:ea typeface="Noto Sans SC"/>
                <a:cs typeface="Noto Sans SC"/>
              </a:rPr>
              <a:t>角色演化桑基图</a:t>
            </a:r>
          </a:p>
        </p:txBody>
        <p:extLst>
          <p:ext uri="http://schemas.baidu.com/office/drawing/2023/templateData">
            <bd:templateData xmlns:bd="http://schemas.baidu.com/office/drawing/2023/templateData">eyJfdGVtcGxhdGVEYXRhIjp7ImNvbnRlbnRUeXBlIjoiJGl0ZW01X3RpdGxlIiwibGluZUNvdW50IjoiMSIsIndvcmRDb3VudCI6IjkifSwidGFnIjoiJGl0ZW01X3RpdGxlIn0=</bd:templateData>
          </p:ext>
        </p:extLst>
      </p:sp>
      <p:sp>
        <p:nvSpPr>
          <p:cNvPr id="11" name="TextBox 11"/>
          <p:cNvSpPr txBox="1"/>
          <p:nvPr/>
        </p:nvSpPr>
        <p:spPr>
          <a:xfrm rot="0">
            <a:off x="1241668" y="5155321"/>
            <a:ext cx="4314825" cy="891930"/>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使用流量图形式清晰展示开发者社区角色变迁的路径和转换概率。</a:t>
            </a:r>
          </a:p>
        </p:txBody>
        <p:extLst>
          <p:ext uri="http://schemas.baidu.com/office/drawing/2023/templateData">
            <bd:templateData xmlns:bd="http://schemas.baidu.com/office/drawing/2023/templateData">eyJfdGVtcGxhdGVEYXRhIjp7ImNvbnRlbnRUeXBlIjoiJGl0ZW01X2MiLCJsaW5lQ291bnQiOiIyIiwid29yZENvdW50IjoiMjAifSwidGFnIjoiJGl0ZW01X2MifQ==</bd:templateData>
          </p:ext>
        </p:extLst>
      </p:sp>
      <p:sp>
        <p:nvSpPr>
          <p:cNvPr id="12" name="TextBox 12"/>
          <p:cNvSpPr txBox="1"/>
          <p:nvPr/>
        </p:nvSpPr>
        <p:spPr>
          <a:xfrm rot="0">
            <a:off x="7246698" y="4693420"/>
            <a:ext cx="2857500" cy="695325"/>
          </a:xfrm>
          <a:prstGeom prst="rect">
            <a:avLst/>
          </a:prstGeom>
          <a:ln/>
        </p:spPr>
        <p:txBody>
          <a:bodyPr anchor="b" anchorCtr="0" bIns="123825" lIns="123825" rIns="57150" rtlCol="0" tIns="123825" vert="horz" wrap="square">
            <a:noAutofit/>
          </a:bodyPr>
          <a:lstStyle/>
          <a:p>
            <a:pPr>
              <a:lnSpc>
                <a:spcPct val="120000"/>
              </a:lnSpc>
            </a:pPr>
            <a:r>
              <a:rPr b="1" lang="en-US" sz="2000">
                <a:solidFill>
                  <a:schemeClr val="accent1">
                    <a:alpha val="100000"/>
                  </a:schemeClr>
                </a:solidFill>
                <a:latin typeface="Noto Sans SC"/>
                <a:ea typeface="Noto Sans SC"/>
                <a:cs typeface="Noto Sans SC"/>
              </a:rPr>
              <a:t>知识传播树状图</a:t>
            </a:r>
          </a:p>
        </p:txBody>
        <p:extLst>
          <p:ext uri="http://schemas.baidu.com/office/drawing/2023/templateData">
            <bd:templateData xmlns:bd="http://schemas.baidu.com/office/drawing/2023/templateData">eyJfdGVtcGxhdGVEYXRhIjp7ImNvbnRlbnRUeXBlIjoiJGl0ZW02X3RpdGxlIiwibGluZUNvdW50IjoiMSIsIndvcmRDb3VudCI6IjkifSwidGFnIjoiJGl0ZW02X3RpdGxlIn0=</bd:templateData>
          </p:ext>
        </p:extLst>
      </p:sp>
      <p:sp>
        <p:nvSpPr>
          <p:cNvPr id="13" name="TextBox 13"/>
          <p:cNvSpPr txBox="1"/>
          <p:nvPr/>
        </p:nvSpPr>
        <p:spPr>
          <a:xfrm rot="0">
            <a:off x="7246698" y="5155321"/>
            <a:ext cx="4295775" cy="891930"/>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以层级结构可视化技术讨论中的观点衍生关系和知识传播深度。</a:t>
            </a:r>
          </a:p>
        </p:txBody>
        <p:extLst>
          <p:ext uri="http://schemas.baidu.com/office/drawing/2023/templateData">
            <bd:templateData xmlns:bd="http://schemas.baidu.com/office/drawing/2023/templateData">eyJfdGVtcGxhdGVEYXRhIjp7ImNvbnRlbnRUeXBlIjoiJGl0ZW02X2MiLCJsaW5lQ291bnQiOiIyIiwid29yZENvdW50IjoiMjAifSwidGFnIjoiJGl0ZW02X2MifQ==</bd:templateData>
          </p:ext>
        </p:extLst>
      </p:sp>
      <p:sp>
        <p:nvSpPr>
          <p:cNvPr id="14" name="TextBox 14"/>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多维可视化展示</a:t>
            </a:r>
          </a:p>
        </p:txBody>
        <p:extLst>
          <p:ext uri="http://schemas.baidu.com/office/drawing/2023/templateData">
            <bd:templateData xmlns:bd="http://schemas.baidu.com/office/drawing/2023/templateData">eyJfdGVtcGxhdGVEYXRhIjp7ImNvbnRlbnRUeXBlIjoiJHRpdGxlIiwibGluZUNvdW50IjoiMSIsIndvcmRDb3VudCI6IjI4In0sInRhZyI6IiR0aXRsZSJ9</bd:templateData>
          </p:ext>
        </p:extLst>
      </p:sp>
      <p:sp>
        <p:nvSpPr>
          <p:cNvPr id="15" name="TextBox 15"/>
          <p:cNvSpPr txBox="1"/>
          <p:nvPr/>
        </p:nvSpPr>
        <p:spPr>
          <a:xfrm rot="0">
            <a:off x="325363" y="1452351"/>
            <a:ext cx="916305" cy="1143590"/>
          </a:xfrm>
          <a:prstGeom prst="rect">
            <a:avLst/>
          </a:prstGeom>
          <a:ln/>
        </p:spPr>
        <p:txBody>
          <a:bodyPr anchor="t" anchorCtr="0" bIns="0" lIns="0" rIns="0" rtlCol="0" tIns="0" vert="horz" wrap="square">
            <a:noAutofit/>
          </a:bodyPr>
          <a:lstStyle/>
          <a:p>
            <a:pPr algn="r">
              <a:lnSpc>
                <a:spcPct val="100000"/>
              </a:lnSpc>
              <a:spcBef>
                <a:spcPts val="375"/>
              </a:spcBef>
            </a:pPr>
            <a:r>
              <a:rPr b="1" lang="en-US" sz="4950">
                <a:solidFill>
                  <a:schemeClr val="accent1">
                    <a:alpha val="100000"/>
                  </a:schemeClr>
                </a:solidFill>
                <a:latin typeface="Helvetica"/>
                <a:ea typeface="Helvetica"/>
                <a:cs typeface="Helvetica"/>
              </a:rPr>
              <a:t>01</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6" name="TextBox 16"/>
          <p:cNvSpPr txBox="1"/>
          <p:nvPr/>
        </p:nvSpPr>
        <p:spPr>
          <a:xfrm rot="0">
            <a:off x="6231800" y="1461876"/>
            <a:ext cx="916305" cy="1143590"/>
          </a:xfrm>
          <a:prstGeom prst="rect">
            <a:avLst/>
          </a:prstGeom>
          <a:ln/>
        </p:spPr>
        <p:txBody>
          <a:bodyPr anchor="t" anchorCtr="0" bIns="0" lIns="0" rIns="0" rtlCol="0" tIns="0" vert="horz" wrap="square">
            <a:noAutofit/>
          </a:bodyPr>
          <a:lstStyle/>
          <a:p>
            <a:pPr algn="r">
              <a:lnSpc>
                <a:spcPct val="100000"/>
              </a:lnSpc>
              <a:spcBef>
                <a:spcPts val="375"/>
              </a:spcBef>
            </a:pPr>
            <a:r>
              <a:rPr b="1" lang="en-US" sz="4950">
                <a:solidFill>
                  <a:schemeClr val="accent1">
                    <a:alpha val="100000"/>
                  </a:schemeClr>
                </a:solidFill>
                <a:latin typeface="Helvetica"/>
                <a:ea typeface="Helvetica"/>
                <a:cs typeface="Helvetica"/>
              </a:rPr>
              <a:t>02</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7" name="TextBox 17"/>
          <p:cNvSpPr txBox="1"/>
          <p:nvPr/>
        </p:nvSpPr>
        <p:spPr>
          <a:xfrm rot="0">
            <a:off x="262865" y="3084545"/>
            <a:ext cx="916305" cy="1143590"/>
          </a:xfrm>
          <a:prstGeom prst="rect">
            <a:avLst/>
          </a:prstGeom>
          <a:ln/>
        </p:spPr>
        <p:txBody>
          <a:bodyPr anchor="t" anchorCtr="0" bIns="0" lIns="0" rIns="0" rtlCol="0" tIns="0" vert="horz" wrap="square">
            <a:noAutofit/>
          </a:bodyPr>
          <a:lstStyle/>
          <a:p>
            <a:pPr algn="r">
              <a:lnSpc>
                <a:spcPct val="100000"/>
              </a:lnSpc>
              <a:spcBef>
                <a:spcPts val="375"/>
              </a:spcBef>
            </a:pPr>
            <a:r>
              <a:rPr b="1" lang="en-US" sz="4950">
                <a:solidFill>
                  <a:schemeClr val="accent1">
                    <a:alpha val="100000"/>
                  </a:schemeClr>
                </a:solidFill>
                <a:latin typeface="Helvetica"/>
                <a:ea typeface="Helvetica"/>
                <a:cs typeface="Helvetica"/>
              </a:rPr>
              <a:t>03</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8" name="TextBox 18"/>
          <p:cNvSpPr txBox="1"/>
          <p:nvPr/>
        </p:nvSpPr>
        <p:spPr>
          <a:xfrm rot="0">
            <a:off x="6231800" y="3094070"/>
            <a:ext cx="916305" cy="1143590"/>
          </a:xfrm>
          <a:prstGeom prst="rect">
            <a:avLst/>
          </a:prstGeom>
          <a:ln/>
        </p:spPr>
        <p:txBody>
          <a:bodyPr anchor="t" anchorCtr="0" bIns="0" lIns="0" rIns="0" rtlCol="0" tIns="0" vert="horz" wrap="square">
            <a:noAutofit/>
          </a:bodyPr>
          <a:lstStyle/>
          <a:p>
            <a:pPr algn="r">
              <a:lnSpc>
                <a:spcPct val="100000"/>
              </a:lnSpc>
              <a:spcBef>
                <a:spcPts val="375"/>
              </a:spcBef>
            </a:pPr>
            <a:r>
              <a:rPr b="1" lang="en-US" sz="4950">
                <a:solidFill>
                  <a:schemeClr val="accent1">
                    <a:alpha val="100000"/>
                  </a:schemeClr>
                </a:solidFill>
                <a:latin typeface="Helvetica"/>
                <a:ea typeface="Helvetica"/>
                <a:cs typeface="Helvetica"/>
              </a:rPr>
              <a:t>04</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9" name="TextBox 19"/>
          <p:cNvSpPr txBox="1"/>
          <p:nvPr/>
        </p:nvSpPr>
        <p:spPr>
          <a:xfrm rot="0">
            <a:off x="262865" y="4754608"/>
            <a:ext cx="916305" cy="1143590"/>
          </a:xfrm>
          <a:prstGeom prst="rect">
            <a:avLst/>
          </a:prstGeom>
          <a:ln/>
        </p:spPr>
        <p:txBody>
          <a:bodyPr anchor="t" anchorCtr="0" bIns="0" lIns="0" rIns="0" rtlCol="0" tIns="0" vert="horz" wrap="square">
            <a:noAutofit/>
          </a:bodyPr>
          <a:lstStyle/>
          <a:p>
            <a:pPr algn="r">
              <a:lnSpc>
                <a:spcPct val="100000"/>
              </a:lnSpc>
              <a:spcBef>
                <a:spcPts val="375"/>
              </a:spcBef>
            </a:pPr>
            <a:r>
              <a:rPr b="1" lang="en-US" sz="4950">
                <a:solidFill>
                  <a:schemeClr val="accent1">
                    <a:alpha val="100000"/>
                  </a:schemeClr>
                </a:solidFill>
                <a:latin typeface="Helvetica"/>
                <a:ea typeface="Helvetica"/>
                <a:cs typeface="Helvetica"/>
              </a:rPr>
              <a:t>05</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20" name="TextBox 20"/>
          <p:cNvSpPr txBox="1"/>
          <p:nvPr/>
        </p:nvSpPr>
        <p:spPr>
          <a:xfrm rot="0">
            <a:off x="6231800" y="4754608"/>
            <a:ext cx="916305" cy="1143590"/>
          </a:xfrm>
          <a:prstGeom prst="rect">
            <a:avLst/>
          </a:prstGeom>
          <a:ln/>
        </p:spPr>
        <p:txBody>
          <a:bodyPr anchor="t" anchorCtr="0" bIns="0" lIns="0" rIns="0" rtlCol="0" tIns="0" vert="horz" wrap="square">
            <a:noAutofit/>
          </a:bodyPr>
          <a:lstStyle/>
          <a:p>
            <a:pPr algn="r">
              <a:lnSpc>
                <a:spcPct val="100000"/>
              </a:lnSpc>
              <a:spcBef>
                <a:spcPts val="375"/>
              </a:spcBef>
            </a:pPr>
            <a:r>
              <a:rPr b="1" lang="en-US" sz="4950">
                <a:solidFill>
                  <a:schemeClr val="accent1">
                    <a:alpha val="100000"/>
                  </a:schemeClr>
                </a:solidFill>
                <a:latin typeface="Helvetica"/>
                <a:ea typeface="Helvetica"/>
                <a:cs typeface="Helvetica"/>
              </a:rPr>
              <a:t>06</a:t>
            </a:r>
          </a:p>
        </p:txBody>
        <p:extLst>
          <p:ext uri="http://schemas.baidu.com/office/drawing/2023/templateData">
            <bd:templateData xmlns:bd="http://schemas.baidu.com/office/drawing/2023/templateData">eyJfdGVtcGxhdGVEYXRhIjp7ImxpbmVDb3VudCI6IjEiLCJ3b3JkQ291bnQiOiIxIn0sInRhZyI6Im5vRWRpdCJ9</bd:templateData>
          </p:ext>
        </p:extLst>
      </p:sp>
    </p:spTree>
  </p:cSld>
  <p:clrMapOvr>
    <a:masterClrMapping/>
  </p:clrMapOvr>
  <p:extLst>
    <p:ext uri="http://schemas.baidu.com/office/drawing/2023/templateData">
      <bd:templateData xmlns:bd="http://schemas.baidu.com/office/drawing/2023/templateData">eyJtZCI6IiMjIOWkmue7tOWPr+inhuWMluWxleekulxuIyMjIOS4quS6uui0oeeMrumbt+i+vuWbvlxu55So5aSa57u05Z2Q5qCH57O75bGV56S65byA5Y+R6ICF5Zyo5Luj56CB44CB5paH5qGj44CB56S+5Yy6562J5aSa5pa56Z2i55qE57u85ZCI6LSh54yu5YiG5biD44CCXG4jIyMg5Y2P5L2c572R57uc5Yqb5a+85ZCR5Zu+XG7liqjmgIHlkYjnjrDlvIDlj5HogIXpl7TnmoTljY/kvZzlvLrluqblkozmioDmnK/kvp3otZblhbPns7vvvIzmlK/mjIHkuqTkupLlvI/mjqLntKLjgIJcbiMjIyDlvbHlk43lipvng63lipvlm75cbuWcqOWcsOeQhuWdkOagh+aIlue7hOe7h+aetuaehOWbvuS4iuWPoOWKoOaYvuekuuW8gOWPkeiAheW9seWTjeWKm+eahOepuumXtOWIhuW4g+eJueW+geOAglxuIyMjIOi0oeeMrui2i+WKv+ays+a1geWbvlxu6YCa6L+H5rWB5Yqo55qE5bim54q25Zu+6KGo5bGV546w5LiN5ZCM5oqA5pyv6aKG5Z+f6LSh54yu6YeP55qE5pe25bqP5Y+Y5YyW5ZKM5q2k5raI5b286ZW/44CCXG4jIyMg6KeS6Imy5ryU5YyW5qGR5Z+65Zu+XG7kvb/nlKjmtYHph4/lm77lvaLlvI/muIXmmbDlsZXnpLrlvIDlj5HogIXnpL7ljLrop5LoibLlj5jov4HnmoTot6/lvoTlkozovazmjaLmpoLnjofjgIJcbiMjIyDnn6Xor4bkvKDmkq3moJHnirblm75cbuS7peWxgue6p+e7k+aehOWPr+inhuWMluaKgOacr+iuqOiuuuS4reeahOingueCueihjeeUn+WFs+ezu+WSjOefpeivhuS8oOaSrea3seW6puOAgiIsInRwbGlkIjoiNjgiLCJ0cGxOYW1lIjoibGlzdDZfMCIsImVkaXRlZCI6ImZhbHNlIn0=</bd:templateData>
    </p:ext>
  </p:extLst>
</p:sld>
</file>

<file path=ppt/slides/slide13.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3947160" y="1300388"/>
            <a:ext cx="4297680" cy="1522429"/>
          </a:xfrm>
          <a:prstGeom prst="rect">
            <a:avLst/>
          </a:prstGeom>
          <a:ln/>
        </p:spPr>
        <p:txBody>
          <a:bodyPr anchor="ctr" anchorCtr="0" bIns="45720" lIns="91440" rIns="91440" rtlCol="0" tIns="45720" vert="horz" wrap="square">
            <a:normAutofit/>
          </a:bodyPr>
          <a:lstStyle/>
          <a:p>
            <a:pPr algn="ctr">
              <a:lnSpc>
                <a:spcPct val="100000"/>
              </a:lnSpc>
              <a:spcBef>
                <a:spcPts val="375"/>
              </a:spcBef>
            </a:pPr>
            <a:r>
              <a:rPr b="1" lang="en-US" sz="7050">
                <a:solidFill>
                  <a:srgbClr val="1ACA6E">
                    <a:alpha val="100000"/>
                  </a:srgbClr>
                </a:solidFill>
                <a:latin typeface="Noto Sans SC"/>
                <a:ea typeface="Noto Sans SC"/>
                <a:cs typeface="Noto Sans SC"/>
              </a:rPr>
              <a:t>04</a:t>
            </a:r>
          </a:p>
        </p:txBody>
        <p:extLst>
          <p:ext uri="http://schemas.baidu.com/office/drawing/2023/templateData">
            <bd:templateData xmlns:bd="http://schemas.baidu.com/office/drawing/2023/templateData">eyJfdGVtcGxhdGVEYXRhIjp7ImNvbnRlbnRUeXBlIjoiJG51bWJlciIsImxpbmVDb3VudCI6IjEiLCJ3b3JkQ291bnQiOiIzIn0sInRhZyI6Im5vRWRpdCJ9</bd:templateData>
          </p:ext>
        </p:extLst>
      </p:sp>
      <p:sp>
        <p:nvSpPr>
          <p:cNvPr id="3" name="TextBox 3"/>
          <p:cNvSpPr txBox="1"/>
          <p:nvPr/>
        </p:nvSpPr>
        <p:spPr>
          <a:xfrm rot="0">
            <a:off x="1811474" y="2886383"/>
            <a:ext cx="8569053" cy="2874949"/>
          </a:xfrm>
          <a:prstGeom prst="rect">
            <a:avLst/>
          </a:prstGeom>
          <a:ln/>
        </p:spPr>
        <p:txBody>
          <a:bodyPr anchor="t" anchorCtr="0" bIns="45720" lIns="91440" rIns="91440" rtlCol="0" tIns="45720" vert="horz" wrap="square">
            <a:noAutofit/>
          </a:bodyPr>
          <a:lstStyle/>
          <a:p>
            <a:pPr algn="ctr">
              <a:lnSpc>
                <a:spcPct val="100000"/>
              </a:lnSpc>
              <a:spcBef>
                <a:spcPts val="375"/>
              </a:spcBef>
            </a:pPr>
            <a:r>
              <a:rPr b="1" lang="en-US" sz="5250">
                <a:solidFill>
                  <a:srgbClr val="152815">
                    <a:alpha val="100000"/>
                  </a:srgbClr>
                </a:solidFill>
                <a:latin typeface="Noto Sans SC"/>
                <a:ea typeface="Noto Sans SC"/>
                <a:cs typeface="Noto Sans SC"/>
              </a:rPr>
              <a:t>技术路线规划</a:t>
            </a:r>
          </a:p>
        </p:txBody>
        <p:extLst>
          <p:ext uri="http://schemas.baidu.com/office/drawing/2023/templateData">
            <bd:templateData xmlns:bd="http://schemas.baidu.com/office/drawing/2023/templateData">eyJfdGVtcGxhdGVEYXRhIjp7ImNvbnRlbnRUeXBlIjoiJHRpdGxlIiwibGluZUNvdW50IjoiMyIsIndvcmRDb3VudCI6IjExIn0sInRhZyI6IiR0aXRsZSJ9</bd:templateData>
          </p:ext>
        </p:extLst>
      </p:sp>
    </p:spTree>
  </p:cSld>
  <p:clrMapOvr>
    <a:masterClrMapping/>
  </p:clrMapOvr>
  <p:extLst>
    <p:ext uri="http://schemas.baidu.com/office/drawing/2023/templateData">
      <bd:templateData xmlns:bd="http://schemas.baidu.com/office/drawing/2023/templateData">eyJtZCI6IiMjIOaKgOacr+i3r+e6v+inhOWIkiIsInRwbGlkIjoiNjgiLCJ0cGxOYW1lIjoiaDJ0aXRsZV82OGdsYXNzIiwiZWRpdGVkIjoiZmFsc2UifQ==</bd:templateData>
    </p:ext>
  </p:extLst>
</p:sld>
</file>

<file path=ppt/slides/slide14.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1">
                    <a:alpha val="100000"/>
                  </a:schemeClr>
                </a:solidFill>
                <a:latin typeface="Noto Sans SC"/>
                <a:ea typeface="Noto Sans SC"/>
                <a:cs typeface="Noto Sans SC"/>
              </a:rPr>
              <a:t>数据获取阶段</a:t>
            </a:r>
          </a:p>
        </p:txBody>
        <p:extLst>
          <p:ext uri="http://schemas.baidu.com/office/drawing/2023/templateData">
            <bd:templateData xmlns:bd="http://schemas.baidu.com/office/drawing/2023/templateData">eyJfdGVtcGxhdGVEYXRhIjp7ImNvbnRlbnRUeXBlIjoiJHRpdGxlIiwibGluZUNvdW50IjoiMSIsIndvcmRDb3VudCI6IjI4In0sInRhZyI6IiR0aXRsZSJ9</bd:templateData>
          </p:ext>
        </p:extLst>
      </p:sp>
      <p:pic>
        <p:nvPicPr>
          <p:cNvPr id="3" name="Picture 3"/>
          <p:cNvPicPr>
            <a:picLocks noChangeAspect="1"/>
          </p:cNvPicPr>
          <p:nvPr/>
        </p:nvPicPr>
        <p:blipFill>
          <a:blip r:embed="rId3">
            <a:alphaModFix amt="100000"/>
          </a:blip>
          <a:srcRect l="14771" r="14771"/>
          <a:stretch>
            <a:fillRect/>
          </a:stretch>
        </p:blipFill>
        <p:spPr>
          <a:xfrm rot="0">
            <a:off x="1466885" y="2187982"/>
            <a:ext cx="2739046" cy="2739046"/>
          </a:xfrm>
          <a:prstGeom prst="ellipse">
            <a:avLst/>
          </a:prstGeom>
        </p:spPr>
        <p:extLst>
          <p:ext uri="http://schemas.baidu.com/office/drawing/2023/templateData">
            <bd:templateData xmlns:bd="http://schemas.baidu.com/office/drawing/2023/templateData">eyJfdGVtcGxhdGVEYXRhIjp7ImNvbnRlbnRUeXBlIjoiJGltZzAifSwidGFnIjoiJGltZzAifQ==</bd:templateData>
          </p:ext>
        </p:extLst>
      </p:pic>
      <p:sp>
        <p:nvSpPr>
          <p:cNvPr id="4" name="Freeform 4"/>
          <p:cNvSpPr/>
          <p:nvPr/>
        </p:nvSpPr>
        <p:spPr>
          <a:xfrm rot="0">
            <a:off x="4509171" y="1790522"/>
            <a:ext cx="583851" cy="3533966"/>
          </a:xfrm>
          <a:custGeom>
            <a:avLst/>
            <a:gdLst/>
            <a:ahLst/>
            <a:cxnLst/>
            <a:rect b="b" l="l" r="r" t="t"/>
            <a:pathLst>
              <a:path h="3533966" w="583851">
                <a:moveTo>
                  <a:pt x="583851" y="0"/>
                </a:moveTo>
                <a:quadBezTo>
                  <a:pt x="291925" y="0"/>
                  <a:pt x="291925" y="353397"/>
                </a:quadBezTo>
                <a:lnTo>
                  <a:pt x="291925" y="1413586"/>
                </a:lnTo>
                <a:quadBezTo>
                  <a:pt x="291925" y="1766983"/>
                  <a:pt x="0" y="1766983"/>
                </a:quadBezTo>
                <a:quadBezTo>
                  <a:pt x="291925" y="1766983"/>
                  <a:pt x="291925" y="2120379"/>
                </a:quadBezTo>
                <a:lnTo>
                  <a:pt x="291925" y="3180569"/>
                </a:lnTo>
                <a:quadBezTo>
                  <a:pt x="291925" y="3533966"/>
                  <a:pt x="583851" y="3533966"/>
                </a:quadBezTo>
              </a:path>
            </a:pathLst>
          </a:custGeom>
          <a:noFill/>
          <a:ln w="1905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5" name="AutoShape 5"/>
          <p:cNvSpPr/>
          <p:nvPr/>
        </p:nvSpPr>
        <p:spPr>
          <a:xfrm rot="0">
            <a:off x="5347614" y="5067201"/>
            <a:ext cx="5299568" cy="468573"/>
          </a:xfrm>
          <a:prstGeom prst="roundRect">
            <a:avLst>
              <a:gd fmla="val 50000" name="adj"/>
            </a:avLst>
          </a:prstGeom>
          <a:solidFill>
            <a:schemeClr val="accent3">
              <a:alpha val="100000"/>
              <a:lumMod val="50000"/>
            </a:schemeClr>
          </a:solidFill>
          <a:ln/>
        </p:spPr>
        <p:extLst>
          <p:ext uri="http://schemas.baidu.com/office/drawing/2023/templateData">
            <bd:templateData xmlns:bd="http://schemas.baidu.com/office/drawing/2023/templateData">eyJ0YWciOiJub0VkaXQifQ==</bd:templateData>
          </p:ext>
        </p:extLst>
      </p:sp>
      <p:sp>
        <p:nvSpPr>
          <p:cNvPr id="6" name="AutoShape 6"/>
          <p:cNvSpPr/>
          <p:nvPr/>
        </p:nvSpPr>
        <p:spPr>
          <a:xfrm rot="0">
            <a:off x="6414867" y="5045544"/>
            <a:ext cx="3165062" cy="454737"/>
          </a:xfrm>
          <a:prstGeom prst="rect">
            <a:avLst/>
          </a:prstGeom>
          <a:noFill/>
          <a:ln/>
        </p:spPr>
        <p:txBody>
          <a:bodyPr anchor="b" anchorCtr="1" bIns="45720" lIns="91440" rIns="91440" rtlCol="0" tIns="45720" vert="horz" wrap="square">
            <a:normAutofit/>
          </a:bodyPr>
          <a:lstStyle/>
          <a:p>
            <a:pPr algn="ctr">
              <a:defRPr/>
            </a:pPr>
            <a:r>
              <a:rPr b="1" lang="en-US" sz="1800">
                <a:solidFill>
                  <a:srgbClr val="FFFFFF">
                    <a:alpha val="100000"/>
                  </a:srgbClr>
                </a:solidFill>
                <a:latin typeface="Noto Sans SC"/>
                <a:ea typeface="Noto Sans SC"/>
                <a:cs typeface="Noto Sans SC"/>
              </a:rPr>
              <a:t>数据清洗与预处理</a:t>
            </a:r>
            <a:endParaRPr lang="en-US" sz="1100"/>
          </a:p>
        </p:txBody>
        <p:extLst>
          <p:ext uri="http://schemas.baidu.com/office/drawing/2023/templateData">
            <bd:templateData xmlns:bd="http://schemas.baidu.com/office/drawing/2023/templateData">eyJfdGVtcGxhdGVEYXRhIjp7ImNvbnRlbnRUeXBlIjoiJGl0ZW0zX3RpdGxlIiwibGluZUNvdW50IjoiMSIsIndvcmRDb3VudCI6IjEyIn0sInRhZyI6IiRpdGVtM190aXRsZSJ9</bd:templateData>
          </p:ext>
        </p:extLst>
      </p:sp>
      <p:sp>
        <p:nvSpPr>
          <p:cNvPr id="7" name="TextBox 7"/>
          <p:cNvSpPr txBox="1"/>
          <p:nvPr/>
        </p:nvSpPr>
        <p:spPr>
          <a:xfrm rot="0">
            <a:off x="5452715" y="5573201"/>
            <a:ext cx="5194466" cy="964797"/>
          </a:xfrm>
          <a:prstGeom prst="rect">
            <a:avLst/>
          </a:prstGeom>
          <a:ln/>
        </p:spPr>
        <p:txBody>
          <a:bodyPr anchor="t" anchorCtr="0" bIns="57150" lIns="123825" rIns="57150" rtlCol="0" tIns="57150" vert="horz" wrap="square">
            <a:noAutofit/>
          </a:bodyPr>
          <a:lstStyle/>
          <a:p>
            <a:pPr algn="l">
              <a:lnSpc>
                <a:spcPct val="114999"/>
              </a:lnSpc>
            </a:pPr>
            <a:r>
              <a:rPr lang="en-US" sz="1350">
                <a:solidFill>
                  <a:schemeClr val="dk1">
                    <a:alpha val="100000"/>
                  </a:schemeClr>
                </a:solidFill>
                <a:latin typeface="Noto Sans SC"/>
                <a:ea typeface="Noto Sans SC"/>
                <a:cs typeface="Noto Sans SC"/>
              </a:rPr>
              <a:t>对采集到的原始数据进行清洗，去除重复、无效或错误数据，进行数据格式转换和标准化处理，为后续分析提供高质量的数据基础。</a:t>
            </a:r>
          </a:p>
        </p:txBody>
        <p:extLst>
          <p:ext uri="http://schemas.baidu.com/office/drawing/2023/templateData">
            <bd:templateData xmlns:bd="http://schemas.baidu.com/office/drawing/2023/templateData">eyJfdGVtcGxhdGVEYXRhIjp7ImNvbnRlbnRUeXBlIjoiJGl0ZW0zX2MiLCJsaW5lQ291bnQiOiIzIiwid29yZENvdW50IjoiMjgifSwidGFnIjoiJGl0ZW0zX2MifQ==</bd:templateData>
          </p:ext>
        </p:extLst>
      </p:sp>
      <p:sp>
        <p:nvSpPr>
          <p:cNvPr id="8" name="AutoShape 8"/>
          <p:cNvSpPr/>
          <p:nvPr/>
        </p:nvSpPr>
        <p:spPr>
          <a:xfrm rot="0">
            <a:off x="5347614" y="3298365"/>
            <a:ext cx="5299568" cy="468573"/>
          </a:xfrm>
          <a:prstGeom prst="roundRect">
            <a:avLst>
              <a:gd fmla="val 50000" name="adj"/>
            </a:avLst>
          </a:prstGeom>
          <a:solidFill>
            <a:schemeClr val="accent2">
              <a:alpha val="100000"/>
              <a:lumMod val="75000"/>
            </a:schemeClr>
          </a:solidFill>
          <a:ln/>
        </p:spPr>
        <p:extLst>
          <p:ext uri="http://schemas.baidu.com/office/drawing/2023/templateData">
            <bd:templateData xmlns:bd="http://schemas.baidu.com/office/drawing/2023/templateData">eyJ0YWciOiJub0VkaXQifQ==</bd:templateData>
          </p:ext>
        </p:extLst>
      </p:sp>
      <p:sp>
        <p:nvSpPr>
          <p:cNvPr id="9" name="AutoShape 9"/>
          <p:cNvSpPr/>
          <p:nvPr/>
        </p:nvSpPr>
        <p:spPr>
          <a:xfrm rot="0">
            <a:off x="6414867" y="3276708"/>
            <a:ext cx="3165062" cy="454737"/>
          </a:xfrm>
          <a:prstGeom prst="rect">
            <a:avLst/>
          </a:prstGeom>
          <a:noFill/>
          <a:ln/>
        </p:spPr>
        <p:txBody>
          <a:bodyPr anchor="b" anchorCtr="1" bIns="45720" lIns="91440" rIns="91440" rtlCol="0" tIns="45720" vert="horz" wrap="square">
            <a:normAutofit/>
          </a:bodyPr>
          <a:lstStyle/>
          <a:p>
            <a:pPr algn="ctr">
              <a:defRPr/>
            </a:pPr>
            <a:r>
              <a:rPr b="1" lang="en-US" sz="1800">
                <a:solidFill>
                  <a:srgbClr val="FFFFFF">
                    <a:alpha val="100000"/>
                  </a:srgbClr>
                </a:solidFill>
                <a:latin typeface="Noto Sans SC"/>
                <a:ea typeface="Noto Sans SC"/>
                <a:cs typeface="Noto Sans SC"/>
              </a:rPr>
              <a:t>数据采集工具</a:t>
            </a:r>
            <a:endParaRPr lang="en-US" sz="1100"/>
          </a:p>
        </p:txBody>
        <p:extLst>
          <p:ext uri="http://schemas.baidu.com/office/drawing/2023/templateData">
            <bd:templateData xmlns:bd="http://schemas.baidu.com/office/drawing/2023/templateData">eyJfdGVtcGxhdGVEYXRhIjp7ImNvbnRlbnRUeXBlIjoiJGl0ZW0yX3RpdGxlIiwibGluZUNvdW50IjoiMSIsIndvcmRDb3VudCI6IjEyIn0sInRhZyI6IiRpdGVtMl90aXRsZSJ9</bd:templateData>
          </p:ext>
        </p:extLst>
      </p:sp>
      <p:sp>
        <p:nvSpPr>
          <p:cNvPr id="10" name="TextBox 10"/>
          <p:cNvSpPr txBox="1"/>
          <p:nvPr/>
        </p:nvSpPr>
        <p:spPr>
          <a:xfrm rot="0">
            <a:off x="5452715" y="3804364"/>
            <a:ext cx="5194466" cy="1061273"/>
          </a:xfrm>
          <a:prstGeom prst="rect">
            <a:avLst/>
          </a:prstGeom>
          <a:ln/>
        </p:spPr>
        <p:txBody>
          <a:bodyPr anchor="t" anchorCtr="0" bIns="57150" lIns="123825" rIns="57150" rtlCol="0" tIns="57150" vert="horz" wrap="square">
            <a:noAutofit/>
          </a:bodyPr>
          <a:lstStyle/>
          <a:p>
            <a:pPr algn="l">
              <a:lnSpc>
                <a:spcPct val="114999"/>
              </a:lnSpc>
            </a:pPr>
            <a:r>
              <a:rPr lang="en-US" sz="1350">
                <a:solidFill>
                  <a:schemeClr val="dk1">
                    <a:alpha val="100000"/>
                  </a:schemeClr>
                </a:solidFill>
                <a:latin typeface="Noto Sans SC"/>
                <a:ea typeface="Noto Sans SC"/>
                <a:cs typeface="Noto Sans SC"/>
              </a:rPr>
              <a:t>根据数据源类型，选择或开发合适的数据采集工具，如API接口调用、网络爬虫、日志文件解析等，确保数据获取的效率和准确性。</a:t>
            </a:r>
          </a:p>
        </p:txBody>
        <p:extLst>
          <p:ext uri="http://schemas.baidu.com/office/drawing/2023/templateData">
            <bd:templateData xmlns:bd="http://schemas.baidu.com/office/drawing/2023/templateData">eyJfdGVtcGxhdGVEYXRhIjp7ImNvbnRlbnRUeXBlIjoiJGl0ZW0yX2MiLCJsaW5lQ291bnQiOiI0Iiwid29yZENvdW50IjoiMjgifSwidGFnIjoiJGl0ZW0yX2MifQ==</bd:templateData>
          </p:ext>
        </p:extLst>
      </p:sp>
      <p:sp>
        <p:nvSpPr>
          <p:cNvPr id="11" name="AutoShape 11"/>
          <p:cNvSpPr/>
          <p:nvPr/>
        </p:nvSpPr>
        <p:spPr>
          <a:xfrm rot="0">
            <a:off x="5347614" y="1556561"/>
            <a:ext cx="5299568" cy="468573"/>
          </a:xfrm>
          <a:prstGeom prst="roundRect">
            <a:avLst>
              <a:gd fmla="val 50000" name="adj"/>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2" name="AutoShape 12"/>
          <p:cNvSpPr/>
          <p:nvPr/>
        </p:nvSpPr>
        <p:spPr>
          <a:xfrm rot="0">
            <a:off x="6414867" y="1534903"/>
            <a:ext cx="3165062" cy="454737"/>
          </a:xfrm>
          <a:prstGeom prst="rect">
            <a:avLst/>
          </a:prstGeom>
          <a:noFill/>
          <a:ln/>
        </p:spPr>
        <p:txBody>
          <a:bodyPr anchor="b" anchorCtr="1" bIns="45720" lIns="91440" rIns="91440" rtlCol="0" tIns="45720" vert="horz" wrap="square">
            <a:normAutofit/>
          </a:bodyPr>
          <a:lstStyle/>
          <a:p>
            <a:pPr algn="ctr">
              <a:defRPr/>
            </a:pPr>
            <a:r>
              <a:rPr b="1" lang="en-US" sz="1800">
                <a:solidFill>
                  <a:srgbClr val="FFFFFF">
                    <a:alpha val="100000"/>
                  </a:srgbClr>
                </a:solidFill>
                <a:latin typeface="Noto Sans SC"/>
                <a:ea typeface="Noto Sans SC"/>
                <a:cs typeface="Noto Sans SC"/>
              </a:rPr>
              <a:t>数据源选择</a:t>
            </a:r>
            <a:endParaRPr lang="en-US" sz="1100"/>
          </a:p>
        </p:txBody>
        <p:extLst>
          <p:ext uri="http://schemas.baidu.com/office/drawing/2023/templateData">
            <bd:templateData xmlns:bd="http://schemas.baidu.com/office/drawing/2023/templateData">eyJfdGVtcGxhdGVEYXRhIjp7ImNvbnRlbnRUeXBlIjoiJGl0ZW0xX3RpdGxlIiwibGluZUNvdW50IjoiMSIsIndvcmRDb3VudCI6IjEyIn0sInRhZyI6IiRpdGVtMV90aXRsZSJ9</bd:templateData>
          </p:ext>
        </p:extLst>
      </p:sp>
      <p:sp>
        <p:nvSpPr>
          <p:cNvPr id="13" name="TextBox 13"/>
          <p:cNvSpPr txBox="1"/>
          <p:nvPr/>
        </p:nvSpPr>
        <p:spPr>
          <a:xfrm rot="0">
            <a:off x="5452715" y="2062560"/>
            <a:ext cx="5194466" cy="1057947"/>
          </a:xfrm>
          <a:prstGeom prst="rect">
            <a:avLst/>
          </a:prstGeom>
          <a:ln/>
        </p:spPr>
        <p:txBody>
          <a:bodyPr anchor="t" anchorCtr="0" bIns="57150" lIns="123825" rIns="57150" rtlCol="0" tIns="57150" vert="horz" wrap="square">
            <a:noAutofit/>
          </a:bodyPr>
          <a:lstStyle/>
          <a:p>
            <a:pPr algn="l">
              <a:lnSpc>
                <a:spcPct val="114999"/>
              </a:lnSpc>
            </a:pPr>
            <a:r>
              <a:rPr lang="en-US" sz="1350">
                <a:solidFill>
                  <a:schemeClr val="dk1">
                    <a:alpha val="100000"/>
                  </a:schemeClr>
                </a:solidFill>
                <a:latin typeface="Noto Sans SC"/>
                <a:ea typeface="Noto Sans SC"/>
                <a:cs typeface="Noto Sans SC"/>
              </a:rPr>
              <a:t>确定开源社区的主要数据源，如代码托管平台（GitHub、GitLab等）、社区论坛（Stack Overflow、Reddit等）、邮件列表、IRC聊天记录等，确保数据全面覆盖贡献者的活动。</a:t>
            </a:r>
          </a:p>
        </p:txBody>
        <p:extLst>
          <p:ext uri="http://schemas.baidu.com/office/drawing/2023/templateData">
            <bd:templateData xmlns:bd="http://schemas.baidu.com/office/drawing/2023/templateData">eyJfdGVtcGxhdGVEYXRhIjp7ImNvbnRlbnRUeXBlIjoiJGl0ZW0xX2MiLCJsaW5lQ291bnQiOiI0Iiwid29yZENvdW50IjoiMjgifSwidGFnIjoiJGl0ZW0xX2MifQ==</bd:templateData>
          </p:ext>
        </p:extLst>
      </p:sp>
    </p:spTree>
  </p:cSld>
  <p:clrMapOvr>
    <a:masterClrMapping/>
  </p:clrMapOvr>
  <p:extLst>
    <p:ext uri="http://schemas.baidu.com/office/drawing/2023/templateData">
      <bd:templateData xmlns:bd="http://schemas.baidu.com/office/drawing/2023/templateData">eyJtZCI6IiMjIOaVsOaNruiOt+WPlumYtuautVxuIyMjIOaVsOaNrua6kOmAieaLqVxu56Gu5a6a5byA5rqQ56S+5Yy655qE5Li76KaB5pWw5o2u5rqQ77yM5aaC5Luj56CB5omY566h5bmz5Y+w77yIR2l0SHVi44CBR2l0TGFi562J77yJ44CB56S+5Yy66K665Z2b77yIU3RhY2sgT3ZlcmZsb3fjgIFSZWRkaXTnrYnvvInjgIHpgq7ku7bliJfooajjgIFJUkPogYrlpKnorrDlvZXnrYnvvIznoa7kv53mlbDmja7lhajpnaLopobnm5botKHnjK7ogIXnmoTmtLvliqjjgIJcbiMjIyDmlbDmja7ph4fpm4blt6XlhbdcbuagueaNruaVsOaNrua6kOexu+Wei++8jOmAieaLqeaIluW8gOWPkeWQiOmAgueahOaVsOaNrumHh+mbhuW3peWFt++8jOWmgkFQSeaOpeWPo+iwg+eUqOOAgee9kee7nOeIrOiZq+OAgeaXpeW/l+aWh+S7tuino+aekOetie+8jOehruS/neaVsOaNruiOt+WPlueahOaViOeOh+WSjOWHhuehruaAp+OAglxuIyMjIOaVsOaNrua4hea0l+S4jumihOWkhOeQhlxu5a+56YeH6ZuG5Yiw55qE5Y6f5aeL5pWw5o2u6L+b6KGM5riF5rSX77yM5Y676Zmk6YeN5aSN44CB5peg5pWI5oiW6ZSZ6K+v5pWw5o2u77yM6L+b6KGM5pWw5o2u5qC85byP6L2s5o2i5ZKM5qCH5YeG5YyW5aSE55CG77yM5Li65ZCO57ut5YiG5p6Q5o+Q5L6b6auY6LSo6YeP55qE5pWw5o2u5Z+656GA44CCIiwidHBsaWQiOiI2OCIsInRwbE5hbWUiOiJsaXN0M18yMDI1MDYyNjA5IiwiZWRpdGVkIjoiZmFsc2UifQ==</bd:templateData>
    </p:ext>
  </p:extLst>
</p:sld>
</file>

<file path=ppt/slides/slide15.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rot="0">
            <a:off x="4462463" y="2088071"/>
            <a:ext cx="3267075" cy="3267075"/>
          </a:xfrm>
          <a:prstGeom prst="ellipse">
            <a:avLst/>
          </a:prstGeom>
          <a:ln w="57150">
            <a:solidFill>
              <a:schemeClr val="accent1"/>
            </a:solidFill>
            <a:prstDash val="solid"/>
          </a:ln>
        </p:spPr>
        <p:extLst>
          <p:ext uri="http://schemas.baidu.com/office/drawing/2023/templateData">
            <bd:templateData xmlns:bd="http://schemas.baidu.com/office/drawing/2023/templateData">eyJfdGVtcGxhdGVEYXRhIjp7ImNvbnRlbnRUeXBlIjoiJGltZzAifSwidGFnIjoiJGltZzAifQ==</bd:templateData>
          </p:ext>
        </p:extLst>
      </p:pic>
      <p:sp>
        <p:nvSpPr>
          <p:cNvPr id="3" name="TextBox 3"/>
          <p:cNvSpPr txBox="1"/>
          <p:nvPr/>
        </p:nvSpPr>
        <p:spPr>
          <a:xfrm rot="0">
            <a:off x="742971" y="2306715"/>
            <a:ext cx="3314231" cy="647995"/>
          </a:xfrm>
          <a:prstGeom prst="rect">
            <a:avLst/>
          </a:prstGeom>
          <a:ln/>
        </p:spPr>
        <p:txBody>
          <a:bodyPr anchor="ctr" anchorCtr="0" bIns="57150" lIns="114300" rIns="114300" rtlCol="0" tIns="57150" vert="horz" wrap="square">
            <a:noAutofit/>
          </a:bodyPr>
          <a:lstStyle/>
          <a:p>
            <a:pPr algn="r">
              <a:lnSpc>
                <a:spcPct val="120000"/>
              </a:lnSpc>
            </a:pPr>
            <a:r>
              <a:rPr b="1" lang="en-US" sz="2400">
                <a:solidFill>
                  <a:schemeClr val="accent1">
                    <a:alpha val="100000"/>
                  </a:schemeClr>
                </a:solidFill>
                <a:latin typeface="Noto Sans SC"/>
                <a:ea typeface="Noto Sans SC"/>
                <a:cs typeface="Noto Sans SC"/>
              </a:rPr>
              <a:t>数据存储与管理</a:t>
            </a:r>
          </a:p>
        </p:txBody>
        <p:extLst>
          <p:ext uri="http://schemas.baidu.com/office/drawing/2023/templateData">
            <bd:templateData xmlns:bd="http://schemas.baidu.com/office/drawing/2023/templateData">eyJfdGVtcGxhdGVEYXRhIjp7ImNvbnRlbnRUeXBlIjoiJGl0ZW0xX3RpdGxlIiwibGluZUNvdW50IjoiMSIsIndvcmRDb3VudCI6IjkifSwidGFnIjoiJGl0ZW0xX3RpdGxlIn0=</bd:templateData>
          </p:ext>
        </p:extLst>
      </p:sp>
      <p:sp>
        <p:nvSpPr>
          <p:cNvPr id="4" name="TextBox 4"/>
          <p:cNvSpPr txBox="1"/>
          <p:nvPr/>
        </p:nvSpPr>
        <p:spPr>
          <a:xfrm rot="0">
            <a:off x="8059848" y="1716027"/>
            <a:ext cx="3794740" cy="1968111"/>
          </a:xfrm>
          <a:prstGeom prst="rect">
            <a:avLst/>
          </a:prstGeom>
          <a:ln/>
        </p:spPr>
        <p:txBody>
          <a:bodyPr anchor="t" anchorCtr="0" bIns="57150" lIns="114300" rIns="114300" rtlCol="0" tIns="57150" vert="horz" wrap="square">
            <a:noAutofit/>
          </a:bodyPr>
          <a:lstStyle/>
          <a:p>
            <a:pPr algn="l">
              <a:lnSpc>
                <a:spcPct val="140000"/>
              </a:lnSpc>
            </a:pPr>
            <a:r>
              <a:rPr lang="en-US" sz="1350">
                <a:solidFill>
                  <a:schemeClr val="dk1">
                    <a:alpha val="100000"/>
                  </a:schemeClr>
                </a:solidFill>
                <a:latin typeface="Noto Sans SC"/>
                <a:ea typeface="Noto Sans SC"/>
                <a:cs typeface="Noto Sans SC"/>
              </a:rPr>
              <a:t>确保数据获取过程符合相关法律法规和隐私政策要求，对涉及个人隐私的数据进行脱敏处理，保护贡献者的合法权益。</a:t>
            </a:r>
          </a:p>
        </p:txBody>
        <p:extLst>
          <p:ext uri="http://schemas.baidu.com/office/drawing/2023/templateData">
            <bd:templateData xmlns:bd="http://schemas.baidu.com/office/drawing/2023/templateData">eyJfdGVtcGxhdGVEYXRhIjp7ImNvbnRlbnRUeXBlIjoiJGl0ZW0yX2MiLCJsaW5lQ291bnQiOiI2Iiwid29yZENvdW50IjoiMTkifSwidGFnIjoiJGl0ZW0yX2MifQ==</bd:templateData>
          </p:ext>
        </p:extLst>
      </p:sp>
      <p:sp>
        <p:nvSpPr>
          <p:cNvPr id="5" name="TextBox 5"/>
          <p:cNvSpPr txBox="1"/>
          <p:nvPr/>
        </p:nvSpPr>
        <p:spPr>
          <a:xfrm rot="0">
            <a:off x="8059848" y="1097369"/>
            <a:ext cx="3314231" cy="622955"/>
          </a:xfrm>
          <a:prstGeom prst="rect">
            <a:avLst/>
          </a:prstGeom>
          <a:ln/>
        </p:spPr>
        <p:txBody>
          <a:bodyPr anchor="ctr" anchorCtr="0" bIns="57150" lIns="114300" rIns="114300" rtlCol="0" tIns="57150" vert="horz" wrap="square">
            <a:noAutofit/>
          </a:bodyPr>
          <a:lstStyle/>
          <a:p>
            <a:pPr>
              <a:lnSpc>
                <a:spcPct val="96000"/>
              </a:lnSpc>
            </a:pPr>
            <a:r>
              <a:rPr b="1" lang="en-US" sz="2400">
                <a:solidFill>
                  <a:schemeClr val="accent1">
                    <a:alpha val="100000"/>
                  </a:schemeClr>
                </a:solidFill>
                <a:latin typeface="Noto Sans SC"/>
                <a:ea typeface="Noto Sans SC"/>
                <a:cs typeface="Noto Sans SC"/>
              </a:rPr>
              <a:t>数据隐私与合规性</a:t>
            </a:r>
          </a:p>
        </p:txBody>
        <p:extLst>
          <p:ext uri="http://schemas.baidu.com/office/drawing/2023/templateData">
            <bd:templateData xmlns:bd="http://schemas.baidu.com/office/drawing/2023/templateData">eyJfdGVtcGxhdGVEYXRhIjp7ImNvbnRlbnRUeXBlIjoiJGl0ZW0yX3RpdGxlIiwibGluZUNvdW50IjoiMSIsIndvcmRDb3VudCI6IjkifSwidGFnIjoiJGl0ZW0yX3RpdGxlIn0=</bd:templateData>
          </p:ext>
        </p:extLst>
      </p:sp>
      <p:sp>
        <p:nvSpPr>
          <p:cNvPr id="6" name="TextBox 6"/>
          <p:cNvSpPr txBox="1"/>
          <p:nvPr/>
        </p:nvSpPr>
        <p:spPr>
          <a:xfrm rot="0">
            <a:off x="8059848" y="4019931"/>
            <a:ext cx="3314231" cy="547835"/>
          </a:xfrm>
          <a:prstGeom prst="rect">
            <a:avLst/>
          </a:prstGeom>
          <a:ln/>
        </p:spPr>
        <p:txBody>
          <a:bodyPr anchor="b" anchorCtr="0" bIns="57150" lIns="114300" rIns="114300" rtlCol="0" tIns="57150" vert="horz" wrap="square">
            <a:noAutofit/>
          </a:bodyPr>
          <a:lstStyle/>
          <a:p>
            <a:pPr>
              <a:lnSpc>
                <a:spcPct val="120000"/>
              </a:lnSpc>
            </a:pPr>
            <a:r>
              <a:rPr b="1" lang="en-US" sz="2400">
                <a:solidFill>
                  <a:schemeClr val="accent1">
                    <a:alpha val="100000"/>
                  </a:schemeClr>
                </a:solidFill>
                <a:latin typeface="Noto Sans SC"/>
                <a:ea typeface="Noto Sans SC"/>
                <a:cs typeface="Noto Sans SC"/>
              </a:rPr>
              <a:t>数据更新与维护</a:t>
            </a:r>
          </a:p>
        </p:txBody>
        <p:extLst>
          <p:ext uri="http://schemas.baidu.com/office/drawing/2023/templateData">
            <bd:templateData xmlns:bd="http://schemas.baidu.com/office/drawing/2023/templateData">eyJfdGVtcGxhdGVEYXRhIjp7ImNvbnRlbnRUeXBlIjoiJGl0ZW0zX3RpdGxlIiwibGluZUNvdW50IjoiMSIsIndvcmRDb3VudCI6IjkifSwidGFnIjoiJGl0ZW0zX3RpdGxlIn0=</bd:templateData>
          </p:ext>
        </p:extLst>
      </p:sp>
      <p:sp>
        <p:nvSpPr>
          <p:cNvPr id="7" name="TextBox 7"/>
          <p:cNvSpPr txBox="1"/>
          <p:nvPr/>
        </p:nvSpPr>
        <p:spPr>
          <a:xfrm rot="0">
            <a:off x="8059848" y="4565142"/>
            <a:ext cx="3794740" cy="1995832"/>
          </a:xfrm>
          <a:prstGeom prst="rect">
            <a:avLst/>
          </a:prstGeom>
          <a:ln/>
        </p:spPr>
        <p:txBody>
          <a:bodyPr anchor="t" anchorCtr="0" bIns="57150" lIns="114300" rIns="114300" rtlCol="0" tIns="57150" vert="horz" wrap="square">
            <a:noAutofit/>
          </a:bodyPr>
          <a:lstStyle/>
          <a:p>
            <a:pPr algn="l">
              <a:lnSpc>
                <a:spcPct val="140000"/>
              </a:lnSpc>
            </a:pPr>
            <a:r>
              <a:rPr lang="en-US" sz="1350">
                <a:solidFill>
                  <a:schemeClr val="dk1">
                    <a:alpha val="100000"/>
                  </a:schemeClr>
                </a:solidFill>
                <a:latin typeface="Noto Sans SC"/>
                <a:ea typeface="Noto Sans SC"/>
                <a:cs typeface="Noto Sans SC"/>
              </a:rPr>
              <a:t>建立数据定期更新机制，确保数据的时效性和准确性，同时制定数据备份和恢复策略，防止数据丢失或损坏。</a:t>
            </a:r>
          </a:p>
        </p:txBody>
        <p:extLst>
          <p:ext uri="http://schemas.baidu.com/office/drawing/2023/templateData">
            <bd:templateData xmlns:bd="http://schemas.baidu.com/office/drawing/2023/templateData">eyJfdGVtcGxhdGVEYXRhIjp7ImNvbnRlbnRUeXBlIjoiJGl0ZW0zX2MiLCJsaW5lQ291bnQiOiI2Iiwid29yZENvdW50IjoiMTkifSwidGFnIjoiJGl0ZW0zX2MifQ==</bd:templateData>
          </p:ext>
        </p:extLst>
      </p:sp>
      <p:sp>
        <p:nvSpPr>
          <p:cNvPr id="8" name="TextBox 8"/>
          <p:cNvSpPr txBox="1"/>
          <p:nvPr/>
        </p:nvSpPr>
        <p:spPr>
          <a:xfrm rot="0">
            <a:off x="401071" y="2954711"/>
            <a:ext cx="3656131" cy="2115960"/>
          </a:xfrm>
          <a:prstGeom prst="rect">
            <a:avLst/>
          </a:prstGeom>
          <a:ln/>
        </p:spPr>
        <p:txBody>
          <a:bodyPr anchor="t" anchorCtr="0" bIns="57150" lIns="114300" rIns="114300" rtlCol="0" tIns="57150" vert="horz" wrap="square">
            <a:noAutofit/>
          </a:bodyPr>
          <a:lstStyle/>
          <a:p>
            <a:pPr algn="r">
              <a:lnSpc>
                <a:spcPct val="140000"/>
              </a:lnSpc>
            </a:pPr>
            <a:r>
              <a:rPr lang="en-US" sz="1350">
                <a:solidFill>
                  <a:schemeClr val="dk1">
                    <a:alpha val="100000"/>
                  </a:schemeClr>
                </a:solidFill>
                <a:latin typeface="Noto Sans SC"/>
                <a:ea typeface="Noto Sans SC"/>
                <a:cs typeface="Noto Sans SC"/>
              </a:rPr>
              <a:t>设计合理的数据库结构，将清洗后的数据存储到数据库中，如关系型数据库（MySQL、PostgreSQL）或非关系型数据库（MongoDB、Elasticsearch），以便后续高效查询和分析。</a:t>
            </a:r>
          </a:p>
        </p:txBody>
        <p:extLst>
          <p:ext uri="http://schemas.baidu.com/office/drawing/2023/templateData">
            <bd:templateData xmlns:bd="http://schemas.baidu.com/office/drawing/2023/templateData">eyJfdGVtcGxhdGVEYXRhIjp7ImNvbnRlbnRUeXBlIjoiJGl0ZW0xX2MiLCJsaW5lQ291bnQiOiI3Iiwid29yZENvdW50IjoiMTgifSwidGFnIjoiJGl0ZW0xX2MifQ==</bd:templateData>
          </p:ext>
        </p:extLst>
      </p:sp>
      <p:sp>
        <p:nvSpPr>
          <p:cNvPr id="9" name="TextBox 9"/>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数据获取阶段</a:t>
            </a:r>
          </a:p>
        </p:txBody>
        <p:extLst>
          <p:ext uri="http://schemas.baidu.com/office/drawing/2023/templateData">
            <bd:templateData xmlns:bd="http://schemas.baidu.com/office/drawing/2023/templateData">eyJfdGVtcGxhdGVEYXRhIjp7ImNvbnRlbnRUeXBlIjoiJHRpdGxlIiwibGluZUNvdW50IjoiMSIsIndvcmRDb3VudCI6IjI4In0sInRhZyI6IiR0aXRsZSJ9</bd:templateData>
          </p:ext>
        </p:extLst>
      </p:sp>
    </p:spTree>
  </p:cSld>
  <p:clrMapOvr>
    <a:masterClrMapping/>
  </p:clrMapOvr>
  <p:extLst>
    <p:ext uri="http://schemas.baidu.com/office/drawing/2023/templateData">
      <bd:templateData xmlns:bd="http://schemas.baidu.com/office/drawing/2023/templateData">eyJtZCI6IiMjIOaVsOaNruiOt+WPlumYtuautVxuIyMjIOaVsOaNruWtmOWCqOS4jueuoeeQhlxu6K6+6K6h5ZCI55CG55qE5pWw5o2u5bqT57uT5p6E77yM5bCG5riF5rSX5ZCO55qE5pWw5o2u5a2Y5YKo5Yiw5pWw5o2u5bqT5Lit77yM5aaC5YWz57O75Z6L5pWw5o2u5bqT77yITXlTUUzjgIFQb3N0Z3JlU1FM77yJ5oiW6Z2e5YWz57O75Z6L5pWw5o2u5bqT77yITW9uZ29EQuOAgUVsYXN0aWNzZWFyY2jvvInvvIzku6Xkvr/lkI7nu63pq5jmlYjmn6Xor6LlkozliIbmnpDjgIJcbiMjIyDmlbDmja7pmpDnp4HkuI7lkIjop4TmgKdcbuehruS/neaVsOaNruiOt+WPlui/h+eoi+espuWQiOebuOWFs+azleW+i+azleinhOWSjOmakOengeaUv+etluimgeaxgu+8jOWvuea2ieWPiuS4quS6uumakOengeeahOaVsOaNrui/m+ihjOiEseaVj+WkhOeQhu+8jOS/neaKpOi0oeeMruiAheeahOWQiOazleadg+ebiuOAglxuIyMjIOaVsOaNruabtOaWsOS4jue7tOaKpFxu5bu656uL5pWw5o2u5a6a5pyf5pu05paw5py65Yi277yM56Gu5L+d5pWw5o2u55qE5pe25pWI5oCn5ZKM5YeG56Gu5oCn77yM5ZCM5pe25Yi25a6a5pWw5o2u5aSH5Lu95ZKM5oGi5aSN562W55Wl77yM6Ziy5q2i5pWw5o2u5Lii5aSx5oiW5o2f5Z2P44CCIiwidHBsaWQiOiI2OCIsInRwbE5hbWUiOiJsaXN0M19JbWcxNiIsImVkaXRlZCI6ImZhbHNlIn0=</bd:templateData>
    </p:ext>
  </p:extLst>
</p:sld>
</file>

<file path=ppt/slides/slide16.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cxnSp>
        <p:nvCxnSpPr>
          <p:cNvPr id="2" name="Connector 2"/>
          <p:cNvCxnSpPr/>
          <p:nvPr/>
        </p:nvCxnSpPr>
        <p:spPr>
          <a:xfrm>
            <a:off x="797709" y="1834831"/>
            <a:ext cx="0" cy="3825594"/>
          </a:xfrm>
          <a:prstGeom prst="line">
            <a:avLst/>
          </a:prstGeom>
          <a:ln w="1270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cxnSp>
        <p:nvCxnSpPr>
          <p:cNvPr id="3" name="Connector 3"/>
          <p:cNvCxnSpPr/>
          <p:nvPr/>
        </p:nvCxnSpPr>
        <p:spPr>
          <a:xfrm>
            <a:off x="2387862" y="1834831"/>
            <a:ext cx="0" cy="3825594"/>
          </a:xfrm>
          <a:prstGeom prst="line">
            <a:avLst/>
          </a:prstGeom>
          <a:ln w="1270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cxnSp>
        <p:nvCxnSpPr>
          <p:cNvPr id="4" name="Connector 4"/>
          <p:cNvCxnSpPr/>
          <p:nvPr/>
        </p:nvCxnSpPr>
        <p:spPr>
          <a:xfrm>
            <a:off x="3840592" y="1834831"/>
            <a:ext cx="0" cy="3817123"/>
          </a:xfrm>
          <a:prstGeom prst="line">
            <a:avLst/>
          </a:prstGeom>
          <a:ln w="1270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cxnSp>
        <p:nvCxnSpPr>
          <p:cNvPr id="5" name="Connector 5"/>
          <p:cNvCxnSpPr/>
          <p:nvPr/>
        </p:nvCxnSpPr>
        <p:spPr>
          <a:xfrm>
            <a:off x="5152947" y="1834831"/>
            <a:ext cx="0" cy="3822503"/>
          </a:xfrm>
          <a:prstGeom prst="line">
            <a:avLst/>
          </a:prstGeom>
          <a:ln w="1270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cxnSp>
        <p:nvCxnSpPr>
          <p:cNvPr id="6" name="Connector 6"/>
          <p:cNvCxnSpPr/>
          <p:nvPr/>
        </p:nvCxnSpPr>
        <p:spPr>
          <a:xfrm>
            <a:off x="7383315" y="1834831"/>
            <a:ext cx="0" cy="3822812"/>
          </a:xfrm>
          <a:prstGeom prst="line">
            <a:avLst/>
          </a:prstGeom>
          <a:ln w="1270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cxnSp>
        <p:nvCxnSpPr>
          <p:cNvPr id="7" name="Connector 7"/>
          <p:cNvCxnSpPr/>
          <p:nvPr/>
        </p:nvCxnSpPr>
        <p:spPr>
          <a:xfrm>
            <a:off x="6323061" y="1834831"/>
            <a:ext cx="0" cy="3822503"/>
          </a:xfrm>
          <a:prstGeom prst="line">
            <a:avLst/>
          </a:prstGeom>
          <a:ln w="1270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sp>
        <p:nvSpPr>
          <p:cNvPr id="8" name="AutoShape 8"/>
          <p:cNvSpPr/>
          <p:nvPr/>
        </p:nvSpPr>
        <p:spPr>
          <a:xfrm rot="5400000">
            <a:off x="2312927" y="343003"/>
            <a:ext cx="3549418" cy="6597009"/>
          </a:xfrm>
          <a:prstGeom prst="trapezoid">
            <a:avLst>
              <a:gd fmla="val 42242" name="adj"/>
            </a:avLst>
          </a:prstGeom>
          <a:gradFill>
            <a:gsLst>
              <a:gs pos="0">
                <a:schemeClr val="accent1">
                  <a:alpha val="0"/>
                </a:schemeClr>
              </a:gs>
              <a:gs pos="64000">
                <a:schemeClr val="accent1">
                  <a:alpha val="10985"/>
                </a:schemeClr>
              </a:gs>
            </a:gsLst>
            <a:lin ang="16200000"/>
          </a:gradFill>
          <a:ln w="25400">
            <a:solidFill>
              <a:schemeClr val="accent1">
                <a:alpha val="100000"/>
              </a:schemeClr>
            </a:solidFill>
            <a:prstDash val="dash"/>
          </a:ln>
        </p:spPr>
        <p:extLst>
          <p:ext uri="http://schemas.baidu.com/office/drawing/2023/templateData">
            <bd:templateData xmlns:bd="http://schemas.baidu.com/office/drawing/2023/templateData">eyJ0YWciOiJub0VkaXQifQ==</bd:templateData>
          </p:ext>
        </p:extLst>
      </p:sp>
      <p:sp>
        <p:nvSpPr>
          <p:cNvPr id="9" name="AutoShape 9"/>
          <p:cNvSpPr/>
          <p:nvPr/>
        </p:nvSpPr>
        <p:spPr>
          <a:xfrm rot="0">
            <a:off x="830097" y="6015783"/>
            <a:ext cx="8068110" cy="511654"/>
          </a:xfrm>
          <a:prstGeom prst="homePlate">
            <a:avLst>
              <a:gd fmla="val 50000" name="adj"/>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10" name="AutoShape 10"/>
          <p:cNvSpPr/>
          <p:nvPr/>
        </p:nvSpPr>
        <p:spPr>
          <a:xfrm rot="0">
            <a:off x="0" y="0"/>
            <a:ext cx="19050" cy="19050"/>
          </a:xfrm>
          <a:prstGeom prst="rightArrow">
            <a:avLst/>
          </a:prstGeom>
          <a:noFill/>
          <a:ln/>
        </p:spPr>
        <p:extLst>
          <p:ext uri="http://schemas.baidu.com/office/drawing/2023/templateData">
            <bd:templateData xmlns:bd="http://schemas.baidu.com/office/drawing/2023/templateData">eyJ0YWciOiJub0VkaXQifQ==</bd:templateData>
          </p:ext>
        </p:extLst>
      </p:sp>
      <p:sp>
        <p:nvSpPr>
          <p:cNvPr id="11" name="TextBox 11"/>
          <p:cNvSpPr txBox="1"/>
          <p:nvPr/>
        </p:nvSpPr>
        <p:spPr>
          <a:xfrm rot="0">
            <a:off x="7934031" y="3388124"/>
            <a:ext cx="555689" cy="222314"/>
          </a:xfrm>
          <a:prstGeom prst="rect">
            <a:avLst/>
          </a:prstGeom>
          <a:ln/>
        </p:spPr>
        <p:txBody>
          <a:bodyPr anchor="t" anchorCtr="0" bIns="25432" lIns="25432" rIns="25432" rtlCol="0" tIns="25432" vert="horz" wrap="none">
            <a:spAutoFit/>
          </a:bodyPr>
          <a:lstStyle/>
          <a:p>
            <a:pPr algn="l">
              <a:lnSpc>
                <a:spcPct val="100000"/>
              </a:lnSpc>
              <a:spcBef>
                <a:spcPct val="0"/>
              </a:spcBef>
            </a:pPr>
            <a:r>
              <a:rPr lang="en-US" sz="999">
                <a:solidFill>
                  <a:schemeClr val="dk1">
                    <a:alpha val="100000"/>
                  </a:schemeClr>
                </a:solidFill>
                <a:latin typeface="Noto Sans SC"/>
                <a:ea typeface="Noto Sans SC"/>
                <a:cs typeface="Noto Sans SC"/>
              </a:rPr>
              <a:t>社区反馈</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12" name="TextBox 12"/>
          <p:cNvSpPr txBox="1"/>
          <p:nvPr/>
        </p:nvSpPr>
        <p:spPr>
          <a:xfrm rot="0">
            <a:off x="7934031" y="3695116"/>
            <a:ext cx="555689" cy="222314"/>
          </a:xfrm>
          <a:prstGeom prst="rect">
            <a:avLst/>
          </a:prstGeom>
          <a:ln/>
        </p:spPr>
        <p:txBody>
          <a:bodyPr anchor="t" anchorCtr="0" bIns="25432" lIns="25432" rIns="25432" rtlCol="0" tIns="25432" vert="horz" wrap="none">
            <a:spAutoFit/>
          </a:bodyPr>
          <a:lstStyle/>
          <a:p>
            <a:pPr algn="l">
              <a:lnSpc>
                <a:spcPct val="100000"/>
              </a:lnSpc>
              <a:spcBef>
                <a:spcPct val="0"/>
              </a:spcBef>
            </a:pPr>
            <a:r>
              <a:rPr lang="en-US" sz="999">
                <a:solidFill>
                  <a:schemeClr val="dk1">
                    <a:alpha val="100000"/>
                  </a:schemeClr>
                </a:solidFill>
                <a:latin typeface="Noto Sans SC"/>
                <a:ea typeface="Noto Sans SC"/>
                <a:cs typeface="Noto Sans SC"/>
              </a:rPr>
              <a:t>模型迭代</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13" name="AutoShape 13"/>
          <p:cNvSpPr/>
          <p:nvPr/>
        </p:nvSpPr>
        <p:spPr>
          <a:xfrm rot="0">
            <a:off x="7286392" y="3350760"/>
            <a:ext cx="193846" cy="581494"/>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4" name="AutoShape 14"/>
          <p:cNvSpPr/>
          <p:nvPr/>
        </p:nvSpPr>
        <p:spPr>
          <a:xfrm rot="0">
            <a:off x="379779" y="1847046"/>
            <a:ext cx="832812" cy="3588922"/>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5" name="AutoShape 15"/>
          <p:cNvSpPr/>
          <p:nvPr/>
        </p:nvSpPr>
        <p:spPr>
          <a:xfrm rot="0">
            <a:off x="2040706" y="2219897"/>
            <a:ext cx="694312" cy="2843220"/>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6" name="AutoShape 16"/>
          <p:cNvSpPr/>
          <p:nvPr/>
        </p:nvSpPr>
        <p:spPr>
          <a:xfrm rot="0">
            <a:off x="3563133" y="2556119"/>
            <a:ext cx="554919" cy="217077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7" name="AutoShape 17"/>
          <p:cNvSpPr/>
          <p:nvPr/>
        </p:nvSpPr>
        <p:spPr>
          <a:xfrm rot="0">
            <a:off x="4946167" y="2860919"/>
            <a:ext cx="413561" cy="156117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8" name="AutoShape 18"/>
          <p:cNvSpPr/>
          <p:nvPr/>
        </p:nvSpPr>
        <p:spPr>
          <a:xfrm rot="0">
            <a:off x="6187843" y="3106409"/>
            <a:ext cx="270436" cy="107019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9" name="Freeform 19"/>
          <p:cNvSpPr/>
          <p:nvPr/>
        </p:nvSpPr>
        <p:spPr>
          <a:xfrm rot="16200000">
            <a:off x="3931023" y="-1645354"/>
            <a:ext cx="317454" cy="6587130"/>
          </a:xfrm>
          <a:custGeom>
            <a:avLst/>
            <a:gdLst/>
            <a:ahLst/>
            <a:cxnLst/>
            <a:rect b="b" l="l" r="r" t="t"/>
            <a:pathLst>
              <a:path h="21595" w="21600">
                <a:moveTo>
                  <a:pt x="13" y="21595"/>
                </a:moveTo>
                <a:lnTo>
                  <a:pt x="9790" y="21595"/>
                </a:lnTo>
                <a:cubicBezTo>
                  <a:pt x="11407" y="21600"/>
                  <a:pt x="12989" y="21570"/>
                  <a:pt x="14123" y="21512"/>
                </a:cubicBezTo>
                <a:cubicBezTo>
                  <a:pt x="15046" y="21465"/>
                  <a:pt x="15601" y="21403"/>
                  <a:pt x="15687" y="21337"/>
                </a:cubicBezTo>
                <a:lnTo>
                  <a:pt x="15687" y="11183"/>
                </a:lnTo>
                <a:cubicBezTo>
                  <a:pt x="15796" y="11107"/>
                  <a:pt x="16391" y="11035"/>
                  <a:pt x="17382" y="10978"/>
                </a:cubicBezTo>
                <a:cubicBezTo>
                  <a:pt x="18467" y="10915"/>
                  <a:pt x="19960" y="10873"/>
                  <a:pt x="21600" y="10859"/>
                </a:cubicBezTo>
                <a:cubicBezTo>
                  <a:pt x="20179" y="10858"/>
                  <a:pt x="18813" y="10831"/>
                  <a:pt x="17740" y="10785"/>
                </a:cubicBezTo>
                <a:cubicBezTo>
                  <a:pt x="16383" y="10725"/>
                  <a:pt x="15606" y="10640"/>
                  <a:pt x="15613" y="10550"/>
                </a:cubicBezTo>
                <a:lnTo>
                  <a:pt x="15613" y="280"/>
                </a:lnTo>
                <a:cubicBezTo>
                  <a:pt x="15656" y="207"/>
                  <a:pt x="15122" y="137"/>
                  <a:pt x="14129" y="85"/>
                </a:cubicBezTo>
                <a:cubicBezTo>
                  <a:pt x="13138" y="32"/>
                  <a:pt x="11771" y="2"/>
                  <a:pt x="10330" y="0"/>
                </a:cubicBezTo>
                <a:lnTo>
                  <a:pt x="0" y="0"/>
                </a:lnTo>
              </a:path>
            </a:pathLst>
          </a:custGeom>
          <a:noFill/>
          <a:ln w="2540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20" name="TextBox 20"/>
          <p:cNvSpPr txBox="1"/>
          <p:nvPr/>
        </p:nvSpPr>
        <p:spPr>
          <a:xfrm rot="0">
            <a:off x="611519" y="2787655"/>
            <a:ext cx="382905" cy="1729740"/>
          </a:xfrm>
          <a:prstGeom prst="rect">
            <a:avLst/>
          </a:prstGeom>
          <a:noFill/>
          <a:ln/>
        </p:spPr>
        <p:txBody>
          <a:bodyPr anchor="ctr" anchorCtr="0" bIns="45720" lIns="91440" rIns="91440" rtlCol="0" tIns="45720" vert="eaVert"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数据输入</a:t>
            </a:r>
          </a:p>
        </p:txBody>
        <p:extLst>
          <p:ext uri="http://schemas.baidu.com/office/drawing/2023/templateData">
            <bd:templateData xmlns:bd="http://schemas.baidu.com/office/drawing/2023/templateData">eyJ0YWciOiJub0VkaXQifQ==</bd:templateData>
          </p:ext>
        </p:extLst>
      </p:sp>
      <p:sp>
        <p:nvSpPr>
          <p:cNvPr id="21" name="TextBox 21"/>
          <p:cNvSpPr txBox="1"/>
          <p:nvPr/>
        </p:nvSpPr>
        <p:spPr>
          <a:xfrm rot="0">
            <a:off x="830097" y="6166138"/>
            <a:ext cx="7831249" cy="250889"/>
          </a:xfrm>
          <a:prstGeom prst="rect">
            <a:avLst/>
          </a:prstGeom>
          <a:ln/>
        </p:spPr>
        <p:txBody>
          <a:bodyPr anchor="t" anchorCtr="0" bIns="25432" lIns="25432" rIns="25432" rtlCol="0" tIns="25432" vert="horz"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构建影响力评估体系</a:t>
            </a:r>
          </a:p>
        </p:txBody>
        <p:extLst>
          <p:ext uri="http://schemas.baidu.com/office/drawing/2023/templateData">
            <bd:templateData xmlns:bd="http://schemas.baidu.com/office/drawing/2023/templateData">eyJ0YWciOiJub0VkaXQifQ==</bd:templateData>
          </p:ext>
        </p:extLst>
      </p:sp>
      <p:sp>
        <p:nvSpPr>
          <p:cNvPr id="22" name="TextBox 22"/>
          <p:cNvSpPr txBox="1"/>
          <p:nvPr/>
        </p:nvSpPr>
        <p:spPr>
          <a:xfrm rot="0">
            <a:off x="2199687" y="2787655"/>
            <a:ext cx="382905" cy="1729740"/>
          </a:xfrm>
          <a:prstGeom prst="rect">
            <a:avLst/>
          </a:prstGeom>
          <a:noFill/>
          <a:ln/>
        </p:spPr>
        <p:txBody>
          <a:bodyPr anchor="ctr" anchorCtr="0" bIns="45720" lIns="91440" rIns="91440" rtlCol="0" tIns="45720" vert="eaVert"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隐私保护</a:t>
            </a:r>
          </a:p>
        </p:txBody>
        <p:extLst>
          <p:ext uri="http://schemas.baidu.com/office/drawing/2023/templateData">
            <bd:templateData xmlns:bd="http://schemas.baidu.com/office/drawing/2023/templateData">eyJ0YWciOiJub0VkaXQifQ==</bd:templateData>
          </p:ext>
        </p:extLst>
      </p:sp>
      <p:sp>
        <p:nvSpPr>
          <p:cNvPr id="23" name="AutoShape 23"/>
          <p:cNvSpPr/>
          <p:nvPr/>
        </p:nvSpPr>
        <p:spPr>
          <a:xfrm rot="0">
            <a:off x="830097" y="5511745"/>
            <a:ext cx="1520668" cy="334111"/>
          </a:xfrm>
          <a:prstGeom prst="rect">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24" name="TextBox 24"/>
          <p:cNvSpPr txBox="1"/>
          <p:nvPr/>
        </p:nvSpPr>
        <p:spPr>
          <a:xfrm flipH="1" rot="0">
            <a:off x="830097" y="5593849"/>
            <a:ext cx="1520668" cy="20002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模型优化</a:t>
            </a:r>
          </a:p>
        </p:txBody>
        <p:extLst>
          <p:ext uri="http://schemas.baidu.com/office/drawing/2023/templateData">
            <bd:templateData xmlns:bd="http://schemas.baidu.com/office/drawing/2023/templateData">eyJ0YWciOiJub0VkaXQifQ==</bd:templateData>
          </p:ext>
        </p:extLst>
      </p:sp>
      <p:sp>
        <p:nvSpPr>
          <p:cNvPr id="25" name="AutoShape 25"/>
          <p:cNvSpPr/>
          <p:nvPr/>
        </p:nvSpPr>
        <p:spPr>
          <a:xfrm rot="0">
            <a:off x="2421022" y="5511745"/>
            <a:ext cx="1388846" cy="334111"/>
          </a:xfrm>
          <a:prstGeom prst="rect">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26" name="TextBox 26"/>
          <p:cNvSpPr txBox="1"/>
          <p:nvPr/>
        </p:nvSpPr>
        <p:spPr>
          <a:xfrm flipH="1" rot="0">
            <a:off x="2421022" y="5593849"/>
            <a:ext cx="1388846" cy="20002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算法调优</a:t>
            </a:r>
          </a:p>
        </p:txBody>
        <p:extLst>
          <p:ext uri="http://schemas.baidu.com/office/drawing/2023/templateData">
            <bd:templateData xmlns:bd="http://schemas.baidu.com/office/drawing/2023/templateData">eyJ0YWciOiJub0VkaXQifQ==</bd:templateData>
          </p:ext>
        </p:extLst>
      </p:sp>
      <p:sp>
        <p:nvSpPr>
          <p:cNvPr id="27" name="AutoShape 27"/>
          <p:cNvSpPr/>
          <p:nvPr/>
        </p:nvSpPr>
        <p:spPr>
          <a:xfrm rot="0">
            <a:off x="3871687" y="5511745"/>
            <a:ext cx="1266774" cy="334111"/>
          </a:xfrm>
          <a:prstGeom prst="rect">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28" name="TextBox 28"/>
          <p:cNvSpPr txBox="1"/>
          <p:nvPr/>
        </p:nvSpPr>
        <p:spPr>
          <a:xfrm flipH="1" rot="0">
            <a:off x="3871687" y="5593849"/>
            <a:ext cx="1266774" cy="20002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核心开发</a:t>
            </a:r>
          </a:p>
        </p:txBody>
        <p:extLst>
          <p:ext uri="http://schemas.baidu.com/office/drawing/2023/templateData">
            <bd:templateData xmlns:bd="http://schemas.baidu.com/office/drawing/2023/templateData">eyJ0YWciOiJub0VkaXQifQ==</bd:templateData>
          </p:ext>
        </p:extLst>
      </p:sp>
      <p:sp>
        <p:nvSpPr>
          <p:cNvPr id="29" name="AutoShape 29"/>
          <p:cNvSpPr/>
          <p:nvPr/>
        </p:nvSpPr>
        <p:spPr>
          <a:xfrm rot="0">
            <a:off x="5177973" y="5511745"/>
            <a:ext cx="1109783" cy="334111"/>
          </a:xfrm>
          <a:prstGeom prst="rect">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30" name="TextBox 30"/>
          <p:cNvSpPr txBox="1"/>
          <p:nvPr/>
        </p:nvSpPr>
        <p:spPr>
          <a:xfrm flipH="1" rot="0">
            <a:off x="5138461" y="5593849"/>
            <a:ext cx="1149295" cy="20002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运行机制</a:t>
            </a:r>
          </a:p>
        </p:txBody>
        <p:extLst>
          <p:ext uri="http://schemas.baidu.com/office/drawing/2023/templateData">
            <bd:templateData xmlns:bd="http://schemas.baidu.com/office/drawing/2023/templateData">eyJ0YWciOiJub0VkaXQifQ==</bd:templateData>
          </p:ext>
        </p:extLst>
      </p:sp>
      <p:sp>
        <p:nvSpPr>
          <p:cNvPr id="31" name="AutoShape 31"/>
          <p:cNvSpPr/>
          <p:nvPr/>
        </p:nvSpPr>
        <p:spPr>
          <a:xfrm rot="0">
            <a:off x="6362537" y="5511745"/>
            <a:ext cx="992038" cy="334111"/>
          </a:xfrm>
          <a:prstGeom prst="rect">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32" name="TextBox 32"/>
          <p:cNvSpPr txBox="1"/>
          <p:nvPr/>
        </p:nvSpPr>
        <p:spPr>
          <a:xfrm flipH="1" rot="0">
            <a:off x="6362537" y="5593849"/>
            <a:ext cx="992038" cy="20002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价值转化</a:t>
            </a:r>
          </a:p>
        </p:txBody>
        <p:extLst>
          <p:ext uri="http://schemas.baidu.com/office/drawing/2023/templateData">
            <bd:templateData xmlns:bd="http://schemas.baidu.com/office/drawing/2023/templateData">eyJ0YWciOiJub0VkaXQifQ==</bd:templateData>
          </p:ext>
        </p:extLst>
      </p:sp>
      <p:sp>
        <p:nvSpPr>
          <p:cNvPr id="33" name="AutoShape 33"/>
          <p:cNvSpPr/>
          <p:nvPr/>
        </p:nvSpPr>
        <p:spPr>
          <a:xfrm rot="0">
            <a:off x="7420082" y="5511745"/>
            <a:ext cx="4408926" cy="334111"/>
          </a:xfrm>
          <a:prstGeom prst="rect">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34" name="TextBox 34"/>
          <p:cNvSpPr txBox="1"/>
          <p:nvPr/>
        </p:nvSpPr>
        <p:spPr>
          <a:xfrm flipH="1" rot="0">
            <a:off x="7420082" y="5593849"/>
            <a:ext cx="4408926" cy="20002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迭代机制</a:t>
            </a:r>
          </a:p>
        </p:txBody>
        <p:extLst>
          <p:ext uri="http://schemas.baidu.com/office/drawing/2023/templateData">
            <bd:templateData xmlns:bd="http://schemas.baidu.com/office/drawing/2023/templateData">eyJ0YWciOiJub0VkaXQifQ==</bd:templateData>
          </p:ext>
        </p:extLst>
      </p:sp>
      <p:sp>
        <p:nvSpPr>
          <p:cNvPr id="35" name="TextBox 35"/>
          <p:cNvSpPr txBox="1"/>
          <p:nvPr/>
        </p:nvSpPr>
        <p:spPr>
          <a:xfrm rot="0">
            <a:off x="3654019" y="2787655"/>
            <a:ext cx="382905" cy="1729740"/>
          </a:xfrm>
          <a:prstGeom prst="rect">
            <a:avLst/>
          </a:prstGeom>
          <a:noFill/>
          <a:ln/>
        </p:spPr>
        <p:txBody>
          <a:bodyPr anchor="ctr" anchorCtr="0" bIns="45720" lIns="91440" rIns="91440" rtlCol="0" tIns="45720" vert="eaVert"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个性分析</a:t>
            </a:r>
          </a:p>
        </p:txBody>
        <p:extLst>
          <p:ext uri="http://schemas.baidu.com/office/drawing/2023/templateData">
            <bd:templateData xmlns:bd="http://schemas.baidu.com/office/drawing/2023/templateData">eyJ0YWciOiJub0VkaXQifQ==</bd:templateData>
          </p:ext>
        </p:extLst>
      </p:sp>
      <p:sp>
        <p:nvSpPr>
          <p:cNvPr id="36" name="TextBox 36"/>
          <p:cNvSpPr txBox="1"/>
          <p:nvPr/>
        </p:nvSpPr>
        <p:spPr>
          <a:xfrm rot="0">
            <a:off x="4969013" y="2787655"/>
            <a:ext cx="382905" cy="1729740"/>
          </a:xfrm>
          <a:prstGeom prst="rect">
            <a:avLst/>
          </a:prstGeom>
          <a:noFill/>
          <a:ln/>
        </p:spPr>
        <p:txBody>
          <a:bodyPr anchor="ctr" anchorCtr="0" bIns="45720" lIns="91440" rIns="91440" rtlCol="0" tIns="45720" vert="eaVert"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架构设计</a:t>
            </a:r>
          </a:p>
        </p:txBody>
        <p:extLst>
          <p:ext uri="http://schemas.baidu.com/office/drawing/2023/templateData">
            <bd:templateData xmlns:bd="http://schemas.baidu.com/office/drawing/2023/templateData">eyJ0YWciOiJub0VkaXQifQ==</bd:templateData>
          </p:ext>
        </p:extLst>
      </p:sp>
      <p:sp>
        <p:nvSpPr>
          <p:cNvPr id="37" name="TextBox 37"/>
          <p:cNvSpPr txBox="1"/>
          <p:nvPr/>
        </p:nvSpPr>
        <p:spPr>
          <a:xfrm rot="0">
            <a:off x="6144670" y="2787655"/>
            <a:ext cx="382905" cy="1729740"/>
          </a:xfrm>
          <a:prstGeom prst="rect">
            <a:avLst/>
          </a:prstGeom>
          <a:noFill/>
          <a:ln/>
        </p:spPr>
        <p:txBody>
          <a:bodyPr anchor="ctr" anchorCtr="0" bIns="45720" lIns="91440" rIns="91440" rtlCol="0" tIns="45720" vert="eaVert" wrap="squar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盈利模式</a:t>
            </a:r>
          </a:p>
        </p:txBody>
        <p:extLst>
          <p:ext uri="http://schemas.baidu.com/office/drawing/2023/templateData">
            <bd:templateData xmlns:bd="http://schemas.baidu.com/office/drawing/2023/templateData">eyJ0YWciOiJub0VkaXQifQ==</bd:templateData>
          </p:ext>
        </p:extLst>
      </p:sp>
      <p:sp>
        <p:nvSpPr>
          <p:cNvPr id="38" name="Freeform 38"/>
          <p:cNvSpPr/>
          <p:nvPr/>
        </p:nvSpPr>
        <p:spPr>
          <a:xfrm rot="16200000">
            <a:off x="9497144" y="-524926"/>
            <a:ext cx="317454" cy="4346273"/>
          </a:xfrm>
          <a:custGeom>
            <a:avLst/>
            <a:gdLst/>
            <a:ahLst/>
            <a:cxnLst/>
            <a:rect b="b" l="l" r="r" t="t"/>
            <a:pathLst>
              <a:path h="21595" w="21600">
                <a:moveTo>
                  <a:pt x="13" y="21595"/>
                </a:moveTo>
                <a:lnTo>
                  <a:pt x="9790" y="21595"/>
                </a:lnTo>
                <a:cubicBezTo>
                  <a:pt x="11407" y="21600"/>
                  <a:pt x="12989" y="21570"/>
                  <a:pt x="14123" y="21512"/>
                </a:cubicBezTo>
                <a:cubicBezTo>
                  <a:pt x="15046" y="21465"/>
                  <a:pt x="15601" y="21403"/>
                  <a:pt x="15687" y="21337"/>
                </a:cubicBezTo>
                <a:lnTo>
                  <a:pt x="15687" y="11183"/>
                </a:lnTo>
                <a:cubicBezTo>
                  <a:pt x="15796" y="11107"/>
                  <a:pt x="16391" y="11035"/>
                  <a:pt x="17382" y="10978"/>
                </a:cubicBezTo>
                <a:cubicBezTo>
                  <a:pt x="18467" y="10915"/>
                  <a:pt x="19960" y="10873"/>
                  <a:pt x="21600" y="10859"/>
                </a:cubicBezTo>
                <a:cubicBezTo>
                  <a:pt x="20179" y="10858"/>
                  <a:pt x="18813" y="10831"/>
                  <a:pt x="17740" y="10785"/>
                </a:cubicBezTo>
                <a:cubicBezTo>
                  <a:pt x="16383" y="10725"/>
                  <a:pt x="15606" y="10640"/>
                  <a:pt x="15613" y="10550"/>
                </a:cubicBezTo>
                <a:lnTo>
                  <a:pt x="15613" y="280"/>
                </a:lnTo>
                <a:cubicBezTo>
                  <a:pt x="15656" y="207"/>
                  <a:pt x="15122" y="137"/>
                  <a:pt x="14129" y="85"/>
                </a:cubicBezTo>
                <a:cubicBezTo>
                  <a:pt x="13138" y="32"/>
                  <a:pt x="11771" y="2"/>
                  <a:pt x="10330" y="0"/>
                </a:cubicBezTo>
                <a:lnTo>
                  <a:pt x="0" y="0"/>
                </a:lnTo>
              </a:path>
            </a:pathLst>
          </a:custGeom>
          <a:noFill/>
          <a:ln w="25400">
            <a:solidFill>
              <a:schemeClr val="accent3">
                <a:alpha val="100000"/>
              </a:schemeClr>
            </a:solidFill>
            <a:prstDash val="solid"/>
          </a:ln>
        </p:spPr>
        <p:extLst>
          <p:ext uri="http://schemas.baidu.com/office/drawing/2023/templateData">
            <bd:templateData xmlns:bd="http://schemas.baidu.com/office/drawing/2023/templateData">eyJ0YWciOiJub0VkaXQifQ==</bd:templateData>
          </p:ext>
        </p:extLst>
      </p:sp>
      <p:sp>
        <p:nvSpPr>
          <p:cNvPr id="39" name="TextBox 39"/>
          <p:cNvSpPr txBox="1"/>
          <p:nvPr/>
        </p:nvSpPr>
        <p:spPr>
          <a:xfrm rot="0">
            <a:off x="830097" y="1162939"/>
            <a:ext cx="6524478" cy="260414"/>
          </a:xfrm>
          <a:prstGeom prst="rect">
            <a:avLst/>
          </a:prstGeom>
          <a:ln/>
        </p:spPr>
        <p:txBody>
          <a:bodyPr anchor="t" anchorCtr="0" bIns="25432" lIns="25432" rIns="25432" rtlCol="0" tIns="25432" vert="horz" wrap="square">
            <a:spAutoFit/>
          </a:bodyPr>
          <a:lstStyle/>
          <a:p>
            <a:pPr algn="ctr">
              <a:lnSpc>
                <a:spcPct val="100000"/>
              </a:lnSpc>
              <a:spcBef>
                <a:spcPct val="0"/>
              </a:spcBef>
            </a:pPr>
            <a:r>
              <a:rPr lang="en-US" sz="1250">
                <a:solidFill>
                  <a:schemeClr val="accent1">
                    <a:alpha val="100000"/>
                  </a:schemeClr>
                </a:solidFill>
                <a:latin typeface="Noto Sans SC"/>
                <a:ea typeface="Noto Sans SC"/>
                <a:cs typeface="Noto Sans SC"/>
              </a:rPr>
              <a:t>评估模型框架</a:t>
            </a:r>
          </a:p>
        </p:txBody>
        <p:extLst>
          <p:ext uri="http://schemas.baidu.com/office/drawing/2023/templateData">
            <bd:templateData xmlns:bd="http://schemas.baidu.com/office/drawing/2023/templateData">eyJfdGVtcGxhdGVEYXRhIjp7ImxpbmVDb3VudCI6IjEiLCJ3b3JkQ291bnQiOiI5In0sInRhZyI6Im5vRWRpdCJ9</bd:templateData>
          </p:ext>
        </p:extLst>
      </p:sp>
      <p:sp>
        <p:nvSpPr>
          <p:cNvPr id="40" name="TextBox 40"/>
          <p:cNvSpPr txBox="1"/>
          <p:nvPr/>
        </p:nvSpPr>
        <p:spPr>
          <a:xfrm rot="0">
            <a:off x="7480238" y="1162939"/>
            <a:ext cx="4348770" cy="260414"/>
          </a:xfrm>
          <a:prstGeom prst="rect">
            <a:avLst/>
          </a:prstGeom>
          <a:ln/>
        </p:spPr>
        <p:txBody>
          <a:bodyPr anchor="t" anchorCtr="0" bIns="25432" lIns="25432" rIns="25432" rtlCol="0" tIns="25432" vert="horz" wrap="square">
            <a:spAutoFit/>
          </a:bodyPr>
          <a:lstStyle/>
          <a:p>
            <a:pPr algn="ctr">
              <a:lnSpc>
                <a:spcPct val="100000"/>
              </a:lnSpc>
              <a:spcBef>
                <a:spcPct val="0"/>
              </a:spcBef>
            </a:pPr>
            <a:r>
              <a:rPr lang="en-US" sz="1250">
                <a:solidFill>
                  <a:schemeClr val="accent1">
                    <a:alpha val="100000"/>
                  </a:schemeClr>
                </a:solidFill>
                <a:latin typeface="Noto Sans SC"/>
                <a:ea typeface="Noto Sans SC"/>
                <a:cs typeface="Noto Sans SC"/>
              </a:rPr>
              <a:t>效果验证</a:t>
            </a:r>
          </a:p>
        </p:txBody>
        <p:extLst>
          <p:ext uri="http://schemas.baidu.com/office/drawing/2023/templateData">
            <bd:templateData xmlns:bd="http://schemas.baidu.com/office/drawing/2023/templateData">eyJ0YWciOiJub0VkaXQifQ==</bd:templateData>
          </p:ext>
        </p:extLst>
      </p:sp>
      <p:sp>
        <p:nvSpPr>
          <p:cNvPr id="41" name="AutoShape 41"/>
          <p:cNvSpPr/>
          <p:nvPr/>
        </p:nvSpPr>
        <p:spPr>
          <a:xfrm rot="0">
            <a:off x="0" y="0"/>
            <a:ext cx="19050" cy="19050"/>
          </a:xfrm>
          <a:prstGeom prst="rightArrow">
            <a:avLst/>
          </a:prstGeom>
          <a:noFill/>
          <a:ln/>
        </p:spPr>
        <p:extLst>
          <p:ext uri="http://schemas.baidu.com/office/drawing/2023/templateData">
            <bd:templateData xmlns:bd="http://schemas.baidu.com/office/drawing/2023/templateData">eyJ0YWciOiJub0VkaXQifQ==</bd:templateData>
          </p:ext>
        </p:extLst>
      </p:sp>
      <p:sp>
        <p:nvSpPr>
          <p:cNvPr id="42" name="TextBox 42"/>
          <p:cNvSpPr txBox="1"/>
          <p:nvPr/>
        </p:nvSpPr>
        <p:spPr>
          <a:xfrm rot="0">
            <a:off x="7934031" y="4578818"/>
            <a:ext cx="555689" cy="222314"/>
          </a:xfrm>
          <a:prstGeom prst="rect">
            <a:avLst/>
          </a:prstGeom>
          <a:ln/>
        </p:spPr>
        <p:txBody>
          <a:bodyPr anchor="t" anchorCtr="0" bIns="25432" lIns="25432" rIns="25432" rtlCol="0" tIns="25432" vert="horz" wrap="none">
            <a:spAutoFit/>
          </a:bodyPr>
          <a:lstStyle/>
          <a:p>
            <a:pPr algn="l">
              <a:lnSpc>
                <a:spcPct val="100000"/>
              </a:lnSpc>
              <a:spcBef>
                <a:spcPct val="0"/>
              </a:spcBef>
            </a:pPr>
            <a:r>
              <a:rPr lang="en-US" sz="999">
                <a:solidFill>
                  <a:schemeClr val="dk1">
                    <a:alpha val="100000"/>
                  </a:schemeClr>
                </a:solidFill>
                <a:latin typeface="Noto Sans SC"/>
                <a:ea typeface="Noto Sans SC"/>
                <a:cs typeface="Noto Sans SC"/>
              </a:rPr>
              <a:t>资源优化</a:t>
            </a:r>
          </a:p>
        </p:txBody>
        <p:extLst>
          <p:ext uri="http://schemas.baidu.com/office/drawing/2023/templateData">
            <bd:templateData xmlns:bd="http://schemas.baidu.com/office/drawing/2023/templateData">eyJ0YWciOiJub0VkaXQifQ==</bd:templateData>
          </p:ext>
        </p:extLst>
      </p:sp>
      <p:sp>
        <p:nvSpPr>
          <p:cNvPr id="43" name="TextBox 43"/>
          <p:cNvSpPr txBox="1"/>
          <p:nvPr/>
        </p:nvSpPr>
        <p:spPr>
          <a:xfrm rot="0">
            <a:off x="7934031" y="4885810"/>
            <a:ext cx="555689" cy="222314"/>
          </a:xfrm>
          <a:prstGeom prst="rect">
            <a:avLst/>
          </a:prstGeom>
          <a:ln/>
        </p:spPr>
        <p:txBody>
          <a:bodyPr anchor="t" anchorCtr="0" bIns="25432" lIns="25432" rIns="25432" rtlCol="0" tIns="25432" vert="horz" wrap="none">
            <a:spAutoFit/>
          </a:bodyPr>
          <a:lstStyle/>
          <a:p>
            <a:pPr algn="l">
              <a:lnSpc>
                <a:spcPct val="100000"/>
              </a:lnSpc>
              <a:spcBef>
                <a:spcPct val="0"/>
              </a:spcBef>
            </a:pPr>
            <a:r>
              <a:rPr lang="en-US" sz="999">
                <a:solidFill>
                  <a:schemeClr val="dk1">
                    <a:alpha val="100000"/>
                  </a:schemeClr>
                </a:solidFill>
                <a:latin typeface="Noto Sans SC"/>
                <a:ea typeface="Noto Sans SC"/>
                <a:cs typeface="Noto Sans SC"/>
              </a:rPr>
              <a:t>持续运营</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4" name="AutoShape 44"/>
          <p:cNvSpPr/>
          <p:nvPr/>
        </p:nvSpPr>
        <p:spPr>
          <a:xfrm rot="0">
            <a:off x="0" y="0"/>
            <a:ext cx="19050" cy="19050"/>
          </a:xfrm>
          <a:prstGeom prst="rightArrow">
            <a:avLst/>
          </a:prstGeom>
          <a:noFill/>
          <a:ln/>
        </p:spPr>
        <p:extLst>
          <p:ext uri="http://schemas.baidu.com/office/drawing/2023/templateData">
            <bd:templateData xmlns:bd="http://schemas.baidu.com/office/drawing/2023/templateData">eyJ0YWciOiJub0VkaXQifQ==</bd:templateData>
          </p:ext>
        </p:extLst>
      </p:sp>
      <p:sp>
        <p:nvSpPr>
          <p:cNvPr id="45" name="TextBox 45"/>
          <p:cNvSpPr txBox="1"/>
          <p:nvPr/>
        </p:nvSpPr>
        <p:spPr>
          <a:xfrm rot="0">
            <a:off x="7934031" y="2210588"/>
            <a:ext cx="555689" cy="222314"/>
          </a:xfrm>
          <a:prstGeom prst="rect">
            <a:avLst/>
          </a:prstGeom>
          <a:ln/>
        </p:spPr>
        <p:txBody>
          <a:bodyPr anchor="t" anchorCtr="0" bIns="25432" lIns="25432" rIns="25432" rtlCol="0" tIns="25432" vert="horz" wrap="none">
            <a:spAutoFit/>
          </a:bodyPr>
          <a:lstStyle/>
          <a:p>
            <a:pPr algn="l">
              <a:lnSpc>
                <a:spcPct val="100000"/>
              </a:lnSpc>
              <a:spcBef>
                <a:spcPct val="0"/>
              </a:spcBef>
            </a:pPr>
            <a:r>
              <a:rPr lang="en-US" sz="999">
                <a:solidFill>
                  <a:schemeClr val="dk1">
                    <a:alpha val="100000"/>
                  </a:schemeClr>
                </a:solidFill>
                <a:latin typeface="Noto Sans SC"/>
                <a:ea typeface="Noto Sans SC"/>
                <a:cs typeface="Noto Sans SC"/>
              </a:rPr>
              <a:t>社区推广</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6" name="TextBox 46"/>
          <p:cNvSpPr txBox="1"/>
          <p:nvPr/>
        </p:nvSpPr>
        <p:spPr>
          <a:xfrm rot="0">
            <a:off x="7934031" y="2517580"/>
            <a:ext cx="555689" cy="222314"/>
          </a:xfrm>
          <a:prstGeom prst="rect">
            <a:avLst/>
          </a:prstGeom>
          <a:ln/>
        </p:spPr>
        <p:txBody>
          <a:bodyPr anchor="t" anchorCtr="0" bIns="25432" lIns="25432" rIns="25432" rtlCol="0" tIns="25432" vert="horz" wrap="none">
            <a:spAutoFit/>
          </a:bodyPr>
          <a:lstStyle/>
          <a:p>
            <a:pPr algn="l">
              <a:lnSpc>
                <a:spcPct val="100000"/>
              </a:lnSpc>
              <a:spcBef>
                <a:spcPct val="0"/>
              </a:spcBef>
            </a:pPr>
            <a:r>
              <a:rPr lang="en-US" sz="999">
                <a:solidFill>
                  <a:schemeClr val="dk1">
                    <a:alpha val="100000"/>
                  </a:schemeClr>
                </a:solidFill>
                <a:latin typeface="Noto Sans SC"/>
                <a:ea typeface="Noto Sans SC"/>
                <a:cs typeface="Noto Sans SC"/>
              </a:rPr>
              <a:t>用户增长</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47" name="AutoShape 47"/>
          <p:cNvSpPr/>
          <p:nvPr/>
        </p:nvSpPr>
        <p:spPr>
          <a:xfrm rot="10800000">
            <a:off x="9162597" y="3105519"/>
            <a:ext cx="2671180" cy="1070170"/>
          </a:xfrm>
          <a:prstGeom prst="homePlate">
            <a:avLst>
              <a:gd fmla="val 24013"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48" name="TextBox 48"/>
          <p:cNvSpPr txBox="1"/>
          <p:nvPr/>
        </p:nvSpPr>
        <p:spPr>
          <a:xfrm rot="0">
            <a:off x="9683496" y="3293072"/>
            <a:ext cx="1828800" cy="723900"/>
          </a:xfrm>
          <a:prstGeom prst="rect">
            <a:avLst/>
          </a:prstGeom>
          <a:noFill/>
          <a:ln/>
        </p:spPr>
        <p:txBody>
          <a:bodyPr anchor="ctr" anchorCtr="0" bIns="0" lIns="0" rIns="0" rtlCol="0" tIns="0" vert="horz" wrap="square">
            <a:spAutoFit/>
          </a:bodyPr>
          <a:lstStyle/>
          <a:p>
            <a:pPr algn="just">
              <a:lnSpc>
                <a:spcPct val="113999"/>
              </a:lnSpc>
              <a:spcBef>
                <a:spcPct val="0"/>
              </a:spcBef>
            </a:pPr>
            <a:r>
              <a:rPr lang="en-US" sz="999">
                <a:solidFill>
                  <a:srgbClr val="FFFFFF">
                    <a:alpha val="100000"/>
                  </a:srgbClr>
                </a:solidFill>
                <a:latin typeface="Noto Sans SC"/>
                <a:ea typeface="Noto Sans SC"/>
                <a:cs typeface="Noto Sans SC"/>
              </a:rPr>
              <a:t>通过代码提交分析、社区互动监测持续优化评估准确性和覆盖维度</a:t>
            </a:r>
          </a:p>
        </p:txBody>
        <p:extLst>
          <p:ext uri="http://schemas.baidu.com/office/drawing/2023/templateData">
            <bd:templateData xmlns:bd="http://schemas.baidu.com/office/drawing/2023/templateData">eyJ0YWciOiJub0VkaXQifQ==</bd:templateData>
          </p:ext>
        </p:extLst>
      </p:sp>
      <p:sp>
        <p:nvSpPr>
          <p:cNvPr id="49" name="AutoShape 49"/>
          <p:cNvSpPr/>
          <p:nvPr/>
        </p:nvSpPr>
        <p:spPr>
          <a:xfrm rot="10800000">
            <a:off x="9162597" y="4294239"/>
            <a:ext cx="2671180" cy="1070170"/>
          </a:xfrm>
          <a:prstGeom prst="homePlate">
            <a:avLst>
              <a:gd fmla="val 24013"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50" name="TextBox 50"/>
          <p:cNvSpPr txBox="1"/>
          <p:nvPr/>
        </p:nvSpPr>
        <p:spPr>
          <a:xfrm rot="0">
            <a:off x="9683496" y="4481792"/>
            <a:ext cx="1828800" cy="723900"/>
          </a:xfrm>
          <a:prstGeom prst="rect">
            <a:avLst/>
          </a:prstGeom>
          <a:noFill/>
          <a:ln/>
        </p:spPr>
        <p:txBody>
          <a:bodyPr anchor="ctr" anchorCtr="0" bIns="0" lIns="0" rIns="0" rtlCol="0" tIns="0" vert="horz" wrap="square">
            <a:spAutoFit/>
          </a:bodyPr>
          <a:lstStyle/>
          <a:p>
            <a:pPr algn="just">
              <a:lnSpc>
                <a:spcPct val="113999"/>
              </a:lnSpc>
              <a:spcBef>
                <a:spcPct val="0"/>
              </a:spcBef>
            </a:pPr>
            <a:r>
              <a:rPr lang="en-US" sz="999">
                <a:solidFill>
                  <a:srgbClr val="FFFFFF">
                    <a:alpha val="100000"/>
                  </a:srgbClr>
                </a:solidFill>
                <a:latin typeface="Noto Sans SC"/>
                <a:ea typeface="Noto Sans SC"/>
                <a:cs typeface="Noto Sans SC"/>
              </a:rPr>
              <a:t>降低计算成本，提升评估效率，为技术升级和社区拓展提供资源保障</a:t>
            </a:r>
          </a:p>
        </p:txBody>
        <p:extLst>
          <p:ext uri="http://schemas.baidu.com/office/drawing/2023/templateData">
            <bd:templateData xmlns:bd="http://schemas.baidu.com/office/drawing/2023/templateData">eyJ0YWciOiJub0VkaXQifQ==</bd:templateData>
          </p:ext>
        </p:extLst>
      </p:sp>
      <p:sp>
        <p:nvSpPr>
          <p:cNvPr id="51" name="AutoShape 51"/>
          <p:cNvSpPr/>
          <p:nvPr/>
        </p:nvSpPr>
        <p:spPr>
          <a:xfrm rot="10800000">
            <a:off x="9162597" y="1916798"/>
            <a:ext cx="2671180" cy="1070170"/>
          </a:xfrm>
          <a:prstGeom prst="homePlate">
            <a:avLst>
              <a:gd fmla="val 24013"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52" name="TextBox 52"/>
          <p:cNvSpPr txBox="1"/>
          <p:nvPr/>
        </p:nvSpPr>
        <p:spPr>
          <a:xfrm rot="0">
            <a:off x="9683496" y="2104351"/>
            <a:ext cx="1828800" cy="723900"/>
          </a:xfrm>
          <a:prstGeom prst="rect">
            <a:avLst/>
          </a:prstGeom>
          <a:noFill/>
          <a:ln/>
        </p:spPr>
        <p:txBody>
          <a:bodyPr anchor="ctr" anchorCtr="0" bIns="0" lIns="0" rIns="0" rtlCol="0" tIns="0" vert="horz" wrap="square">
            <a:spAutoFit/>
          </a:bodyPr>
          <a:lstStyle/>
          <a:p>
            <a:pPr algn="just">
              <a:lnSpc>
                <a:spcPct val="113999"/>
              </a:lnSpc>
              <a:spcBef>
                <a:spcPct val="0"/>
              </a:spcBef>
            </a:pPr>
            <a:r>
              <a:rPr lang="en-US" sz="999">
                <a:solidFill>
                  <a:srgbClr val="FFFFFF">
                    <a:alpha val="100000"/>
                  </a:srgbClr>
                </a:solidFill>
                <a:latin typeface="Noto Sans SC"/>
                <a:ea typeface="Noto Sans SC"/>
                <a:cs typeface="Noto Sans SC"/>
              </a:rPr>
              <a:t>建立精准的贡献者影响力评估模型，支持多维度分析，确保在开源社区分析领域的技术先进性</a:t>
            </a:r>
          </a:p>
        </p:txBody>
        <p:extLst>
          <p:ext uri="http://schemas.baidu.com/office/drawing/2023/templateData">
            <bd:templateData xmlns:bd="http://schemas.baidu.com/office/drawing/2023/templateData">eyJ0YWciOiJub0VkaXQifQ==</bd:templateData>
          </p:ext>
        </p:extLst>
      </p:sp>
      <p:sp>
        <p:nvSpPr>
          <p:cNvPr id="53" name="AutoShape 53"/>
          <p:cNvSpPr/>
          <p:nvPr/>
        </p:nvSpPr>
        <p:spPr>
          <a:xfrm rot="0">
            <a:off x="6663404" y="2074640"/>
            <a:ext cx="390334" cy="390334"/>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54" name="AutoShape 54"/>
          <p:cNvSpPr/>
          <p:nvPr/>
        </p:nvSpPr>
        <p:spPr>
          <a:xfrm rot="0">
            <a:off x="6663404" y="4388358"/>
            <a:ext cx="390334" cy="390334"/>
          </a:xfrm>
          <a:prstGeom prst="ellipse">
            <a:avLst/>
          </a:prstGeom>
          <a:solidFill>
            <a:schemeClr val="accent3">
              <a:alpha val="100000"/>
            </a:schemeClr>
          </a:solidFill>
          <a:ln/>
        </p:spPr>
        <p:extLst>
          <p:ext uri="http://schemas.baidu.com/office/drawing/2023/templateData">
            <bd:templateData xmlns:bd="http://schemas.baidu.com/office/drawing/2023/templateData">eyJfdGVtcGxhdGVEYXRhIjp7ImxpbmVDb3VudCI6IjIiLCJ3b3JkQ291bnQiOiIxIn0sInRhZyI6Im5vRWRpdCJ9</bd:templateData>
          </p:ext>
        </p:extLst>
      </p:sp>
      <p:sp>
        <p:nvSpPr>
          <p:cNvPr id="55" name="AutoShape 55"/>
          <p:cNvSpPr/>
          <p:nvPr/>
        </p:nvSpPr>
        <p:spPr>
          <a:xfrm rot="0">
            <a:off x="6663404" y="4845558"/>
            <a:ext cx="390334" cy="390334"/>
          </a:xfrm>
          <a:prstGeom prst="ellipse">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56" name="Freeform 56"/>
          <p:cNvSpPr/>
          <p:nvPr/>
        </p:nvSpPr>
        <p:spPr>
          <a:xfrm rot="0">
            <a:off x="6734094" y="4935613"/>
            <a:ext cx="265759" cy="222754"/>
          </a:xfrm>
          <a:custGeom>
            <a:avLst/>
            <a:gdLst/>
            <a:ahLst/>
            <a:cxnLst/>
            <a:rect b="b" l="l" r="r" t="t"/>
            <a:pathLst>
              <a:path h="304800" w="304800">
                <a:moveTo>
                  <a:pt x="147409" y="185366"/>
                </a:moveTo>
                <a:lnTo>
                  <a:pt x="66913" y="266338"/>
                </a:lnTo>
                <a:lnTo>
                  <a:pt x="66913" y="47987"/>
                </a:lnTo>
                <a:lnTo>
                  <a:pt x="228371" y="47987"/>
                </a:lnTo>
                <a:lnTo>
                  <a:pt x="228371" y="266338"/>
                </a:lnTo>
                <a:lnTo>
                  <a:pt x="147409" y="185366"/>
                </a:lnTo>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57" name="Freeform 57"/>
          <p:cNvSpPr/>
          <p:nvPr/>
        </p:nvSpPr>
        <p:spPr>
          <a:xfrm rot="0">
            <a:off x="6735201" y="4479245"/>
            <a:ext cx="265759" cy="222754"/>
          </a:xfrm>
          <a:custGeom>
            <a:avLst/>
            <a:gdLst/>
            <a:ahLst/>
            <a:cxnLst/>
            <a:rect b="b" l="l" r="r" t="t"/>
            <a:pathLst>
              <a:path h="304800" w="304800">
                <a:moveTo>
                  <a:pt x="147409" y="185366"/>
                </a:moveTo>
                <a:lnTo>
                  <a:pt x="66913" y="266338"/>
                </a:lnTo>
                <a:lnTo>
                  <a:pt x="66913" y="47987"/>
                </a:lnTo>
                <a:lnTo>
                  <a:pt x="228371" y="47987"/>
                </a:lnTo>
                <a:lnTo>
                  <a:pt x="228371" y="266338"/>
                </a:lnTo>
                <a:lnTo>
                  <a:pt x="147409" y="185366"/>
                </a:lnTo>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58" name="AutoShape 58"/>
          <p:cNvSpPr/>
          <p:nvPr/>
        </p:nvSpPr>
        <p:spPr>
          <a:xfrm rot="0">
            <a:off x="6663404" y="2531840"/>
            <a:ext cx="390334" cy="390334"/>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59" name="Freeform 59"/>
          <p:cNvSpPr/>
          <p:nvPr/>
        </p:nvSpPr>
        <p:spPr>
          <a:xfrm rot="0">
            <a:off x="6735201" y="2628640"/>
            <a:ext cx="265759" cy="222754"/>
          </a:xfrm>
          <a:custGeom>
            <a:avLst/>
            <a:gdLst/>
            <a:ahLst/>
            <a:cxnLst/>
            <a:rect b="b" l="l" r="r" t="t"/>
            <a:pathLst>
              <a:path h="304800" w="304800">
                <a:moveTo>
                  <a:pt x="147409" y="185366"/>
                </a:moveTo>
                <a:lnTo>
                  <a:pt x="66913" y="266338"/>
                </a:lnTo>
                <a:lnTo>
                  <a:pt x="66913" y="47987"/>
                </a:lnTo>
                <a:lnTo>
                  <a:pt x="228371" y="47987"/>
                </a:lnTo>
                <a:lnTo>
                  <a:pt x="228371" y="266338"/>
                </a:lnTo>
                <a:lnTo>
                  <a:pt x="147409" y="185366"/>
                </a:lnTo>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60" name="Freeform 60"/>
          <p:cNvSpPr/>
          <p:nvPr/>
        </p:nvSpPr>
        <p:spPr>
          <a:xfrm rot="0">
            <a:off x="6735201" y="2146620"/>
            <a:ext cx="265759" cy="222754"/>
          </a:xfrm>
          <a:custGeom>
            <a:avLst/>
            <a:gdLst/>
            <a:ahLst/>
            <a:cxnLst/>
            <a:rect b="b" l="l" r="r" t="t"/>
            <a:pathLst>
              <a:path h="304800" w="304800">
                <a:moveTo>
                  <a:pt x="147409" y="185366"/>
                </a:moveTo>
                <a:lnTo>
                  <a:pt x="66913" y="266338"/>
                </a:lnTo>
                <a:lnTo>
                  <a:pt x="66913" y="47987"/>
                </a:lnTo>
                <a:lnTo>
                  <a:pt x="228371" y="47987"/>
                </a:lnTo>
                <a:lnTo>
                  <a:pt x="228371" y="266338"/>
                </a:lnTo>
                <a:lnTo>
                  <a:pt x="147409" y="185366"/>
                </a:lnTo>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61" name="TextBox 61"/>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模型构建阶段</a:t>
            </a:r>
          </a:p>
        </p:txBody>
        <p:extLst>
          <p:ext uri="http://schemas.baidu.com/office/drawing/2023/templateData">
            <bd:templateData xmlns:bd="http://schemas.baidu.com/office/drawing/2023/templateData">eyJfdGVtcGxhdGVEYXRhIjp7ImNvbnRlbnRUeXBlIjoiJHRpdGxlIiwibGluZUNvdW50IjoiMSIsIndvcmRDb3VudCI6IjI4In0sInRhZyI6Im5vRWRpdCJ9</bd:templateData>
          </p:ext>
        </p:extLst>
      </p:sp>
    </p:spTree>
  </p:cSld>
  <p:clrMapOvr>
    <a:masterClrMapping/>
  </p:clrMapOvr>
  <p:extLst>
    <p:ext uri="http://schemas.baidu.com/office/drawing/2023/templateData">
      <bd:templateData xmlns:bd="http://schemas.baidu.com/office/drawing/2023/templateData">eyJtZCI6IiMjIOaKgOacr+i3r+e6v+inhOWIklxuIyMjIOaooeWei+aehOW7uumYtuautSIsInRwbGlkIjoiNjgiLCJ0cGxOYW1lIjoidGl0bGVHcmFwaF9wcm8yMSIsImVkaXRlZCI6ImZhbHNlIn0=</bd:templateData>
    </p:ext>
  </p:extLst>
</p:sld>
</file>

<file path=ppt/slides/slide17.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1297192" y="1308287"/>
            <a:ext cx="4348638" cy="60579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微服务架构设计</a:t>
            </a:r>
          </a:p>
        </p:txBody>
        <p:extLst>
          <p:ext uri="http://schemas.baidu.com/office/drawing/2023/templateData">
            <bd:templateData xmlns:bd="http://schemas.baidu.com/office/drawing/2023/templateData">eyJfdGVtcGxhdGVEYXRhIjp7ImNvbnRlbnRUeXBlIjoiJGl0ZW0xX3RpdGxlIiwibGluZUNvdW50IjoiMSIsIndvcmRDb3VudCI6IjE1In0sInRhZyI6IiRpdGVtMV90aXRsZSJ9</bd:templateData>
          </p:ext>
        </p:extLst>
      </p:sp>
      <p:sp>
        <p:nvSpPr>
          <p:cNvPr id="3" name="TextBox 3"/>
          <p:cNvSpPr txBox="1"/>
          <p:nvPr/>
        </p:nvSpPr>
        <p:spPr>
          <a:xfrm rot="0">
            <a:off x="6865764" y="1271476"/>
            <a:ext cx="4493572" cy="60579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自动化报告生成</a:t>
            </a:r>
          </a:p>
        </p:txBody>
        <p:extLst>
          <p:ext uri="http://schemas.baidu.com/office/drawing/2023/templateData">
            <bd:templateData xmlns:bd="http://schemas.baidu.com/office/drawing/2023/templateData">eyJfdGVtcGxhdGVEYXRhIjp7ImNvbnRlbnRUeXBlIjoiJGl0ZW00X3RpdGxlIiwibGluZUNvdW50IjoiMSIsIndvcmRDb3VudCI6IjE1In0sInRhZyI6IiRpdGVtNF90aXRsZSJ9</bd:templateData>
          </p:ext>
        </p:extLst>
      </p:sp>
      <p:sp>
        <p:nvSpPr>
          <p:cNvPr id="4" name="TextBox 4"/>
          <p:cNvSpPr txBox="1"/>
          <p:nvPr/>
        </p:nvSpPr>
        <p:spPr>
          <a:xfrm rot="0">
            <a:off x="6878035" y="2989034"/>
            <a:ext cx="4493572" cy="60579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权限管理系统</a:t>
            </a:r>
          </a:p>
        </p:txBody>
        <p:extLst>
          <p:ext uri="http://schemas.baidu.com/office/drawing/2023/templateData">
            <bd:templateData xmlns:bd="http://schemas.baidu.com/office/drawing/2023/templateData">eyJfdGVtcGxhdGVEYXRhIjp7ImNvbnRlbnRUeXBlIjoiJGl0ZW01X3RpdGxlIiwibGluZUNvdW50IjoiMSIsIndvcmRDb3VudCI6IjE1In0sInRhZyI6IiRpdGVtNV90aXRsZSJ9</bd:templateData>
          </p:ext>
        </p:extLst>
      </p:sp>
      <p:sp>
        <p:nvSpPr>
          <p:cNvPr id="5" name="TextBox 5"/>
          <p:cNvSpPr txBox="1"/>
          <p:nvPr/>
        </p:nvSpPr>
        <p:spPr>
          <a:xfrm rot="0">
            <a:off x="6890305" y="4725206"/>
            <a:ext cx="4493572" cy="60579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性能监控体系</a:t>
            </a:r>
          </a:p>
        </p:txBody>
        <p:extLst>
          <p:ext uri="http://schemas.baidu.com/office/drawing/2023/templateData">
            <bd:templateData xmlns:bd="http://schemas.baidu.com/office/drawing/2023/templateData">eyJfdGVtcGxhdGVEYXRhIjp7ImNvbnRlbnRUeXBlIjoiJGl0ZW02X3RpdGxlIiwibGluZUNvdW50IjoiMSIsIndvcmRDb3VudCI6IjE1In0sInRhZyI6IiRpdGVtNl90aXRsZSJ9</bd:templateData>
          </p:ext>
        </p:extLst>
      </p:sp>
      <p:sp>
        <p:nvSpPr>
          <p:cNvPr id="6" name="TextBox 6"/>
          <p:cNvSpPr txBox="1"/>
          <p:nvPr/>
        </p:nvSpPr>
        <p:spPr>
          <a:xfrm rot="0">
            <a:off x="1321733" y="4762018"/>
            <a:ext cx="4414526" cy="62484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可视化看板开发</a:t>
            </a:r>
          </a:p>
        </p:txBody>
        <p:extLst>
          <p:ext uri="http://schemas.baidu.com/office/drawing/2023/templateData">
            <bd:templateData xmlns:bd="http://schemas.baidu.com/office/drawing/2023/templateData">eyJfdGVtcGxhdGVEYXRhIjp7ImNvbnRlbnRUeXBlIjoiJGl0ZW0zX3RpdGxlIiwibGluZUNvdW50IjoiMSIsIndvcmRDb3VudCI6IjE1In0sInRhZyI6IiRpdGVtM190aXRsZSJ9</bd:templateData>
          </p:ext>
        </p:extLst>
      </p:sp>
      <p:sp>
        <p:nvSpPr>
          <p:cNvPr id="7" name="TextBox 7"/>
          <p:cNvSpPr txBox="1"/>
          <p:nvPr/>
        </p:nvSpPr>
        <p:spPr>
          <a:xfrm rot="0">
            <a:off x="1309463" y="3025846"/>
            <a:ext cx="4348638" cy="60579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实时计算管道</a:t>
            </a:r>
          </a:p>
        </p:txBody>
        <p:extLst>
          <p:ext uri="http://schemas.baidu.com/office/drawing/2023/templateData">
            <bd:templateData xmlns:bd="http://schemas.baidu.com/office/drawing/2023/templateData">eyJfdGVtcGxhdGVEYXRhIjp7ImNvbnRlbnRUeXBlIjoiJGl0ZW0yX3RpdGxlIiwibGluZUNvdW50IjoiMSIsIndvcmRDb3VudCI6IjE1In0sInRhZyI6IiRpdGVtMl90aXRsZSJ9</bd:templateData>
          </p:ext>
        </p:extLst>
      </p:sp>
      <p:sp>
        <p:nvSpPr>
          <p:cNvPr id="8" name="TextBox 8"/>
          <p:cNvSpPr txBox="1"/>
          <p:nvPr/>
        </p:nvSpPr>
        <p:spPr>
          <a:xfrm rot="0">
            <a:off x="1297192" y="1670999"/>
            <a:ext cx="4486656" cy="1203960"/>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将数据采集、特征计算、模型推理等功能拆分为独立服务，通过Kubernetes实现弹性扩缩容，保障高并发场景下的系统稳定性。</a:t>
            </a:r>
          </a:p>
        </p:txBody>
        <p:extLst>
          <p:ext uri="http://schemas.baidu.com/office/drawing/2023/templateData">
            <bd:templateData xmlns:bd="http://schemas.baidu.com/office/drawing/2023/templateData">eyJfdGVtcGxhdGVEYXRhIjp7ImNvbnRlbnRUeXBlIjoiJGl0ZW0xX2MiLCJsaW5lQ291bnQiOiIzIiwid29yZENvdW50IjoiMjEifSwidGFnIjoiJGl0ZW0xX2MifQ==</bd:templateData>
          </p:ext>
        </p:extLst>
      </p:sp>
      <p:sp>
        <p:nvSpPr>
          <p:cNvPr id="9" name="TextBox 9"/>
          <p:cNvSpPr txBox="1"/>
          <p:nvPr/>
        </p:nvSpPr>
        <p:spPr>
          <a:xfrm rot="0">
            <a:off x="1309463" y="3410120"/>
            <a:ext cx="4486275" cy="1152525"/>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搭建Flink流处理管道实现贡献行为实时分析，支持毫秒级影响力分数更新，满足动态排名展示需求。</a:t>
            </a:r>
          </a:p>
        </p:txBody>
        <p:extLst>
          <p:ext uri="http://schemas.baidu.com/office/drawing/2023/templateData">
            <bd:templateData xmlns:bd="http://schemas.baidu.com/office/drawing/2023/templateData">eyJfdGVtcGxhdGVEYXRhIjp7ImNvbnRlbnRUeXBlIjoiJGl0ZW0yX2MiLCJsaW5lQ291bnQiOiIzIiwid29yZENvdW50IjoiMjEifSwidGFnIjoiJGl0ZW0yX2MifQ==</bd:templateData>
          </p:ext>
        </p:extLst>
      </p:sp>
      <p:sp>
        <p:nvSpPr>
          <p:cNvPr id="10" name="TextBox 10"/>
          <p:cNvSpPr txBox="1"/>
          <p:nvPr/>
        </p:nvSpPr>
        <p:spPr>
          <a:xfrm rot="0">
            <a:off x="1321733" y="5149114"/>
            <a:ext cx="4486275" cy="1152525"/>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基于D3.js构建多维数据看板，支持按项目/组织/时间范围筛选的贡献者影响力对比，提供交互式关系图谱探索功能。</a:t>
            </a:r>
          </a:p>
        </p:txBody>
        <p:extLst>
          <p:ext uri="http://schemas.baidu.com/office/drawing/2023/templateData">
            <bd:templateData xmlns:bd="http://schemas.baidu.com/office/drawing/2023/templateData">eyJfdGVtcGxhdGVEYXRhIjp7ImNvbnRlbnRUeXBlIjoiJGl0ZW0zX2MiLCJsaW5lQ291bnQiOiIzIiwid29yZENvdW50IjoiMjEifSwidGFnIjoiJGl0ZW0zX2MifQ==</bd:templateData>
          </p:ext>
        </p:extLst>
      </p:sp>
      <p:sp>
        <p:nvSpPr>
          <p:cNvPr id="11" name="TextBox 11"/>
          <p:cNvSpPr txBox="1"/>
          <p:nvPr/>
        </p:nvSpPr>
        <p:spPr>
          <a:xfrm rot="0">
            <a:off x="6865764" y="1634188"/>
            <a:ext cx="4486275" cy="1152525"/>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集成Jinja2模板引擎定期输出贡献者成长报告，包含影响力趋势分析、同级对比、改进建议等结构化内容。</a:t>
            </a:r>
          </a:p>
        </p:txBody>
        <p:extLst>
          <p:ext uri="http://schemas.baidu.com/office/drawing/2023/templateData">
            <bd:templateData xmlns:bd="http://schemas.baidu.com/office/drawing/2023/templateData">eyJfdGVtcGxhdGVEYXRhIjp7ImNvbnRlbnRUeXBlIjoiJGl0ZW00X2MiLCJsaW5lQ291bnQiOiIzIiwid29yZENvdW50IjoiMjEifSwidGFnIjoiJGl0ZW00X2MifQ==</bd:templateData>
          </p:ext>
        </p:extLst>
      </p:sp>
      <p:sp>
        <p:nvSpPr>
          <p:cNvPr id="12" name="TextBox 12"/>
          <p:cNvSpPr txBox="1"/>
          <p:nvPr/>
        </p:nvSpPr>
        <p:spPr>
          <a:xfrm rot="0">
            <a:off x="6878035" y="3373308"/>
            <a:ext cx="4486275" cy="1152525"/>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实现基于RBAC的细粒度权限控制，支持企业级SSO集成，确保敏感数据仅对授权用户可见。</a:t>
            </a:r>
          </a:p>
        </p:txBody>
        <p:extLst>
          <p:ext uri="http://schemas.baidu.com/office/drawing/2023/templateData">
            <bd:templateData xmlns:bd="http://schemas.baidu.com/office/drawing/2023/templateData">eyJfdGVtcGxhdGVEYXRhIjp7ImNvbnRlbnRUeXBlIjoiJGl0ZW01X2MiLCJsaW5lQ291bnQiOiIzIiwid29yZENvdW50IjoiMjEifSwidGFnIjoiJGl0ZW01X2MifQ==</bd:templateData>
          </p:ext>
        </p:extLst>
      </p:sp>
      <p:sp>
        <p:nvSpPr>
          <p:cNvPr id="13" name="TextBox 13"/>
          <p:cNvSpPr txBox="1"/>
          <p:nvPr/>
        </p:nvSpPr>
        <p:spPr>
          <a:xfrm rot="0">
            <a:off x="6890305" y="5112302"/>
            <a:ext cx="4486275" cy="1152525"/>
          </a:xfrm>
          <a:prstGeom prst="rect">
            <a:avLst/>
          </a:prstGeom>
          <a:ln/>
        </p:spPr>
        <p:txBody>
          <a:bodyPr anchor="t" anchorCtr="0" bIns="123825" lIns="123825" rIns="57150" rtlCol="0" tIns="123825" vert="horz" wrap="square">
            <a:noAutofit/>
          </a:bodyPr>
          <a:lstStyle/>
          <a:p>
            <a:pPr>
              <a:lnSpc>
                <a:spcPct val="140000"/>
              </a:lnSpc>
            </a:pPr>
            <a:r>
              <a:rPr lang="en-US" sz="1500">
                <a:solidFill>
                  <a:schemeClr val="dk1">
                    <a:alpha val="100000"/>
                  </a:schemeClr>
                </a:solidFill>
                <a:latin typeface="Noto Sans SC"/>
                <a:ea typeface="Noto Sans SC"/>
                <a:cs typeface="Noto Sans SC"/>
              </a:rPr>
              <a:t>部署Prometheus+Grafana监控堆栈，实时跟踪API响应延迟、模型推理耗时等关键指标，设置自动化告警阈值。</a:t>
            </a:r>
          </a:p>
        </p:txBody>
        <p:extLst>
          <p:ext uri="http://schemas.baidu.com/office/drawing/2023/templateData">
            <bd:templateData xmlns:bd="http://schemas.baidu.com/office/drawing/2023/templateData">eyJfdGVtcGxhdGVEYXRhIjp7ImNvbnRlbnRUeXBlIjoiJGl0ZW02X2MiLCJsaW5lQ291bnQiOiIzIiwid29yZENvdW50IjoiMjEifSwidGFnIjoiJGl0ZW02X2MifQ==</bd:templateData>
          </p:ext>
        </p:extLst>
      </p:sp>
      <p:sp>
        <p:nvSpPr>
          <p:cNvPr id="14" name="TextBox 14"/>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系统开发阶段</a:t>
            </a:r>
          </a:p>
        </p:txBody>
        <p:extLst>
          <p:ext uri="http://schemas.baidu.com/office/drawing/2023/templateData">
            <bd:templateData xmlns:bd="http://schemas.baidu.com/office/drawing/2023/templateData">eyJfdGVtcGxhdGVEYXRhIjp7ImNvbnRlbnRUeXBlIjoiJHRpdGxlIiwibGluZUNvdW50IjoiMSIsIndvcmRDb3VudCI6IjI4In0sInRhZyI6IiR0aXRsZSJ9</bd:templateData>
          </p:ext>
        </p:extLst>
      </p:sp>
      <p:grpSp>
        <p:nvGrpSpPr>
          <p:cNvPr id="15" name="Group 15"/>
          <p:cNvGrpSpPr/>
          <p:nvPr/>
        </p:nvGrpSpPr>
        <p:grpSpPr>
          <a:xfrm rot="0">
            <a:off x="839115" y="1512589"/>
            <a:ext cx="197186" cy="5357334"/>
            <a:chOff x="839115" y="1512589"/>
            <a:chExt cx="197186" cy="5357334"/>
          </a:xfrm>
        </p:grpSpPr>
        <p:sp>
          <p:nvSpPr>
            <p:cNvPr id="16" name="AutoShape 16"/>
            <p:cNvSpPr/>
            <p:nvPr/>
          </p:nvSpPr>
          <p:spPr>
            <a:xfrm rot="0">
              <a:off x="839115" y="1512589"/>
              <a:ext cx="197186" cy="197186"/>
            </a:xfrm>
            <a:prstGeom prst="ellipse">
              <a:avLst/>
            </a:prstGeom>
            <a:solidFill>
              <a:schemeClr val="accent1">
                <a:alpha val="100000"/>
              </a:schemeClr>
            </a:solidFill>
            <a:ln/>
          </p:spPr>
        </p:sp>
        <p:sp>
          <p:nvSpPr>
            <p:cNvPr id="17" name="AutoShape 17"/>
            <p:cNvSpPr/>
            <p:nvPr/>
          </p:nvSpPr>
          <p:spPr>
            <a:xfrm rot="0">
              <a:off x="839115" y="3230148"/>
              <a:ext cx="197186" cy="197186"/>
            </a:xfrm>
            <a:prstGeom prst="ellipse">
              <a:avLst/>
            </a:prstGeom>
            <a:solidFill>
              <a:schemeClr val="accent1">
                <a:alpha val="100000"/>
              </a:schemeClr>
            </a:solidFill>
            <a:ln/>
          </p:spPr>
        </p:sp>
        <p:sp>
          <p:nvSpPr>
            <p:cNvPr id="18" name="AutoShape 18"/>
            <p:cNvSpPr/>
            <p:nvPr/>
          </p:nvSpPr>
          <p:spPr>
            <a:xfrm rot="0">
              <a:off x="839115" y="4975845"/>
              <a:ext cx="197186" cy="197186"/>
            </a:xfrm>
            <a:prstGeom prst="ellipse">
              <a:avLst/>
            </a:prstGeom>
            <a:solidFill>
              <a:schemeClr val="accent1">
                <a:alpha val="100000"/>
              </a:schemeClr>
            </a:solidFill>
            <a:ln/>
          </p:spPr>
        </p:sp>
        <p:cxnSp>
          <p:nvCxnSpPr>
            <p:cNvPr id="19" name="Connector 19"/>
            <p:cNvCxnSpPr/>
            <p:nvPr/>
          </p:nvCxnSpPr>
          <p:spPr>
            <a:xfrm>
              <a:off x="937708" y="1624780"/>
              <a:ext cx="0" cy="5245143"/>
            </a:xfrm>
            <a:prstGeom prst="line">
              <a:avLst/>
            </a:prstGeom>
            <a:ln w="1905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grpSp>
      <p:grpSp>
        <p:nvGrpSpPr>
          <p:cNvPr id="20" name="Group 20"/>
          <p:cNvGrpSpPr/>
          <p:nvPr/>
        </p:nvGrpSpPr>
        <p:grpSpPr>
          <a:xfrm rot="0">
            <a:off x="6455568" y="1512589"/>
            <a:ext cx="197186" cy="5357334"/>
            <a:chOff x="6455568" y="1512589"/>
            <a:chExt cx="197186" cy="5357334"/>
          </a:xfrm>
        </p:grpSpPr>
        <p:sp>
          <p:nvSpPr>
            <p:cNvPr id="21" name="AutoShape 21"/>
            <p:cNvSpPr/>
            <p:nvPr/>
          </p:nvSpPr>
          <p:spPr>
            <a:xfrm rot="0">
              <a:off x="6455568" y="1512589"/>
              <a:ext cx="197186" cy="197186"/>
            </a:xfrm>
            <a:prstGeom prst="ellipse">
              <a:avLst/>
            </a:prstGeom>
            <a:solidFill>
              <a:schemeClr val="accent1">
                <a:alpha val="100000"/>
              </a:schemeClr>
            </a:solidFill>
            <a:ln/>
          </p:spPr>
        </p:sp>
        <p:sp>
          <p:nvSpPr>
            <p:cNvPr id="22" name="AutoShape 22"/>
            <p:cNvSpPr/>
            <p:nvPr/>
          </p:nvSpPr>
          <p:spPr>
            <a:xfrm rot="0">
              <a:off x="6455568" y="3230148"/>
              <a:ext cx="197186" cy="197186"/>
            </a:xfrm>
            <a:prstGeom prst="ellipse">
              <a:avLst/>
            </a:prstGeom>
            <a:solidFill>
              <a:schemeClr val="accent1">
                <a:alpha val="100000"/>
              </a:schemeClr>
            </a:solidFill>
            <a:ln/>
          </p:spPr>
        </p:sp>
        <p:sp>
          <p:nvSpPr>
            <p:cNvPr id="23" name="AutoShape 23"/>
            <p:cNvSpPr/>
            <p:nvPr/>
          </p:nvSpPr>
          <p:spPr>
            <a:xfrm rot="0">
              <a:off x="6455568" y="4975845"/>
              <a:ext cx="197186" cy="197186"/>
            </a:xfrm>
            <a:prstGeom prst="ellipse">
              <a:avLst/>
            </a:prstGeom>
            <a:solidFill>
              <a:schemeClr val="accent1">
                <a:alpha val="100000"/>
              </a:schemeClr>
            </a:solidFill>
            <a:ln/>
          </p:spPr>
        </p:sp>
        <p:cxnSp>
          <p:nvCxnSpPr>
            <p:cNvPr id="24" name="Connector 24"/>
            <p:cNvCxnSpPr/>
            <p:nvPr/>
          </p:nvCxnSpPr>
          <p:spPr>
            <a:xfrm>
              <a:off x="6554162" y="1624780"/>
              <a:ext cx="0" cy="5245143"/>
            </a:xfrm>
            <a:prstGeom prst="line">
              <a:avLst/>
            </a:prstGeom>
            <a:ln w="1905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grpSp>
    </p:spTree>
  </p:cSld>
  <p:clrMapOvr>
    <a:masterClrMapping/>
  </p:clrMapOvr>
  <p:extLst>
    <p:ext uri="http://schemas.baidu.com/office/drawing/2023/templateData">
      <bd:templateData xmlns:bd="http://schemas.baidu.com/office/drawing/2023/templateData">eyJtZCI6IiMjIOezu+e7n+W8gOWPkemYtuautVxuIyMjIOW+ruacjeWKoeaetuaehOiuvuiuoVxu5bCG5pWw5o2u6YeH6ZuG44CB54m55b6B6K6h566X44CB5qih5Z6L5o6o55CG562J5Yqf6IO95ouG5YiG5Li654us56uL5pyN5Yqh77yM6YCa6L+HS3ViZXJuZXRlc+WunueOsOW8ueaAp+aJqee8qeWuue+8jOS/nemanOmrmOW5tuWPkeWcuuaZr+S4i+eahOezu+e7n+eos+WumuaAp+OAglxuIyMjIOWunuaXtuiuoeeul+euoemBk1xu5pCt5bu6RmxpbmvmtYHlpITnkIbnrqHpgZPlrp7njrDotKHnjK7ooYzkuLrlrp7ml7bliIbmnpDvvIzmlK/mjIHmr6vnp5LnuqflvbHlk43lipvliIbmlbDmm7TmlrDvvIzmu6HotrPliqjmgIHmjpLlkI3lsZXnpLrpnIDmsYLjgIJcbiMjIyDlj6/op4bljJbnnIvmnb/lvIDlj5FcbuWfuuS6jkQzLmpz5p6E5bu65aSa57u05pWw5o2u55yL5p2/77yM5pSv5oyB5oyJ6aG555uuL+e7hOe7hy/ml7bpl7TojIPlm7TnrZvpgInnmoTotKHnjK7ogIXlvbHlk43lipvlr7nmr5TvvIzmj5DkvpvkuqTkupLlvI/lhbPns7vlm77osLHmjqLntKLlip/og73jgIJcbiMjIyDoh6rliqjljJbmiqXlkYrnlJ/miJBcbumbhuaIkEppbmphMuaooeadv+W8leaTjuWumuacn+i+k+WHuui0oeeMruiAheaIkOmVv+aKpeWRiu+8jOWMheWQq+W9seWTjeWKm+i2i+WKv+WIhuaekOOAgeWQjOe6p+WvueavlOOAgeaUuei/m+W7uuiuruetiee7k+aehOWMluWGheWuueOAglxuIyMjIOadg+mZkOeuoeeQhuezu+e7n1xu5a6e546w5Z+65LqOUkJBQ+eahOe7hueykuW6puadg+mZkOaOp+WItu+8jOaUr+aMgeS8geS4mue6p1NTT+mbhuaIkO+8jOehruS/neaVj+aEn+aVsOaNruS7heWvueaOiOadg+eUqOaIt+WPr+ingeOAglxuIyMjIOaAp+iDveebkeaOp+S9k+ezu1xu6YOo572yUHJvbWV0aGV1cytHcmFmYW5h55uR5o6n5aCG5qCI77yM5a6e5pe26Lef6LiqQVBJ5ZON5bqU5bu26L+f44CB5qih5Z6L5o6o55CG6ICX5pe2562J5YWz6ZSu5oyH5qCH77yM6K6+572u6Ieq5Yqo5YyW5ZGK6K2m6ZiI5YC844CCIiwidHBsaWQiOiI2OCIsInRwbE5hbWUiOiJsaXN0Nl80IiwiZWRpdGVkIjoiZmFsc2UifQ==</bd:templateData>
    </p:ext>
  </p:extLst>
</p:sld>
</file>

<file path=ppt/slides/slide18.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3947160" y="1300388"/>
            <a:ext cx="4297680" cy="1522429"/>
          </a:xfrm>
          <a:prstGeom prst="rect">
            <a:avLst/>
          </a:prstGeom>
          <a:ln/>
        </p:spPr>
        <p:txBody>
          <a:bodyPr anchor="ctr" anchorCtr="0" bIns="45720" lIns="91440" rIns="91440" rtlCol="0" tIns="45720" vert="horz" wrap="square">
            <a:normAutofit/>
          </a:bodyPr>
          <a:lstStyle/>
          <a:p>
            <a:pPr algn="ctr">
              <a:lnSpc>
                <a:spcPct val="100000"/>
              </a:lnSpc>
              <a:spcBef>
                <a:spcPts val="375"/>
              </a:spcBef>
            </a:pPr>
            <a:r>
              <a:rPr b="1" lang="en-US" sz="7050">
                <a:solidFill>
                  <a:srgbClr val="1ACA6E">
                    <a:alpha val="100000"/>
                  </a:srgbClr>
                </a:solidFill>
                <a:latin typeface="Noto Sans SC"/>
                <a:ea typeface="Noto Sans SC"/>
                <a:cs typeface="Noto Sans SC"/>
              </a:rPr>
              <a:t>05</a:t>
            </a:r>
          </a:p>
        </p:txBody>
        <p:extLst>
          <p:ext uri="http://schemas.baidu.com/office/drawing/2023/templateData">
            <bd:templateData xmlns:bd="http://schemas.baidu.com/office/drawing/2023/templateData">eyJfdGVtcGxhdGVEYXRhIjp7ImNvbnRlbnRUeXBlIjoiJG51bWJlciIsImxpbmVDb3VudCI6IjEiLCJ3b3JkQ291bnQiOiIzIn0sInRhZyI6Im5vRWRpdCJ9</bd:templateData>
          </p:ext>
        </p:extLst>
      </p:sp>
      <p:sp>
        <p:nvSpPr>
          <p:cNvPr id="3" name="TextBox 3"/>
          <p:cNvSpPr txBox="1"/>
          <p:nvPr/>
        </p:nvSpPr>
        <p:spPr>
          <a:xfrm rot="0">
            <a:off x="1811474" y="2886383"/>
            <a:ext cx="8569053" cy="2874949"/>
          </a:xfrm>
          <a:prstGeom prst="rect">
            <a:avLst/>
          </a:prstGeom>
          <a:ln/>
        </p:spPr>
        <p:txBody>
          <a:bodyPr anchor="t" anchorCtr="0" bIns="45720" lIns="91440" rIns="91440" rtlCol="0" tIns="45720" vert="horz" wrap="square">
            <a:noAutofit/>
          </a:bodyPr>
          <a:lstStyle/>
          <a:p>
            <a:pPr algn="ctr">
              <a:lnSpc>
                <a:spcPct val="100000"/>
              </a:lnSpc>
              <a:spcBef>
                <a:spcPts val="375"/>
              </a:spcBef>
            </a:pPr>
            <a:r>
              <a:rPr b="1" lang="en-US" sz="5250">
                <a:solidFill>
                  <a:srgbClr val="152815">
                    <a:alpha val="100000"/>
                  </a:srgbClr>
                </a:solidFill>
                <a:latin typeface="Noto Sans SC"/>
                <a:ea typeface="Noto Sans SC"/>
                <a:cs typeface="Noto Sans SC"/>
              </a:rPr>
              <a:t>创新点与应用价值</a:t>
            </a:r>
          </a:p>
        </p:txBody>
        <p:extLst>
          <p:ext uri="http://schemas.baidu.com/office/drawing/2023/templateData">
            <bd:templateData xmlns:bd="http://schemas.baidu.com/office/drawing/2023/templateData">eyJfdGVtcGxhdGVEYXRhIjp7ImNvbnRlbnRUeXBlIjoiJHRpdGxlIiwibGluZUNvdW50IjoiMyIsIndvcmRDb3VudCI6IjExIn0sInRhZyI6IiR0aXRsZSJ9</bd:templateData>
          </p:ext>
        </p:extLst>
      </p:sp>
    </p:spTree>
  </p:cSld>
  <p:clrMapOvr>
    <a:masterClrMapping/>
  </p:clrMapOvr>
  <p:extLst>
    <p:ext uri="http://schemas.baidu.com/office/drawing/2023/templateData">
      <bd:templateData xmlns:bd="http://schemas.baidu.com/office/drawing/2023/templateData">eyJtZCI6IiMjIOWIm+aWsOeCueS4juW6lOeUqOS7t+WAvCIsInRwbGlkIjoiNjgiLCJ0cGxOYW1lIjoiaDJ0aXRsZV82OGdsYXNzIiwiZWRpdGVkIjoiZmFsc2UifQ==</bd:templateData>
    </p:ext>
  </p:extLst>
</p:sld>
</file>

<file path=ppt/slides/slide19.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AutoShape 2"/>
          <p:cNvSpPr/>
          <p:nvPr/>
        </p:nvSpPr>
        <p:spPr>
          <a:xfrm flipH="1" rot="0">
            <a:off x="7606665" y="3488246"/>
            <a:ext cx="4702588" cy="1563624"/>
          </a:xfrm>
          <a:prstGeom prst="rect">
            <a:avLst/>
          </a:prstGeom>
          <a:solidFill>
            <a:schemeClr val="lt2">
              <a:alpha val="30000"/>
            </a:schemeClr>
          </a:solidFill>
          <a:ln/>
        </p:spPr>
        <p:extLst>
          <p:ext uri="http://schemas.baidu.com/office/drawing/2023/templateData">
            <bd:templateData xmlns:bd="http://schemas.baidu.com/office/drawing/2023/templateData">eyJ0YWciOiJub0VkaXQifQ==</bd:templateData>
          </p:ext>
        </p:extLst>
      </p:sp>
      <p:sp>
        <p:nvSpPr>
          <p:cNvPr id="3" name="AutoShape 3"/>
          <p:cNvSpPr/>
          <p:nvPr/>
        </p:nvSpPr>
        <p:spPr>
          <a:xfrm flipH="1" rot="0">
            <a:off x="7606665" y="1454658"/>
            <a:ext cx="4702588" cy="1563624"/>
          </a:xfrm>
          <a:prstGeom prst="rect">
            <a:avLst/>
          </a:prstGeom>
          <a:solidFill>
            <a:schemeClr val="lt2">
              <a:alpha val="30000"/>
            </a:schemeClr>
          </a:solidFill>
          <a:ln/>
        </p:spPr>
        <p:extLst>
          <p:ext uri="http://schemas.baidu.com/office/drawing/2023/templateData">
            <bd:templateData xmlns:bd="http://schemas.baidu.com/office/drawing/2023/templateData">eyJ0YWciOiJub0VkaXQifQ==</bd:templateData>
          </p:ext>
        </p:extLst>
      </p:sp>
      <p:sp>
        <p:nvSpPr>
          <p:cNvPr id="4" name="AutoShape 4"/>
          <p:cNvSpPr/>
          <p:nvPr/>
        </p:nvSpPr>
        <p:spPr>
          <a:xfrm rot="0">
            <a:off x="0" y="3488246"/>
            <a:ext cx="4702588" cy="1563624"/>
          </a:xfrm>
          <a:prstGeom prst="rect">
            <a:avLst/>
          </a:prstGeom>
          <a:solidFill>
            <a:schemeClr val="lt2">
              <a:alpha val="30000"/>
            </a:schemeClr>
          </a:solidFill>
          <a:ln/>
        </p:spPr>
        <p:extLst>
          <p:ext uri="http://schemas.baidu.com/office/drawing/2023/templateData">
            <bd:templateData xmlns:bd="http://schemas.baidu.com/office/drawing/2023/templateData">eyJ0YWciOiJub0VkaXQifQ==</bd:templateData>
          </p:ext>
        </p:extLst>
      </p:sp>
      <p:sp>
        <p:nvSpPr>
          <p:cNvPr id="5" name="AutoShape 5"/>
          <p:cNvSpPr/>
          <p:nvPr/>
        </p:nvSpPr>
        <p:spPr>
          <a:xfrm rot="0">
            <a:off x="0" y="1454658"/>
            <a:ext cx="4702588" cy="1563624"/>
          </a:xfrm>
          <a:prstGeom prst="rect">
            <a:avLst/>
          </a:prstGeom>
          <a:solidFill>
            <a:schemeClr val="lt2">
              <a:alpha val="30000"/>
            </a:schemeClr>
          </a:solidFill>
          <a:ln/>
        </p:spPr>
        <p:extLst>
          <p:ext uri="http://schemas.baidu.com/office/drawing/2023/templateData">
            <bd:templateData xmlns:bd="http://schemas.baidu.com/office/drawing/2023/templateData">eyJ0YWciOiJub0VkaXQifQ==</bd:templateData>
          </p:ext>
        </p:extLst>
      </p:sp>
      <p:sp>
        <p:nvSpPr>
          <p:cNvPr id="6" name="AutoShape 6"/>
          <p:cNvSpPr/>
          <p:nvPr/>
        </p:nvSpPr>
        <p:spPr>
          <a:xfrm rot="0">
            <a:off x="3226420" y="1880836"/>
            <a:ext cx="2717902" cy="2717902"/>
          </a:xfrm>
          <a:prstGeom prst="ellipse">
            <a:avLst/>
          </a:prstGeom>
          <a:noFill/>
          <a:ln w="88900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7" name="AutoShape 7"/>
          <p:cNvSpPr/>
          <p:nvPr/>
        </p:nvSpPr>
        <p:spPr>
          <a:xfrm rot="0">
            <a:off x="3579603" y="2244955"/>
            <a:ext cx="2011536" cy="2011536"/>
          </a:xfrm>
          <a:prstGeom prst="ellipse">
            <a:avLst/>
          </a:prstGeom>
          <a:solidFill>
            <a:schemeClr val="accent1">
              <a:alpha val="100000"/>
              <a:lumMod val="75000"/>
            </a:schemeClr>
          </a:solidFill>
          <a:ln/>
        </p:spPr>
        <p:extLst>
          <p:ext uri="http://schemas.baidu.com/office/drawing/2023/templateData">
            <bd:templateData xmlns:bd="http://schemas.baidu.com/office/drawing/2023/templateData">eyJ0YWciOiJub0VkaXQifQ==</bd:templateData>
          </p:ext>
        </p:extLst>
      </p:sp>
      <p:sp>
        <p:nvSpPr>
          <p:cNvPr id="8" name="AutoShape 8"/>
          <p:cNvSpPr/>
          <p:nvPr/>
        </p:nvSpPr>
        <p:spPr>
          <a:xfrm rot="0">
            <a:off x="6247678" y="1880836"/>
            <a:ext cx="2717902" cy="2717902"/>
          </a:xfrm>
          <a:prstGeom prst="ellipse">
            <a:avLst/>
          </a:prstGeom>
          <a:noFill/>
          <a:ln w="889000">
            <a:solidFill>
              <a:schemeClr val="accent3">
                <a:alpha val="100000"/>
              </a:schemeClr>
            </a:solidFill>
            <a:prstDash val="solid"/>
          </a:ln>
        </p:spPr>
        <p:extLst>
          <p:ext uri="http://schemas.baidu.com/office/drawing/2023/templateData">
            <bd:templateData xmlns:bd="http://schemas.baidu.com/office/drawing/2023/templateData">eyJ0YWciOiJub0VkaXQifQ==</bd:templateData>
          </p:ext>
        </p:extLst>
      </p:sp>
      <p:sp>
        <p:nvSpPr>
          <p:cNvPr id="9" name="AutoShape 9"/>
          <p:cNvSpPr/>
          <p:nvPr/>
        </p:nvSpPr>
        <p:spPr>
          <a:xfrm rot="0">
            <a:off x="6600861" y="2234019"/>
            <a:ext cx="2011536" cy="2011536"/>
          </a:xfrm>
          <a:prstGeom prst="ellipse">
            <a:avLst/>
          </a:prstGeom>
          <a:solidFill>
            <a:schemeClr val="accent2">
              <a:alpha val="100000"/>
              <a:lumMod val="75000"/>
            </a:schemeClr>
          </a:solidFill>
          <a:ln/>
        </p:spPr>
        <p:extLst>
          <p:ext uri="http://schemas.baidu.com/office/drawing/2023/templateData">
            <bd:templateData xmlns:bd="http://schemas.baidu.com/office/drawing/2023/templateData">eyJ0YWciOiJub0VkaXQifQ==</bd:templateData>
          </p:ext>
        </p:extLst>
      </p:sp>
      <p:sp>
        <p:nvSpPr>
          <p:cNvPr id="10" name="TextBox 10"/>
          <p:cNvSpPr txBox="1"/>
          <p:nvPr/>
        </p:nvSpPr>
        <p:spPr>
          <a:xfrm rot="0">
            <a:off x="6862853" y="3020952"/>
            <a:ext cx="1485900" cy="3429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2100">
                <a:solidFill>
                  <a:srgbClr val="FFFFFF">
                    <a:alpha val="100000"/>
                  </a:srgbClr>
                </a:solidFill>
                <a:latin typeface="Noto Sans SC"/>
                <a:ea typeface="Noto Sans SC"/>
                <a:cs typeface="Noto Sans SC"/>
              </a:rPr>
              <a:t>优化策略</a:t>
            </a:r>
          </a:p>
        </p:txBody>
        <p:extLst>
          <p:ext uri="http://schemas.baidu.com/office/drawing/2023/templateData">
            <bd:templateData xmlns:bd="http://schemas.baidu.com/office/drawing/2023/templateData">eyJ0YWciOiJub0VkaXQifQ==</bd:templateData>
          </p:ext>
        </p:extLst>
      </p:sp>
      <p:sp>
        <p:nvSpPr>
          <p:cNvPr id="11" name="TextBox 11"/>
          <p:cNvSpPr txBox="1"/>
          <p:nvPr/>
        </p:nvSpPr>
        <p:spPr>
          <a:xfrm rot="0">
            <a:off x="3841595" y="3020952"/>
            <a:ext cx="1485900" cy="3429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2100">
                <a:solidFill>
                  <a:srgbClr val="FFFFFF">
                    <a:alpha val="100000"/>
                  </a:srgbClr>
                </a:solidFill>
                <a:latin typeface="Noto Sans SC"/>
                <a:ea typeface="Noto Sans SC"/>
                <a:cs typeface="Noto Sans SC"/>
              </a:rPr>
              <a:t>技术挑战</a:t>
            </a:r>
          </a:p>
        </p:txBody>
        <p:extLst>
          <p:ext uri="http://schemas.baidu.com/office/drawing/2023/templateData">
            <bd:templateData xmlns:bd="http://schemas.baidu.com/office/drawing/2023/templateData">eyJ0YWciOiJub0VkaXQifQ==</bd:templateData>
          </p:ext>
        </p:extLst>
      </p:sp>
      <p:sp>
        <p:nvSpPr>
          <p:cNvPr id="12" name="TextBox 12"/>
          <p:cNvSpPr txBox="1"/>
          <p:nvPr/>
        </p:nvSpPr>
        <p:spPr>
          <a:xfrm rot="0">
            <a:off x="3841595" y="1837056"/>
            <a:ext cx="1485900" cy="2571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FFFFF">
                    <a:alpha val="100000"/>
                  </a:srgbClr>
                </a:solidFill>
                <a:latin typeface="Noto Sans SC"/>
                <a:ea typeface="Noto Sans SC"/>
                <a:cs typeface="Noto Sans SC"/>
              </a:rPr>
              <a:t>技术方案</a:t>
            </a:r>
          </a:p>
        </p:txBody>
        <p:extLst>
          <p:ext uri="http://schemas.baidu.com/office/drawing/2023/templateData">
            <bd:templateData xmlns:bd="http://schemas.baidu.com/office/drawing/2023/templateData">eyJ0YWciOiJub0VkaXQifQ==</bd:templateData>
          </p:ext>
        </p:extLst>
      </p:sp>
      <p:sp>
        <p:nvSpPr>
          <p:cNvPr id="13" name="TextBox 13"/>
          <p:cNvSpPr txBox="1"/>
          <p:nvPr/>
        </p:nvSpPr>
        <p:spPr>
          <a:xfrm rot="0">
            <a:off x="3841595" y="4430966"/>
            <a:ext cx="1485900" cy="2571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FFFFF">
                    <a:alpha val="100000"/>
                  </a:srgbClr>
                </a:solidFill>
                <a:latin typeface="Noto Sans SC"/>
                <a:ea typeface="Noto Sans SC"/>
                <a:cs typeface="Noto Sans SC"/>
              </a:rPr>
              <a:t>社区方案</a:t>
            </a:r>
          </a:p>
        </p:txBody>
        <p:extLst>
          <p:ext uri="http://schemas.baidu.com/office/drawing/2023/templateData">
            <bd:templateData xmlns:bd="http://schemas.baidu.com/office/drawing/2023/templateData">eyJ0YWciOiJub0VkaXQifQ==</bd:templateData>
          </p:ext>
        </p:extLst>
      </p:sp>
      <p:sp>
        <p:nvSpPr>
          <p:cNvPr id="14" name="TextBox 14"/>
          <p:cNvSpPr txBox="1"/>
          <p:nvPr/>
        </p:nvSpPr>
        <p:spPr>
          <a:xfrm rot="0">
            <a:off x="6862853" y="1837056"/>
            <a:ext cx="1485900" cy="2667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FFFFF">
                    <a:alpha val="100000"/>
                  </a:srgbClr>
                </a:solidFill>
                <a:latin typeface="Noto Sans SC"/>
                <a:ea typeface="Noto Sans SC"/>
                <a:cs typeface="Noto Sans SC"/>
              </a:rPr>
              <a:t>业务层面</a:t>
            </a:r>
          </a:p>
        </p:txBody>
        <p:extLst>
          <p:ext uri="http://schemas.baidu.com/office/drawing/2023/templateData">
            <bd:templateData xmlns:bd="http://schemas.baidu.com/office/drawing/2023/templateData">eyJ0YWciOiJub0VkaXQifQ==</bd:templateData>
          </p:ext>
        </p:extLst>
      </p:sp>
      <p:sp>
        <p:nvSpPr>
          <p:cNvPr id="15" name="TextBox 15"/>
          <p:cNvSpPr txBox="1"/>
          <p:nvPr/>
        </p:nvSpPr>
        <p:spPr>
          <a:xfrm rot="0">
            <a:off x="6862853" y="4430966"/>
            <a:ext cx="1485900" cy="2571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599">
                <a:solidFill>
                  <a:srgbClr val="FFFFFF">
                    <a:alpha val="100000"/>
                  </a:srgbClr>
                </a:solidFill>
                <a:latin typeface="Noto Sans SC"/>
                <a:ea typeface="Noto Sans SC"/>
                <a:cs typeface="Noto Sans SC"/>
              </a:rPr>
              <a:t>组织层面</a:t>
            </a:r>
          </a:p>
        </p:txBody>
        <p:extLst>
          <p:ext uri="http://schemas.baidu.com/office/drawing/2023/templateData">
            <bd:templateData xmlns:bd="http://schemas.baidu.com/office/drawing/2023/templateData">eyJ0YWciOiJub0VkaXQifQ==</bd:templateData>
          </p:ext>
        </p:extLst>
      </p:sp>
      <p:sp>
        <p:nvSpPr>
          <p:cNvPr id="16" name="TextBox 16"/>
          <p:cNvSpPr txBox="1"/>
          <p:nvPr/>
        </p:nvSpPr>
        <p:spPr>
          <a:xfrm rot="0">
            <a:off x="5392351" y="3076936"/>
            <a:ext cx="1485900" cy="352425"/>
          </a:xfrm>
          <a:prstGeom prst="rect">
            <a:avLst/>
          </a:prstGeom>
          <a:noFill/>
          <a:ln/>
        </p:spPr>
        <p:txBody>
          <a:bodyPr anchor="t" anchorCtr="0" bIns="0" lIns="0" rIns="0" rtlCol="0" tIns="0" vert="horz" wrap="square">
            <a:spAutoFit/>
          </a:bodyPr>
          <a:lstStyle/>
          <a:p>
            <a:pPr algn="ctr">
              <a:lnSpc>
                <a:spcPct val="100000"/>
              </a:lnSpc>
              <a:spcBef>
                <a:spcPct val="0"/>
              </a:spcBef>
            </a:pPr>
            <a:r>
              <a:rPr lang="en-US" sz="2100">
                <a:solidFill>
                  <a:schemeClr val="dk2">
                    <a:alpha val="100000"/>
                  </a:schemeClr>
                </a:solidFill>
                <a:latin typeface="Noto Sans SC"/>
                <a:ea typeface="Noto Sans SC"/>
                <a:cs typeface="Noto Sans SC"/>
              </a:rPr>
              <a:t>+</a:t>
            </a:r>
          </a:p>
        </p:txBody>
        <p:extLst>
          <p:ext uri="http://schemas.baidu.com/office/drawing/2023/templateData">
            <bd:templateData xmlns:bd="http://schemas.baidu.com/office/drawing/2023/templateData">eyJ0YWciOiJub0VkaXQifQ==</bd:templateData>
          </p:ext>
        </p:extLst>
      </p:sp>
      <p:sp>
        <p:nvSpPr>
          <p:cNvPr id="17" name="AutoShape 17"/>
          <p:cNvSpPr/>
          <p:nvPr/>
        </p:nvSpPr>
        <p:spPr>
          <a:xfrm rot="0">
            <a:off x="423579" y="5580812"/>
            <a:ext cx="11344842" cy="897288"/>
          </a:xfrm>
          <a:prstGeom prst="roundRect">
            <a:avLst>
              <a:gd fmla="val 0" name="adj"/>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8" name="TextBox 18"/>
          <p:cNvSpPr txBox="1"/>
          <p:nvPr/>
        </p:nvSpPr>
        <p:spPr>
          <a:xfrm rot="0">
            <a:off x="482724" y="5731041"/>
            <a:ext cx="849630" cy="624840"/>
          </a:xfrm>
          <a:prstGeom prst="rect">
            <a:avLst/>
          </a:prstGeom>
          <a:noFill/>
          <a:ln/>
        </p:spPr>
        <p:txBody>
          <a:bodyPr anchor="ctr" anchorCtr="0" bIns="45720" lIns="91440" rIns="91440" rtlCol="0" tIns="45720" vert="horz" wrap="square">
            <a:spAutoFit/>
          </a:bodyPr>
          <a:lstStyle/>
          <a:p>
            <a:pPr algn="ctr">
              <a:lnSpc>
                <a:spcPct val="120000"/>
              </a:lnSpc>
              <a:spcBef>
                <a:spcPct val="0"/>
              </a:spcBef>
            </a:pPr>
            <a:r>
              <a:rPr lang="en-US" sz="1400">
                <a:solidFill>
                  <a:srgbClr val="FFFFFF">
                    <a:alpha val="100000"/>
                  </a:srgbClr>
                </a:solidFill>
                <a:latin typeface="Noto Sans SC"/>
                <a:ea typeface="Noto Sans SC"/>
                <a:cs typeface="Noto Sans SC"/>
              </a:rPr>
              <a:t>创新计划</a:t>
            </a:r>
          </a:p>
        </p:txBody>
        <p:extLst>
          <p:ext uri="http://schemas.baidu.com/office/drawing/2023/templateData">
            <bd:templateData xmlns:bd="http://schemas.baidu.com/office/drawing/2023/templateData">eyJ0YWciOiJub0VkaXQifQ==</bd:templateData>
          </p:ext>
        </p:extLst>
      </p:sp>
      <p:cxnSp>
        <p:nvCxnSpPr>
          <p:cNvPr id="19" name="Connector 19"/>
          <p:cNvCxnSpPr/>
          <p:nvPr/>
        </p:nvCxnSpPr>
        <p:spPr>
          <a:xfrm>
            <a:off x="1373829" y="5852008"/>
            <a:ext cx="0" cy="354896"/>
          </a:xfrm>
          <a:prstGeom prst="line">
            <a:avLst/>
          </a:prstGeom>
          <a:ln w="6350">
            <a:solidFill>
              <a:schemeClr val="dk2"/>
            </a:solidFill>
            <a:prstDash val="solid"/>
            <a:headEnd type="none"/>
            <a:tailEnd type="none"/>
          </a:ln>
        </p:spPr>
        <p:style>
          <a:lnRef idx="0">
            <a:schemeClr val="dk2"/>
          </a:lnRef>
          <a:fillRef idx="1">
            <a:schemeClr val="dk2"/>
          </a:fillRef>
          <a:effectRef idx="0">
            <a:schemeClr val="dk2"/>
          </a:effectRef>
          <a:fontRef idx="minor">
            <a:schemeClr val="lt1"/>
          </a:fontRef>
        </p:style>
        <p:extLst>
          <p:ext uri="http://schemas.baidu.com/office/drawing/2023/templateData">
            <bd:templateData xmlns:bd="http://schemas.baidu.com/office/drawing/2023/templateData">eyJ0YWciOiJub0VkaXQifQ==</bd:templateData>
          </p:ext>
        </p:extLst>
      </p:cxnSp>
      <p:sp>
        <p:nvSpPr>
          <p:cNvPr id="20" name="TextBox 20"/>
          <p:cNvSpPr txBox="1"/>
          <p:nvPr/>
        </p:nvSpPr>
        <p:spPr>
          <a:xfrm rot="0">
            <a:off x="1744592" y="5799058"/>
            <a:ext cx="1995815" cy="228600"/>
          </a:xfrm>
          <a:prstGeom prst="rect">
            <a:avLst/>
          </a:prstGeom>
          <a:noFill/>
          <a:ln/>
        </p:spPr>
        <p:txBody>
          <a:bodyPr anchor="t" anchorCtr="0" bIns="0" lIns="0" rIns="0" rtlCol="0" tIns="0" vert="horz" wrap="square">
            <a:spAutoFit/>
          </a:bodyPr>
          <a:lstStyle/>
          <a:p>
            <a:pPr algn="l">
              <a:lnSpc>
                <a:spcPct val="100000"/>
              </a:lnSpc>
              <a:spcBef>
                <a:spcPct val="0"/>
              </a:spcBef>
            </a:pPr>
            <a:r>
              <a:rPr lang="en-US" sz="1400">
                <a:solidFill>
                  <a:srgbClr val="FFFFFF">
                    <a:alpha val="100000"/>
                  </a:srgbClr>
                </a:solidFill>
                <a:latin typeface="Noto Sans SC"/>
                <a:ea typeface="Noto Sans SC"/>
                <a:cs typeface="Noto Sans SC"/>
              </a:rPr>
              <a:t>技术创新</a:t>
            </a:r>
          </a:p>
        </p:txBody>
        <p:extLst>
          <p:ext uri="http://schemas.baidu.com/office/drawing/2023/templateData">
            <bd:templateData xmlns:bd="http://schemas.baidu.com/office/drawing/2023/templateData">eyJ0YWciOiJub0VkaXQifQ==</bd:templateData>
          </p:ext>
        </p:extLst>
      </p:sp>
      <p:sp>
        <p:nvSpPr>
          <p:cNvPr id="21" name="TextBox 21"/>
          <p:cNvSpPr txBox="1"/>
          <p:nvPr/>
        </p:nvSpPr>
        <p:spPr>
          <a:xfrm flipH="1" rot="0">
            <a:off x="1744592" y="6051743"/>
            <a:ext cx="1995815" cy="209550"/>
          </a:xfrm>
          <a:prstGeom prst="rect">
            <a:avLst/>
          </a:prstGeom>
          <a:noFill/>
          <a:ln/>
        </p:spPr>
        <p:txBody>
          <a:bodyPr anchor="t" anchorCtr="0" bIns="0" lIns="0" rIns="0" rtlCol="0" tIns="0" vert="horz" wrap="square">
            <a:spAutoFit/>
          </a:bodyPr>
          <a:lstStyle/>
          <a:p>
            <a:pPr algn="l">
              <a:lnSpc>
                <a:spcPct val="120000"/>
              </a:lnSpc>
              <a:spcBef>
                <a:spcPct val="0"/>
              </a:spcBef>
            </a:pPr>
            <a:r>
              <a:rPr lang="en-US" sz="1100">
                <a:solidFill>
                  <a:srgbClr val="FFFFFF">
                    <a:alpha val="100000"/>
                  </a:srgbClr>
                </a:solidFill>
                <a:latin typeface="Noto Sans SC"/>
                <a:ea typeface="Noto Sans SC"/>
                <a:cs typeface="Noto Sans SC"/>
              </a:rPr>
              <a:t>推动开源技术革新</a:t>
            </a:r>
          </a:p>
        </p:txBody>
        <p:extLst>
          <p:ext uri="http://schemas.baidu.com/office/drawing/2023/templateData">
            <bd:templateData xmlns:bd="http://schemas.baidu.com/office/drawing/2023/templateData">eyJ0YWciOiJub0VkaXQifQ==</bd:templateData>
          </p:ext>
        </p:extLst>
      </p:sp>
      <p:sp>
        <p:nvSpPr>
          <p:cNvPr id="22" name="TextBox 22"/>
          <p:cNvSpPr txBox="1"/>
          <p:nvPr/>
        </p:nvSpPr>
        <p:spPr>
          <a:xfrm rot="0">
            <a:off x="4307911" y="5799058"/>
            <a:ext cx="1939767" cy="228600"/>
          </a:xfrm>
          <a:prstGeom prst="rect">
            <a:avLst/>
          </a:prstGeom>
          <a:noFill/>
          <a:ln/>
        </p:spPr>
        <p:txBody>
          <a:bodyPr anchor="t" anchorCtr="0" bIns="0" lIns="0" rIns="0" rtlCol="0" tIns="0" vert="horz" wrap="square">
            <a:spAutoFit/>
          </a:bodyPr>
          <a:lstStyle/>
          <a:p>
            <a:pPr algn="l">
              <a:lnSpc>
                <a:spcPct val="100000"/>
              </a:lnSpc>
              <a:spcBef>
                <a:spcPct val="0"/>
              </a:spcBef>
            </a:pPr>
            <a:r>
              <a:rPr lang="en-US" sz="1400">
                <a:solidFill>
                  <a:srgbClr val="FFFFFF">
                    <a:alpha val="100000"/>
                  </a:srgbClr>
                </a:solidFill>
                <a:latin typeface="Noto Sans SC"/>
                <a:ea typeface="Noto Sans SC"/>
                <a:cs typeface="Noto Sans SC"/>
              </a:rPr>
              <a:t>社区协作</a:t>
            </a:r>
          </a:p>
        </p:txBody>
        <p:extLst>
          <p:ext uri="http://schemas.baidu.com/office/drawing/2023/templateData">
            <bd:templateData xmlns:bd="http://schemas.baidu.com/office/drawing/2023/templateData">eyJ0YWciOiJub0VkaXQifQ==</bd:templateData>
          </p:ext>
        </p:extLst>
      </p:sp>
      <p:sp>
        <p:nvSpPr>
          <p:cNvPr id="23" name="TextBox 23"/>
          <p:cNvSpPr txBox="1"/>
          <p:nvPr/>
        </p:nvSpPr>
        <p:spPr>
          <a:xfrm flipH="1" rot="0">
            <a:off x="4307911" y="6051743"/>
            <a:ext cx="1939767" cy="209550"/>
          </a:xfrm>
          <a:prstGeom prst="rect">
            <a:avLst/>
          </a:prstGeom>
          <a:noFill/>
          <a:ln/>
        </p:spPr>
        <p:txBody>
          <a:bodyPr anchor="t" anchorCtr="0" bIns="0" lIns="0" rIns="0" rtlCol="0" tIns="0" vert="horz" wrap="square">
            <a:spAutoFit/>
          </a:bodyPr>
          <a:lstStyle/>
          <a:p>
            <a:pPr algn="l">
              <a:lnSpc>
                <a:spcPct val="120000"/>
              </a:lnSpc>
              <a:spcBef>
                <a:spcPct val="0"/>
              </a:spcBef>
            </a:pPr>
            <a:r>
              <a:rPr lang="en-US" sz="1100">
                <a:solidFill>
                  <a:srgbClr val="FFFFFF">
                    <a:alpha val="100000"/>
                  </a:srgbClr>
                </a:solidFill>
                <a:latin typeface="Noto Sans SC"/>
                <a:ea typeface="Noto Sans SC"/>
                <a:cs typeface="Noto Sans SC"/>
              </a:rPr>
              <a:t>优化协作流程</a:t>
            </a:r>
          </a:p>
        </p:txBody>
        <p:extLst>
          <p:ext uri="http://schemas.baidu.com/office/drawing/2023/templateData">
            <bd:templateData xmlns:bd="http://schemas.baidu.com/office/drawing/2023/templateData">eyJ0YWciOiJub0VkaXQifQ==</bd:templateData>
          </p:ext>
        </p:extLst>
      </p:sp>
      <p:sp>
        <p:nvSpPr>
          <p:cNvPr id="24" name="TextBox 24"/>
          <p:cNvSpPr txBox="1"/>
          <p:nvPr/>
        </p:nvSpPr>
        <p:spPr>
          <a:xfrm rot="0">
            <a:off x="6862853" y="5799058"/>
            <a:ext cx="2102727" cy="228600"/>
          </a:xfrm>
          <a:prstGeom prst="rect">
            <a:avLst/>
          </a:prstGeom>
          <a:noFill/>
          <a:ln/>
        </p:spPr>
        <p:txBody>
          <a:bodyPr anchor="t" anchorCtr="0" bIns="0" lIns="0" rIns="0" rtlCol="0" tIns="0" vert="horz" wrap="square">
            <a:spAutoFit/>
          </a:bodyPr>
          <a:lstStyle/>
          <a:p>
            <a:pPr algn="l">
              <a:lnSpc>
                <a:spcPct val="100000"/>
              </a:lnSpc>
              <a:spcBef>
                <a:spcPct val="0"/>
              </a:spcBef>
            </a:pPr>
            <a:r>
              <a:rPr lang="en-US" sz="1400">
                <a:solidFill>
                  <a:srgbClr val="FFFFFF">
                    <a:alpha val="100000"/>
                  </a:srgbClr>
                </a:solidFill>
                <a:latin typeface="Noto Sans SC"/>
                <a:ea typeface="Noto Sans SC"/>
                <a:cs typeface="Noto Sans SC"/>
              </a:rPr>
              <a:t>贡献监测</a:t>
            </a:r>
          </a:p>
        </p:txBody>
        <p:extLst>
          <p:ext uri="http://schemas.baidu.com/office/drawing/2023/templateData">
            <bd:templateData xmlns:bd="http://schemas.baidu.com/office/drawing/2023/templateData">eyJ0YWciOiJub0VkaXQifQ==</bd:templateData>
          </p:ext>
        </p:extLst>
      </p:sp>
      <p:sp>
        <p:nvSpPr>
          <p:cNvPr id="25" name="TextBox 25"/>
          <p:cNvSpPr txBox="1"/>
          <p:nvPr/>
        </p:nvSpPr>
        <p:spPr>
          <a:xfrm flipH="1" rot="0">
            <a:off x="6862853" y="6051743"/>
            <a:ext cx="2102727" cy="209550"/>
          </a:xfrm>
          <a:prstGeom prst="rect">
            <a:avLst/>
          </a:prstGeom>
          <a:noFill/>
          <a:ln/>
        </p:spPr>
        <p:txBody>
          <a:bodyPr anchor="t" anchorCtr="0" bIns="0" lIns="0" rIns="0" rtlCol="0" tIns="0" vert="horz" wrap="square">
            <a:spAutoFit/>
          </a:bodyPr>
          <a:lstStyle/>
          <a:p>
            <a:pPr algn="l">
              <a:lnSpc>
                <a:spcPct val="120000"/>
              </a:lnSpc>
              <a:spcBef>
                <a:spcPct val="0"/>
              </a:spcBef>
            </a:pPr>
            <a:r>
              <a:rPr lang="en-US" sz="1100">
                <a:solidFill>
                  <a:srgbClr val="FFFFFF">
                    <a:alpha val="100000"/>
                  </a:srgbClr>
                </a:solidFill>
                <a:latin typeface="Noto Sans SC"/>
                <a:ea typeface="Noto Sans SC"/>
                <a:cs typeface="Noto Sans SC"/>
              </a:rPr>
              <a:t>建立贡献评估体系</a:t>
            </a:r>
          </a:p>
        </p:txBody>
        <p:extLst>
          <p:ext uri="http://schemas.baidu.com/office/drawing/2023/templateData">
            <bd:templateData xmlns:bd="http://schemas.baidu.com/office/drawing/2023/templateData">eyJ0YWciOiJub0VkaXQifQ==</bd:templateData>
          </p:ext>
        </p:extLst>
      </p:sp>
      <p:sp>
        <p:nvSpPr>
          <p:cNvPr id="26" name="TextBox 26"/>
          <p:cNvSpPr txBox="1"/>
          <p:nvPr/>
        </p:nvSpPr>
        <p:spPr>
          <a:xfrm rot="0">
            <a:off x="9553004" y="5799058"/>
            <a:ext cx="2215418" cy="228600"/>
          </a:xfrm>
          <a:prstGeom prst="rect">
            <a:avLst/>
          </a:prstGeom>
          <a:noFill/>
          <a:ln/>
        </p:spPr>
        <p:txBody>
          <a:bodyPr anchor="t" anchorCtr="0" bIns="0" lIns="0" rIns="0" rtlCol="0" tIns="0" vert="horz" wrap="square">
            <a:spAutoFit/>
          </a:bodyPr>
          <a:lstStyle/>
          <a:p>
            <a:pPr algn="l">
              <a:lnSpc>
                <a:spcPct val="100000"/>
              </a:lnSpc>
              <a:spcBef>
                <a:spcPct val="0"/>
              </a:spcBef>
            </a:pPr>
            <a:r>
              <a:rPr lang="en-US" sz="1400">
                <a:solidFill>
                  <a:srgbClr val="FFFFFF">
                    <a:alpha val="100000"/>
                  </a:srgbClr>
                </a:solidFill>
                <a:latin typeface="Noto Sans SC"/>
                <a:ea typeface="Noto Sans SC"/>
                <a:cs typeface="Noto Sans SC"/>
              </a:rPr>
              <a:t>培育生态</a:t>
            </a:r>
          </a:p>
        </p:txBody>
        <p:extLst>
          <p:ext uri="http://schemas.baidu.com/office/drawing/2023/templateData">
            <bd:templateData xmlns:bd="http://schemas.baidu.com/office/drawing/2023/templateData">eyJ0YWciOiJub0VkaXQifQ==</bd:templateData>
          </p:ext>
        </p:extLst>
      </p:sp>
      <p:sp>
        <p:nvSpPr>
          <p:cNvPr id="27" name="TextBox 27"/>
          <p:cNvSpPr txBox="1"/>
          <p:nvPr/>
        </p:nvSpPr>
        <p:spPr>
          <a:xfrm flipH="1" rot="0">
            <a:off x="9553004" y="6051743"/>
            <a:ext cx="2215418" cy="209550"/>
          </a:xfrm>
          <a:prstGeom prst="rect">
            <a:avLst/>
          </a:prstGeom>
          <a:noFill/>
          <a:ln/>
        </p:spPr>
        <p:txBody>
          <a:bodyPr anchor="t" anchorCtr="0" bIns="0" lIns="0" rIns="0" rtlCol="0" tIns="0" vert="horz" wrap="square">
            <a:spAutoFit/>
          </a:bodyPr>
          <a:lstStyle/>
          <a:p>
            <a:pPr algn="l">
              <a:lnSpc>
                <a:spcPct val="120000"/>
              </a:lnSpc>
              <a:spcBef>
                <a:spcPct val="0"/>
              </a:spcBef>
            </a:pPr>
            <a:r>
              <a:rPr lang="en-US" sz="1100">
                <a:solidFill>
                  <a:srgbClr val="FFFFFF">
                    <a:alpha val="100000"/>
                  </a:srgbClr>
                </a:solidFill>
                <a:latin typeface="Noto Sans SC"/>
                <a:ea typeface="Noto Sans SC"/>
                <a:cs typeface="Noto Sans SC"/>
              </a:rPr>
              <a:t>激发社区创新活力</a:t>
            </a:r>
          </a:p>
        </p:txBody>
        <p:extLst>
          <p:ext uri="http://schemas.baidu.com/office/drawing/2023/templateData">
            <bd:templateData xmlns:bd="http://schemas.baidu.com/office/drawing/2023/templateData">eyJ0YWciOiJub0VkaXQifQ==</bd:templateData>
          </p:ext>
        </p:extLst>
      </p:sp>
      <p:sp>
        <p:nvSpPr>
          <p:cNvPr id="28" name="AutoShape 28"/>
          <p:cNvSpPr/>
          <p:nvPr/>
        </p:nvSpPr>
        <p:spPr>
          <a:xfrm rot="0">
            <a:off x="3740407" y="5900245"/>
            <a:ext cx="141377" cy="211585"/>
          </a:xfrm>
          <a:prstGeom prst="chevron">
            <a:avLst/>
          </a:pr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29" name="AutoShape 29"/>
          <p:cNvSpPr/>
          <p:nvPr/>
        </p:nvSpPr>
        <p:spPr>
          <a:xfrm rot="0">
            <a:off x="6305080" y="5900245"/>
            <a:ext cx="141377" cy="211585"/>
          </a:xfrm>
          <a:prstGeom prst="chevron">
            <a:avLst/>
          </a:pr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30" name="AutoShape 30"/>
          <p:cNvSpPr/>
          <p:nvPr/>
        </p:nvSpPr>
        <p:spPr>
          <a:xfrm rot="0">
            <a:off x="9052635" y="5900245"/>
            <a:ext cx="141377" cy="211585"/>
          </a:xfrm>
          <a:prstGeom prst="chevron">
            <a:avLst/>
          </a:pr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31" name="TextBox 31"/>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技术创新点</a:t>
            </a:r>
          </a:p>
        </p:txBody>
        <p:extLst>
          <p:ext uri="http://schemas.baidu.com/office/drawing/2023/templateData">
            <bd:templateData xmlns:bd="http://schemas.baidu.com/office/drawing/2023/templateData">eyJfdGVtcGxhdGVEYXRhIjp7ImNvbnRlbnRUeXBlIjoiJHRpdGxlIiwibGluZUNvdW50IjoiMSIsIndvcmRDb3VudCI6IjI4In0sInRhZyI6Im5vRWRpdCJ9</bd:templateData>
          </p:ext>
        </p:extLst>
      </p:sp>
      <p:sp>
        <p:nvSpPr>
          <p:cNvPr id="32" name="TextBox 32"/>
          <p:cNvSpPr txBox="1"/>
          <p:nvPr/>
        </p:nvSpPr>
        <p:spPr>
          <a:xfrm rot="0">
            <a:off x="512921" y="4172521"/>
            <a:ext cx="2162175" cy="628650"/>
          </a:xfrm>
          <a:prstGeom prst="rect">
            <a:avLst/>
          </a:prstGeom>
          <a:noFill/>
          <a:ln/>
        </p:spPr>
        <p:txBody>
          <a:bodyPr anchor="t" anchorCtr="0" bIns="0" lIns="0" rIns="0" rtlCol="0" tIns="0" vert="horz" wrap="square">
            <a:spAutoFit/>
          </a:bodyPr>
          <a:lstStyle/>
          <a:p>
            <a:pPr algn="r">
              <a:lnSpc>
                <a:spcPct val="120000"/>
              </a:lnSpc>
              <a:spcBef>
                <a:spcPct val="0"/>
              </a:spcBef>
            </a:pPr>
            <a:r>
              <a:rPr lang="en-US" sz="1100">
                <a:solidFill>
                  <a:schemeClr val="dk1">
                    <a:alpha val="100000"/>
                  </a:schemeClr>
                </a:solidFill>
                <a:latin typeface="Noto Sans SC"/>
                <a:ea typeface="Noto Sans SC"/>
                <a:cs typeface="Noto Sans SC"/>
              </a:rPr>
              <a:t>社区协作需建立高效沟通机制和标准化流程</a:t>
            </a:r>
          </a:p>
        </p:txBody>
        <p:extLst>
          <p:ext uri="http://schemas.baidu.com/office/drawing/2023/templateData">
            <bd:templateData xmlns:bd="http://schemas.baidu.com/office/drawing/2023/templateData">eyJ0YWciOiJub0VkaXQifQ==</bd:templateData>
          </p:ext>
        </p:extLst>
      </p:sp>
      <p:sp>
        <p:nvSpPr>
          <p:cNvPr id="33" name="TextBox 33"/>
          <p:cNvSpPr txBox="1"/>
          <p:nvPr/>
        </p:nvSpPr>
        <p:spPr>
          <a:xfrm rot="0">
            <a:off x="0" y="3778187"/>
            <a:ext cx="2676525" cy="304800"/>
          </a:xfrm>
          <a:prstGeom prst="rect">
            <a:avLst/>
          </a:prstGeom>
          <a:noFill/>
          <a:ln/>
        </p:spPr>
        <p:txBody>
          <a:bodyPr anchor="t" anchorCtr="0" bIns="0" lIns="0" rIns="0" rtlCol="0" tIns="0" vert="horz" wrap="none">
            <a:spAutoFit/>
          </a:bodyPr>
          <a:lstStyle/>
          <a:p>
            <a:pPr algn="r">
              <a:lnSpc>
                <a:spcPct val="100000"/>
              </a:lnSpc>
              <a:spcBef>
                <a:spcPct val="0"/>
              </a:spcBef>
            </a:pPr>
            <a:r>
              <a:rPr lang="en-US" sz="1800">
                <a:solidFill>
                  <a:schemeClr val="accent1">
                    <a:alpha val="100000"/>
                  </a:schemeClr>
                </a:solidFill>
                <a:latin typeface="Noto Sans SC"/>
                <a:ea typeface="Noto Sans SC"/>
                <a:cs typeface="Noto Sans SC"/>
              </a:rPr>
              <a:t>协作问题</a:t>
            </a:r>
          </a:p>
        </p:txBody>
        <p:extLst>
          <p:ext uri="http://schemas.baidu.com/office/drawing/2023/templateData">
            <bd:templateData xmlns:bd="http://schemas.baidu.com/office/drawing/2023/templateData">eyJ0YWciOiJub0VkaXQifQ==</bd:templateData>
          </p:ext>
        </p:extLst>
      </p:sp>
      <p:sp>
        <p:nvSpPr>
          <p:cNvPr id="34" name="TextBox 34"/>
          <p:cNvSpPr txBox="1"/>
          <p:nvPr/>
        </p:nvSpPr>
        <p:spPr>
          <a:xfrm rot="0">
            <a:off x="512921" y="2138934"/>
            <a:ext cx="2162175" cy="628650"/>
          </a:xfrm>
          <a:prstGeom prst="rect">
            <a:avLst/>
          </a:prstGeom>
          <a:noFill/>
          <a:ln/>
        </p:spPr>
        <p:txBody>
          <a:bodyPr anchor="t" anchorCtr="0" bIns="0" lIns="0" rIns="0" rtlCol="0" tIns="0" vert="horz" wrap="square">
            <a:spAutoFit/>
          </a:bodyPr>
          <a:lstStyle/>
          <a:p>
            <a:pPr algn="r">
              <a:lnSpc>
                <a:spcPct val="120000"/>
              </a:lnSpc>
              <a:spcBef>
                <a:spcPct val="0"/>
              </a:spcBef>
            </a:pPr>
            <a:r>
              <a:rPr lang="en-US" sz="1100">
                <a:solidFill>
                  <a:schemeClr val="dk1">
                    <a:alpha val="100000"/>
                  </a:schemeClr>
                </a:solidFill>
                <a:latin typeface="Noto Sans SC"/>
                <a:ea typeface="Noto Sans SC"/>
                <a:cs typeface="Noto Sans SC"/>
              </a:rPr>
              <a:t>开源技术迭代快速，需持续提升核心技术研发能力</a:t>
            </a:r>
          </a:p>
        </p:txBody>
        <p:extLst>
          <p:ext uri="http://schemas.baidu.com/office/drawing/2023/templateData">
            <bd:templateData xmlns:bd="http://schemas.baidu.com/office/drawing/2023/templateData">eyJ0YWciOiJub0VkaXQifQ==</bd:templateData>
          </p:ext>
        </p:extLst>
      </p:sp>
      <p:sp>
        <p:nvSpPr>
          <p:cNvPr id="35" name="TextBox 35"/>
          <p:cNvSpPr txBox="1"/>
          <p:nvPr/>
        </p:nvSpPr>
        <p:spPr>
          <a:xfrm rot="0">
            <a:off x="0" y="1744694"/>
            <a:ext cx="2676525" cy="304800"/>
          </a:xfrm>
          <a:prstGeom prst="rect">
            <a:avLst/>
          </a:prstGeom>
          <a:noFill/>
          <a:ln/>
        </p:spPr>
        <p:txBody>
          <a:bodyPr anchor="t" anchorCtr="0" bIns="0" lIns="0" rIns="0" rtlCol="0" tIns="0" vert="horz" wrap="none">
            <a:spAutoFit/>
          </a:bodyPr>
          <a:lstStyle/>
          <a:p>
            <a:pPr algn="r">
              <a:lnSpc>
                <a:spcPct val="100000"/>
              </a:lnSpc>
              <a:spcBef>
                <a:spcPct val="0"/>
              </a:spcBef>
            </a:pPr>
            <a:r>
              <a:rPr lang="en-US" sz="1800">
                <a:solidFill>
                  <a:schemeClr val="accent1">
                    <a:alpha val="100000"/>
                  </a:schemeClr>
                </a:solidFill>
                <a:latin typeface="Noto Sans SC"/>
                <a:ea typeface="Noto Sans SC"/>
                <a:cs typeface="Noto Sans SC"/>
              </a:rPr>
              <a:t>创新难度</a:t>
            </a:r>
          </a:p>
        </p:txBody>
        <p:extLst>
          <p:ext uri="http://schemas.baidu.com/office/drawing/2023/templateData">
            <bd:templateData xmlns:bd="http://schemas.baidu.com/office/drawing/2023/templateData">eyJ0YWciOiJub0VkaXQifQ==</bd:templateData>
          </p:ext>
        </p:extLst>
      </p:sp>
      <p:sp>
        <p:nvSpPr>
          <p:cNvPr id="36" name="TextBox 36"/>
          <p:cNvSpPr txBox="1"/>
          <p:nvPr/>
        </p:nvSpPr>
        <p:spPr>
          <a:xfrm flipH="1" rot="0">
            <a:off x="9553004" y="4172521"/>
            <a:ext cx="2162175" cy="628650"/>
          </a:xfrm>
          <a:prstGeom prst="rect">
            <a:avLst/>
          </a:prstGeom>
          <a:noFill/>
          <a:ln/>
        </p:spPr>
        <p:txBody>
          <a:bodyPr anchor="t" anchorCtr="0" bIns="0" lIns="0" rIns="0" rtlCol="0" tIns="0" vert="horz" wrap="square">
            <a:spAutoFit/>
          </a:bodyPr>
          <a:lstStyle/>
          <a:p>
            <a:pPr algn="l">
              <a:lnSpc>
                <a:spcPct val="120000"/>
              </a:lnSpc>
              <a:spcBef>
                <a:spcPct val="0"/>
              </a:spcBef>
            </a:pPr>
            <a:r>
              <a:rPr lang="en-US" sz="1100">
                <a:solidFill>
                  <a:schemeClr val="dk1">
                    <a:alpha val="100000"/>
                  </a:schemeClr>
                </a:solidFill>
                <a:latin typeface="Noto Sans SC"/>
                <a:ea typeface="Noto Sans SC"/>
                <a:cs typeface="Noto Sans SC"/>
              </a:rPr>
              <a:t>建立贡献者激励机制，提升社区成员参与度和创新积极性</a:t>
            </a:r>
          </a:p>
        </p:txBody>
        <p:extLst>
          <p:ext uri="http://schemas.baidu.com/office/drawing/2023/templateData">
            <bd:templateData xmlns:bd="http://schemas.baidu.com/office/drawing/2023/templateData">eyJ0YWciOiJub0VkaXQifQ==</bd:templateData>
          </p:ext>
        </p:extLst>
      </p:sp>
      <p:sp>
        <p:nvSpPr>
          <p:cNvPr id="37" name="TextBox 37"/>
          <p:cNvSpPr txBox="1"/>
          <p:nvPr/>
        </p:nvSpPr>
        <p:spPr>
          <a:xfrm flipH="1" rot="0">
            <a:off x="9538811" y="3778187"/>
            <a:ext cx="2657475" cy="304800"/>
          </a:xfrm>
          <a:prstGeom prst="rect">
            <a:avLst/>
          </a:prstGeom>
          <a:noFill/>
          <a:ln/>
        </p:spPr>
        <p:txBody>
          <a:bodyPr anchor="t" anchorCtr="0" bIns="0" lIns="0" rIns="0" rtlCol="0" tIns="0" vert="horz" wrap="none">
            <a:spAutoFit/>
          </a:bodyPr>
          <a:lstStyle/>
          <a:p>
            <a:pPr algn="l">
              <a:lnSpc>
                <a:spcPct val="100000"/>
              </a:lnSpc>
              <a:spcBef>
                <a:spcPct val="0"/>
              </a:spcBef>
            </a:pPr>
            <a:r>
              <a:rPr lang="en-US" sz="1800">
                <a:solidFill>
                  <a:schemeClr val="accent3">
                    <a:alpha val="100000"/>
                  </a:schemeClr>
                </a:solidFill>
                <a:latin typeface="Noto Sans SC"/>
                <a:ea typeface="Noto Sans SC"/>
                <a:cs typeface="Noto Sans SC"/>
              </a:rPr>
              <a:t>激励制度</a:t>
            </a:r>
          </a:p>
        </p:txBody>
        <p:extLst>
          <p:ext uri="http://schemas.baidu.com/office/drawing/2023/templateData">
            <bd:templateData xmlns:bd="http://schemas.baidu.com/office/drawing/2023/templateData">eyJ0YWciOiJub0VkaXQifQ==</bd:templateData>
          </p:ext>
        </p:extLst>
      </p:sp>
      <p:sp>
        <p:nvSpPr>
          <p:cNvPr id="38" name="TextBox 38"/>
          <p:cNvSpPr txBox="1"/>
          <p:nvPr/>
        </p:nvSpPr>
        <p:spPr>
          <a:xfrm flipH="1" rot="0">
            <a:off x="9553004" y="2138934"/>
            <a:ext cx="2162175" cy="628650"/>
          </a:xfrm>
          <a:prstGeom prst="rect">
            <a:avLst/>
          </a:prstGeom>
          <a:noFill/>
          <a:ln/>
        </p:spPr>
        <p:txBody>
          <a:bodyPr anchor="t" anchorCtr="0" bIns="0" lIns="0" rIns="0" rtlCol="0" tIns="0" vert="horz" wrap="square">
            <a:spAutoFit/>
          </a:bodyPr>
          <a:lstStyle/>
          <a:p>
            <a:pPr algn="l">
              <a:lnSpc>
                <a:spcPct val="120000"/>
              </a:lnSpc>
              <a:spcBef>
                <a:spcPct val="0"/>
              </a:spcBef>
            </a:pPr>
            <a:r>
              <a:rPr lang="en-US" sz="1100">
                <a:solidFill>
                  <a:schemeClr val="dk1">
                    <a:alpha val="100000"/>
                  </a:schemeClr>
                </a:solidFill>
                <a:latin typeface="Noto Sans SC"/>
                <a:ea typeface="Noto Sans SC"/>
                <a:cs typeface="Noto Sans SC"/>
              </a:rPr>
              <a:t>投入资源进行核心技术研发，提升开源社区自主创新能力</a:t>
            </a:r>
          </a:p>
        </p:txBody>
        <p:extLst>
          <p:ext uri="http://schemas.baidu.com/office/drawing/2023/templateData">
            <bd:templateData xmlns:bd="http://schemas.baidu.com/office/drawing/2023/templateData">eyJ0YWciOiJub0VkaXQifQ==</bd:templateData>
          </p:ext>
        </p:extLst>
      </p:sp>
      <p:sp>
        <p:nvSpPr>
          <p:cNvPr id="39" name="TextBox 39"/>
          <p:cNvSpPr txBox="1"/>
          <p:nvPr/>
        </p:nvSpPr>
        <p:spPr>
          <a:xfrm flipH="1" rot="0">
            <a:off x="9538811" y="1744694"/>
            <a:ext cx="2657475" cy="304800"/>
          </a:xfrm>
          <a:prstGeom prst="rect">
            <a:avLst/>
          </a:prstGeom>
          <a:noFill/>
          <a:ln/>
        </p:spPr>
        <p:txBody>
          <a:bodyPr anchor="t" anchorCtr="0" bIns="0" lIns="0" rIns="0" rtlCol="0" tIns="0" vert="horz" wrap="none">
            <a:spAutoFit/>
          </a:bodyPr>
          <a:lstStyle/>
          <a:p>
            <a:pPr algn="l">
              <a:lnSpc>
                <a:spcPct val="100000"/>
              </a:lnSpc>
              <a:spcBef>
                <a:spcPct val="0"/>
              </a:spcBef>
            </a:pPr>
            <a:r>
              <a:rPr lang="en-US" sz="1800">
                <a:solidFill>
                  <a:schemeClr val="accent3">
                    <a:alpha val="100000"/>
                  </a:schemeClr>
                </a:solidFill>
                <a:latin typeface="Noto Sans SC"/>
                <a:ea typeface="Noto Sans SC"/>
                <a:cs typeface="Noto Sans SC"/>
              </a:rPr>
              <a:t>强化研发</a:t>
            </a:r>
          </a:p>
        </p:txBody>
        <p:extLst>
          <p:ext uri="http://schemas.baidu.com/office/drawing/2023/templateData">
            <bd:templateData xmlns:bd="http://schemas.baidu.com/office/drawing/2023/templateData">eyJ0YWciOiJub0VkaXQifQ==</bd:templateData>
          </p:ext>
        </p:extLst>
      </p:sp>
    </p:spTree>
  </p:cSld>
  <p:clrMapOvr>
    <a:masterClrMapping/>
  </p:clrMapOvr>
  <p:extLst>
    <p:ext uri="http://schemas.baidu.com/office/drawing/2023/templateData">
      <bd:templateData xmlns:bd="http://schemas.baidu.com/office/drawing/2023/templateData">eyJtZCI6IiMjIOWIm+aWsOeCueS4juW6lOeUqOS7t+WAvFxuIyMjIOaKgOacr+WIm+aWsOeCuSIsInRwbGlkIjoiNjgiLCJ0cGxOYW1lIjoidGl0bGVHcmFwaF9wcm80NiIsImVkaXRlZCI6ImZhbHNlIn0=</bd:templateData>
    </p:ext>
  </p:extLst>
</p:sld>
</file>

<file path=ppt/slides/slide20.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AutoShape 2"/>
          <p:cNvSpPr/>
          <p:nvPr/>
        </p:nvSpPr>
        <p:spPr>
          <a:xfrm rot="0">
            <a:off x="3655860" y="1315917"/>
            <a:ext cx="4873570" cy="4873568"/>
          </a:xfrm>
          <a:prstGeom prst="donut">
            <a:avLst>
              <a:gd fmla="val 15226" name="adj"/>
            </a:avLst>
          </a:prstGeom>
          <a:gradFill>
            <a:gsLst>
              <a:gs pos="0">
                <a:schemeClr val="accent3">
                  <a:alpha val="0"/>
                </a:schemeClr>
              </a:gs>
              <a:gs pos="76000">
                <a:schemeClr val="accent3">
                  <a:alpha val="100000"/>
                </a:schemeClr>
              </a:gs>
            </a:gsLst>
            <a:lin ang="13500000"/>
          </a:gradFill>
          <a:ln/>
        </p:spPr>
        <p:extLst>
          <p:ext uri="http://schemas.baidu.com/office/drawing/2023/templateData">
            <bd:templateData xmlns:bd="http://schemas.baidu.com/office/drawing/2023/templateData">eyJ0YWciOiJub0VkaXQifQ==</bd:templateData>
          </p:ext>
        </p:extLst>
      </p:sp>
      <p:sp>
        <p:nvSpPr>
          <p:cNvPr id="3" name="AutoShape 3"/>
          <p:cNvSpPr/>
          <p:nvPr/>
        </p:nvSpPr>
        <p:spPr>
          <a:xfrm rot="0">
            <a:off x="5112039" y="2763758"/>
            <a:ext cx="1977974" cy="1977972"/>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4" name="AutoShape 4"/>
          <p:cNvSpPr/>
          <p:nvPr/>
        </p:nvSpPr>
        <p:spPr>
          <a:xfrm rot="0">
            <a:off x="4804261" y="2455979"/>
            <a:ext cx="2593530" cy="2593530"/>
          </a:xfrm>
          <a:prstGeom prst="ellipse">
            <a:avLst/>
          </a:prstGeom>
          <a:noFill/>
          <a:ln w="12700">
            <a:solidFill>
              <a:schemeClr val="lt1">
                <a:alpha val="100000"/>
              </a:schemeClr>
            </a:solidFill>
            <a:prstDash val="dash"/>
          </a:ln>
        </p:spPr>
        <p:extLst>
          <p:ext uri="http://schemas.baidu.com/office/drawing/2023/templateData">
            <bd:templateData xmlns:bd="http://schemas.baidu.com/office/drawing/2023/templateData">eyJ0YWciOiJub0VkaXQifQ==</bd:templateData>
          </p:ext>
        </p:extLst>
      </p:sp>
      <p:sp>
        <p:nvSpPr>
          <p:cNvPr id="5" name="AutoShape 5"/>
          <p:cNvSpPr/>
          <p:nvPr/>
        </p:nvSpPr>
        <p:spPr>
          <a:xfrm rot="0">
            <a:off x="3709284" y="1524642"/>
            <a:ext cx="1215934" cy="1215932"/>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6" name="TextBox 6"/>
          <p:cNvSpPr txBox="1"/>
          <p:nvPr/>
        </p:nvSpPr>
        <p:spPr>
          <a:xfrm rot="0">
            <a:off x="5234331" y="3440055"/>
            <a:ext cx="1739800" cy="520065"/>
          </a:xfrm>
          <a:prstGeom prst="rect">
            <a:avLst/>
          </a:prstGeom>
          <a:noFill/>
          <a:ln/>
        </p:spPr>
        <p:txBody>
          <a:bodyPr anchor="ctr" anchorCtr="0" bIns="45720" lIns="91440" rIns="91440" rtlCol="0" tIns="45720" vert="horz" wrap="square">
            <a:spAutoFit/>
          </a:bodyPr>
          <a:lstStyle/>
          <a:p>
            <a:pPr algn="ctr">
              <a:lnSpc>
                <a:spcPct val="100000"/>
              </a:lnSpc>
              <a:spcBef>
                <a:spcPct val="0"/>
              </a:spcBef>
            </a:pPr>
            <a:r>
              <a:rPr lang="en-US" sz="2600">
                <a:solidFill>
                  <a:srgbClr val="FFFFFF">
                    <a:alpha val="100000"/>
                  </a:srgbClr>
                </a:solidFill>
                <a:latin typeface="Noto Sans SC"/>
                <a:ea typeface="Noto Sans SC"/>
                <a:cs typeface="Noto Sans SC"/>
              </a:rPr>
              <a:t>多维分析</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7" name="TextBox 7"/>
          <p:cNvSpPr txBox="1"/>
          <p:nvPr/>
        </p:nvSpPr>
        <p:spPr>
          <a:xfrm rot="0">
            <a:off x="3840544" y="1968807"/>
            <a:ext cx="963717" cy="348615"/>
          </a:xfrm>
          <a:prstGeom prst="rect">
            <a:avLst/>
          </a:prstGeom>
          <a:noFill/>
          <a:ln/>
        </p:spPr>
        <p:txBody>
          <a:bodyPr anchor="ctr" anchorCtr="0" bIns="45720" lIns="91440" rIns="91440" rtlCol="0" tIns="45720" vert="horz" wrap="square">
            <a:spAutoFit/>
          </a:bodyPr>
          <a:lstStyle/>
          <a:p>
            <a:pPr algn="ctr">
              <a:lnSpc>
                <a:spcPct val="100000"/>
              </a:lnSpc>
              <a:spcBef>
                <a:spcPct val="0"/>
              </a:spcBef>
            </a:pPr>
            <a:r>
              <a:rPr lang="en-US" sz="1599">
                <a:solidFill>
                  <a:srgbClr val="FFFFFF">
                    <a:alpha val="100000"/>
                  </a:srgbClr>
                </a:solidFill>
                <a:latin typeface="Noto Sans SC"/>
                <a:ea typeface="Noto Sans SC"/>
                <a:cs typeface="Noto Sans SC"/>
              </a:rPr>
              <a:t>精准</a:t>
            </a:r>
          </a:p>
        </p:txBody>
        <p:extLst>
          <p:ext uri="http://schemas.baidu.com/office/drawing/2023/templateData">
            <bd:templateData xmlns:bd="http://schemas.baidu.com/office/drawing/2023/templateData">eyJ0YWciOiJub0VkaXQifQ==</bd:templateData>
          </p:ext>
        </p:extLst>
      </p:sp>
      <p:sp>
        <p:nvSpPr>
          <p:cNvPr id="8" name="AutoShape 8"/>
          <p:cNvSpPr/>
          <p:nvPr/>
        </p:nvSpPr>
        <p:spPr>
          <a:xfrm rot="0">
            <a:off x="7266783" y="1524642"/>
            <a:ext cx="1215934" cy="1215932"/>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9" name="TextBox 9"/>
          <p:cNvSpPr txBox="1"/>
          <p:nvPr/>
        </p:nvSpPr>
        <p:spPr>
          <a:xfrm rot="0">
            <a:off x="7396776" y="1958301"/>
            <a:ext cx="954405" cy="348615"/>
          </a:xfrm>
          <a:prstGeom prst="rect">
            <a:avLst/>
          </a:prstGeom>
          <a:noFill/>
          <a:ln/>
        </p:spPr>
        <p:txBody>
          <a:bodyPr anchor="ctr" anchorCtr="0" bIns="45720" lIns="91440" rIns="91440" rtlCol="0" tIns="45720" vert="horz" wrap="square">
            <a:spAutoFit/>
          </a:bodyPr>
          <a:lstStyle/>
          <a:p>
            <a:pPr algn="ctr">
              <a:lnSpc>
                <a:spcPct val="100000"/>
              </a:lnSpc>
              <a:spcBef>
                <a:spcPct val="0"/>
              </a:spcBef>
            </a:pPr>
            <a:r>
              <a:rPr lang="en-US" sz="1599">
                <a:solidFill>
                  <a:srgbClr val="FFFFFF">
                    <a:alpha val="100000"/>
                  </a:srgbClr>
                </a:solidFill>
                <a:latin typeface="Noto Sans SC"/>
                <a:ea typeface="Noto Sans SC"/>
                <a:cs typeface="Noto Sans SC"/>
              </a:rPr>
              <a:t>高效</a:t>
            </a:r>
          </a:p>
        </p:txBody>
        <p:extLst>
          <p:ext uri="http://schemas.baidu.com/office/drawing/2023/templateData">
            <bd:templateData xmlns:bd="http://schemas.baidu.com/office/drawing/2023/templateData">eyJ0YWciOiJub0VkaXQifQ==</bd:templateData>
          </p:ext>
        </p:extLst>
      </p:sp>
      <p:sp>
        <p:nvSpPr>
          <p:cNvPr id="10" name="AutoShape 10"/>
          <p:cNvSpPr/>
          <p:nvPr/>
        </p:nvSpPr>
        <p:spPr>
          <a:xfrm rot="0">
            <a:off x="7266783" y="4753841"/>
            <a:ext cx="1215934" cy="1215932"/>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11" name="TextBox 11"/>
          <p:cNvSpPr txBox="1"/>
          <p:nvPr/>
        </p:nvSpPr>
        <p:spPr>
          <a:xfrm rot="0">
            <a:off x="7397791" y="5197869"/>
            <a:ext cx="952375" cy="348615"/>
          </a:xfrm>
          <a:prstGeom prst="rect">
            <a:avLst/>
          </a:prstGeom>
          <a:noFill/>
          <a:ln/>
        </p:spPr>
        <p:txBody>
          <a:bodyPr anchor="ctr" anchorCtr="0" bIns="45720" lIns="91440" rIns="91440" rtlCol="0" tIns="45720" vert="horz" wrap="square">
            <a:spAutoFit/>
          </a:bodyPr>
          <a:lstStyle/>
          <a:p>
            <a:pPr algn="ctr">
              <a:lnSpc>
                <a:spcPct val="100000"/>
              </a:lnSpc>
              <a:spcBef>
                <a:spcPct val="0"/>
              </a:spcBef>
            </a:pPr>
            <a:r>
              <a:rPr lang="en-US" sz="1599">
                <a:solidFill>
                  <a:srgbClr val="FFFFFF">
                    <a:alpha val="100000"/>
                  </a:srgbClr>
                </a:solidFill>
                <a:latin typeface="Noto Sans SC"/>
                <a:ea typeface="Noto Sans SC"/>
                <a:cs typeface="Noto Sans SC"/>
              </a:rPr>
              <a:t>灵活</a:t>
            </a:r>
          </a:p>
        </p:txBody>
        <p:extLst>
          <p:ext uri="http://schemas.baidu.com/office/drawing/2023/templateData">
            <bd:templateData xmlns:bd="http://schemas.baidu.com/office/drawing/2023/templateData">eyJ0YWciOiJub0VkaXQifQ==</bd:templateData>
          </p:ext>
        </p:extLst>
      </p:sp>
      <p:sp>
        <p:nvSpPr>
          <p:cNvPr id="12" name="AutoShape 12"/>
          <p:cNvSpPr/>
          <p:nvPr/>
        </p:nvSpPr>
        <p:spPr>
          <a:xfrm rot="0">
            <a:off x="3709284" y="4734007"/>
            <a:ext cx="1215934" cy="1215932"/>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13" name="TextBox 13"/>
          <p:cNvSpPr txBox="1"/>
          <p:nvPr/>
        </p:nvSpPr>
        <p:spPr>
          <a:xfrm rot="0">
            <a:off x="3840544" y="5187500"/>
            <a:ext cx="963717" cy="348615"/>
          </a:xfrm>
          <a:prstGeom prst="rect">
            <a:avLst/>
          </a:prstGeom>
          <a:noFill/>
          <a:ln/>
        </p:spPr>
        <p:txBody>
          <a:bodyPr anchor="ctr" anchorCtr="0" bIns="45720" lIns="91440" rIns="91440" rtlCol="0" tIns="45720" vert="horz" wrap="square">
            <a:spAutoFit/>
          </a:bodyPr>
          <a:lstStyle/>
          <a:p>
            <a:pPr algn="ctr">
              <a:lnSpc>
                <a:spcPct val="100000"/>
              </a:lnSpc>
              <a:spcBef>
                <a:spcPct val="0"/>
              </a:spcBef>
            </a:pPr>
            <a:r>
              <a:rPr lang="en-US" sz="1599">
                <a:solidFill>
                  <a:srgbClr val="FFFFFF">
                    <a:alpha val="100000"/>
                  </a:srgbClr>
                </a:solidFill>
                <a:latin typeface="Noto Sans SC"/>
                <a:ea typeface="Noto Sans SC"/>
                <a:cs typeface="Noto Sans SC"/>
              </a:rPr>
              <a:t>智能</a:t>
            </a:r>
          </a:p>
        </p:txBody>
        <p:extLst>
          <p:ext uri="http://schemas.baidu.com/office/drawing/2023/templateData">
            <bd:templateData xmlns:bd="http://schemas.baidu.com/office/drawing/2023/templateData">eyJ0YWciOiJub0VkaXQifQ==</bd:templateData>
          </p:ext>
        </p:extLst>
      </p:sp>
      <p:sp>
        <p:nvSpPr>
          <p:cNvPr id="14" name="TextBox 14"/>
          <p:cNvSpPr txBox="1"/>
          <p:nvPr/>
        </p:nvSpPr>
        <p:spPr>
          <a:xfrm rot="0">
            <a:off x="5309161" y="2328234"/>
            <a:ext cx="1583055" cy="320040"/>
          </a:xfrm>
          <a:prstGeom prst="rect">
            <a:avLst/>
          </a:prstGeom>
          <a:solidFill>
            <a:schemeClr val="accent3">
              <a:alpha val="100000"/>
            </a:schemeClr>
          </a:solidFill>
          <a:ln/>
        </p:spPr>
        <p:txBody>
          <a:bodyPr anchor="ctr" anchorCtr="0" bIns="45720" lIns="91440" rIns="91440" rtlCol="0" tIns="45720" vert="horz" wrap="none">
            <a:spAutoFit/>
          </a:bodyPr>
          <a:lstStyle/>
          <a:p>
            <a:pPr algn="ctr">
              <a:lnSpc>
                <a:spcPct val="100000"/>
              </a:lnSpc>
              <a:spcBef>
                <a:spcPct val="0"/>
              </a:spcBef>
            </a:pPr>
            <a:r>
              <a:rPr lang="en-US" sz="1400">
                <a:solidFill>
                  <a:srgbClr val="FFFFFF">
                    <a:alpha val="100000"/>
                  </a:srgbClr>
                </a:solidFill>
                <a:latin typeface="Noto Sans SC"/>
                <a:ea typeface="Noto Sans SC"/>
                <a:cs typeface="Noto Sans SC"/>
              </a:rPr>
              <a:t>贡献追踪</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15" name="TextBox 15"/>
          <p:cNvSpPr txBox="1"/>
          <p:nvPr/>
        </p:nvSpPr>
        <p:spPr>
          <a:xfrm rot="0">
            <a:off x="5309161" y="4889907"/>
            <a:ext cx="1583055" cy="320040"/>
          </a:xfrm>
          <a:prstGeom prst="rect">
            <a:avLst/>
          </a:prstGeom>
          <a:solidFill>
            <a:schemeClr val="accent3">
              <a:alpha val="100000"/>
            </a:schemeClr>
          </a:solidFill>
          <a:ln/>
        </p:spPr>
        <p:txBody>
          <a:bodyPr anchor="ctr" anchorCtr="0" bIns="45720" lIns="91440" rIns="91440" rtlCol="0" tIns="45720" vert="horz" wrap="none">
            <a:spAutoFit/>
          </a:bodyPr>
          <a:lstStyle/>
          <a:p>
            <a:pPr algn="ctr">
              <a:lnSpc>
                <a:spcPct val="100000"/>
              </a:lnSpc>
              <a:spcBef>
                <a:spcPct val="0"/>
              </a:spcBef>
            </a:pPr>
            <a:r>
              <a:rPr lang="en-US" sz="1400">
                <a:solidFill>
                  <a:srgbClr val="FFFFFF">
                    <a:alpha val="100000"/>
                  </a:srgbClr>
                </a:solidFill>
                <a:latin typeface="Noto Sans SC"/>
                <a:ea typeface="Noto Sans SC"/>
                <a:cs typeface="Noto Sans SC"/>
              </a:rPr>
              <a:t>图谱可视化</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16" name="TextBox 16"/>
          <p:cNvSpPr txBox="1"/>
          <p:nvPr/>
        </p:nvSpPr>
        <p:spPr>
          <a:xfrm rot="5400000">
            <a:off x="6673245" y="3564462"/>
            <a:ext cx="1403032" cy="320040"/>
          </a:xfrm>
          <a:prstGeom prst="rect">
            <a:avLst/>
          </a:prstGeom>
          <a:solidFill>
            <a:schemeClr val="accent3">
              <a:alpha val="100000"/>
            </a:schemeClr>
          </a:solidFill>
          <a:ln/>
        </p:spPr>
        <p:txBody>
          <a:bodyPr anchor="ctr" anchorCtr="0" bIns="45720" lIns="91440" rIns="91440" rtlCol="0" tIns="45720" vert="horz" wrap="none">
            <a:spAutoFit/>
          </a:bodyPr>
          <a:lstStyle/>
          <a:p>
            <a:pPr algn="ctr">
              <a:lnSpc>
                <a:spcPct val="100000"/>
              </a:lnSpc>
              <a:spcBef>
                <a:spcPct val="0"/>
              </a:spcBef>
            </a:pPr>
            <a:r>
              <a:rPr lang="en-US" sz="1400">
                <a:solidFill>
                  <a:srgbClr val="FFFFFF">
                    <a:alpha val="100000"/>
                  </a:srgbClr>
                </a:solidFill>
                <a:latin typeface="Noto Sans SC"/>
                <a:ea typeface="Noto Sans SC"/>
                <a:cs typeface="Noto Sans SC"/>
              </a:rPr>
              <a:t>动态权重</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17" name="TextBox 17"/>
          <p:cNvSpPr txBox="1"/>
          <p:nvPr/>
        </p:nvSpPr>
        <p:spPr>
          <a:xfrm rot="16200000">
            <a:off x="4071736" y="3582381"/>
            <a:ext cx="1506855" cy="320040"/>
          </a:xfrm>
          <a:prstGeom prst="rect">
            <a:avLst/>
          </a:prstGeom>
          <a:solidFill>
            <a:schemeClr val="accent3">
              <a:alpha val="100000"/>
            </a:schemeClr>
          </a:solidFill>
          <a:ln/>
        </p:spPr>
        <p:txBody>
          <a:bodyPr anchor="ctr" anchorCtr="0" bIns="45720" lIns="91440" rIns="91440" rtlCol="0" tIns="45720" vert="horz" wrap="none">
            <a:spAutoFit/>
          </a:bodyPr>
          <a:lstStyle/>
          <a:p>
            <a:pPr algn="ctr">
              <a:lnSpc>
                <a:spcPct val="100000"/>
              </a:lnSpc>
              <a:spcBef>
                <a:spcPct val="0"/>
              </a:spcBef>
            </a:pPr>
            <a:r>
              <a:rPr lang="en-US" sz="1400">
                <a:solidFill>
                  <a:srgbClr val="FFFFFF">
                    <a:alpha val="100000"/>
                  </a:srgbClr>
                </a:solidFill>
                <a:latin typeface="Noto Sans SC"/>
                <a:ea typeface="Noto Sans SC"/>
                <a:cs typeface="Noto Sans SC"/>
              </a:rPr>
              <a:t>权限管控</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18" name="AutoShape 18"/>
          <p:cNvSpPr/>
          <p:nvPr/>
        </p:nvSpPr>
        <p:spPr>
          <a:xfrm rot="0">
            <a:off x="342040" y="3863362"/>
            <a:ext cx="2831672" cy="2519729"/>
          </a:xfrm>
          <a:prstGeom prst="rect">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19" name="AutoShape 19"/>
          <p:cNvSpPr/>
          <p:nvPr/>
        </p:nvSpPr>
        <p:spPr>
          <a:xfrm rot="0">
            <a:off x="342040" y="1151159"/>
            <a:ext cx="2831672" cy="2519729"/>
          </a:xfrm>
          <a:prstGeom prst="rect">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20" name="TextBox 20"/>
          <p:cNvSpPr txBox="1"/>
          <p:nvPr/>
        </p:nvSpPr>
        <p:spPr>
          <a:xfrm rot="0">
            <a:off x="602805" y="1970135"/>
            <a:ext cx="2171700" cy="600075"/>
          </a:xfrm>
          <a:prstGeom prst="rect">
            <a:avLst/>
          </a:prstGeom>
          <a:noFill/>
          <a:ln/>
        </p:spPr>
        <p:txBody>
          <a:bodyPr anchor="ctr" anchorCtr="0" bIns="0" lIns="0" rIns="0" rtlCol="0" tIns="0" vert="horz" wrap="square">
            <a:spAutoFit/>
          </a:bodyPr>
          <a:lstStyle/>
          <a:p>
            <a:pPr algn="l">
              <a:lnSpc>
                <a:spcPct val="113999"/>
              </a:lnSpc>
              <a:spcBef>
                <a:spcPct val="0"/>
              </a:spcBef>
            </a:pPr>
            <a:r>
              <a:rPr lang="en-US" sz="1100">
                <a:solidFill>
                  <a:schemeClr val="dk1">
                    <a:alpha val="100000"/>
                  </a:schemeClr>
                </a:solidFill>
                <a:latin typeface="Noto Sans SC"/>
                <a:ea typeface="Noto Sans SC"/>
                <a:cs typeface="Noto Sans SC"/>
              </a:rPr>
              <a:t>通过代码提交、PR评审、Issue解决等20+维度构建贡献者影响力评估模型</a:t>
            </a:r>
          </a:p>
        </p:txBody>
        <p:extLst>
          <p:ext uri="http://schemas.baidu.com/office/drawing/2023/templateData">
            <bd:templateData xmlns:bd="http://schemas.baidu.com/office/drawing/2023/templateData">eyJfdGVtcGxhdGVEYXRhIjp7ImxpbmVDb3VudCI6IjIiLCJ3b3JkQ291bnQiOiIxMyJ9LCJ0YWciOiJub0VkaXQifQ==</bd:templateData>
          </p:ext>
        </p:extLst>
      </p:sp>
      <p:sp>
        <p:nvSpPr>
          <p:cNvPr id="21" name="TextBox 21"/>
          <p:cNvSpPr txBox="1"/>
          <p:nvPr/>
        </p:nvSpPr>
        <p:spPr>
          <a:xfrm rot="0">
            <a:off x="602805" y="2776959"/>
            <a:ext cx="2171700" cy="600075"/>
          </a:xfrm>
          <a:prstGeom prst="rect">
            <a:avLst/>
          </a:prstGeom>
          <a:noFill/>
          <a:ln/>
        </p:spPr>
        <p:txBody>
          <a:bodyPr anchor="ctr" anchorCtr="0" bIns="0" lIns="0" rIns="0" rtlCol="0" tIns="0" vert="horz" wrap="square">
            <a:spAutoFit/>
          </a:bodyPr>
          <a:lstStyle/>
          <a:p>
            <a:pPr algn="l">
              <a:lnSpc>
                <a:spcPct val="113999"/>
              </a:lnSpc>
              <a:spcBef>
                <a:spcPct val="0"/>
              </a:spcBef>
            </a:pPr>
            <a:r>
              <a:rPr lang="en-US" sz="1100">
                <a:solidFill>
                  <a:schemeClr val="dk1">
                    <a:alpha val="100000"/>
                  </a:schemeClr>
                </a:solidFill>
                <a:latin typeface="Noto Sans SC"/>
                <a:ea typeface="Noto Sans SC"/>
                <a:cs typeface="Noto Sans SC"/>
              </a:rPr>
              <a:t>采用时间衰减算法动态调整权重，真实反映不同时期贡献的价值差异</a:t>
            </a:r>
          </a:p>
        </p:txBody>
        <p:extLst>
          <p:ext uri="http://schemas.baidu.com/office/drawing/2023/templateData">
            <bd:templateData xmlns:bd="http://schemas.baidu.com/office/drawing/2023/templateData">eyJfdGVtcGxhdGVEYXRhIjp7ImxpbmVDb3VudCI6IjIiLCJ3b3JkQ291bnQiOiIxMyJ9LCJ0YWciOiJub0VkaXQifQ==</bd:templateData>
          </p:ext>
        </p:extLst>
      </p:sp>
      <p:sp>
        <p:nvSpPr>
          <p:cNvPr id="22" name="TextBox 22"/>
          <p:cNvSpPr txBox="1"/>
          <p:nvPr/>
        </p:nvSpPr>
        <p:spPr>
          <a:xfrm rot="0">
            <a:off x="602805" y="4178148"/>
            <a:ext cx="2171700" cy="600075"/>
          </a:xfrm>
          <a:prstGeom prst="rect">
            <a:avLst/>
          </a:prstGeom>
          <a:noFill/>
          <a:ln/>
        </p:spPr>
        <p:txBody>
          <a:bodyPr anchor="ctr" anchorCtr="0" bIns="0" lIns="0" rIns="0" rtlCol="0" tIns="0" vert="horz" wrap="square">
            <a:spAutoFit/>
          </a:bodyPr>
          <a:lstStyle/>
          <a:p>
            <a:pPr algn="l">
              <a:lnSpc>
                <a:spcPct val="113999"/>
              </a:lnSpc>
              <a:spcBef>
                <a:spcPct val="0"/>
              </a:spcBef>
            </a:pPr>
            <a:r>
              <a:rPr lang="en-US" sz="1100">
                <a:solidFill>
                  <a:schemeClr val="dk1">
                    <a:alpha val="100000"/>
                  </a:schemeClr>
                </a:solidFill>
                <a:latin typeface="Noto Sans SC"/>
                <a:ea typeface="Noto Sans SC"/>
                <a:cs typeface="Noto Sans SC"/>
              </a:rPr>
              <a:t>自动识别开发者协作网络，量化核心节点影响力，发现潜在社区领袖</a:t>
            </a:r>
          </a:p>
        </p:txBody>
        <p:extLst>
          <p:ext uri="http://schemas.baidu.com/office/drawing/2023/templateData">
            <bd:templateData xmlns:bd="http://schemas.baidu.com/office/drawing/2023/templateData">eyJfdGVtcGxhdGVEYXRhIjp7ImxpbmVDb3VudCI6IjIiLCJ3b3JkQ291bnQiOiIxMyJ9LCJ0YWciOiJub0VkaXQifQ==</bd:templateData>
          </p:ext>
        </p:extLst>
      </p:sp>
      <p:sp>
        <p:nvSpPr>
          <p:cNvPr id="23" name="TextBox 23"/>
          <p:cNvSpPr txBox="1"/>
          <p:nvPr/>
        </p:nvSpPr>
        <p:spPr>
          <a:xfrm rot="0">
            <a:off x="602805" y="4984972"/>
            <a:ext cx="2171700" cy="600075"/>
          </a:xfrm>
          <a:prstGeom prst="rect">
            <a:avLst/>
          </a:prstGeom>
          <a:noFill/>
          <a:ln/>
        </p:spPr>
        <p:txBody>
          <a:bodyPr anchor="ctr" anchorCtr="0" bIns="0" lIns="0" rIns="0" rtlCol="0" tIns="0" vert="horz" wrap="square">
            <a:spAutoFit/>
          </a:bodyPr>
          <a:lstStyle/>
          <a:p>
            <a:pPr algn="l">
              <a:lnSpc>
                <a:spcPct val="113999"/>
              </a:lnSpc>
              <a:spcBef>
                <a:spcPct val="0"/>
              </a:spcBef>
            </a:pPr>
            <a:r>
              <a:rPr lang="en-US" sz="1100">
                <a:solidFill>
                  <a:schemeClr val="dk1">
                    <a:alpha val="100000"/>
                  </a:schemeClr>
                </a:solidFill>
                <a:latin typeface="Noto Sans SC"/>
                <a:ea typeface="Noto Sans SC"/>
                <a:cs typeface="Noto Sans SC"/>
              </a:rPr>
              <a:t>支持跨项目关联分析，揭示开发者在不同开源生态中的角色演变轨迹</a:t>
            </a:r>
          </a:p>
        </p:txBody>
        <p:extLst>
          <p:ext uri="http://schemas.baidu.com/office/drawing/2023/templateData">
            <bd:templateData xmlns:bd="http://schemas.baidu.com/office/drawing/2023/templateData">eyJfdGVtcGxhdGVEYXRhIjp7ImxpbmVDb3VudCI6IjIiLCJ3b3JkQ291bnQiOiIxMyJ9LCJ0YWciOiJub0VkaXQifQ==</bd:templateData>
          </p:ext>
        </p:extLst>
      </p:sp>
      <p:sp>
        <p:nvSpPr>
          <p:cNvPr id="24" name="AutoShape 24"/>
          <p:cNvSpPr/>
          <p:nvPr/>
        </p:nvSpPr>
        <p:spPr>
          <a:xfrm rot="0">
            <a:off x="342040" y="1151160"/>
            <a:ext cx="2831672" cy="461348"/>
          </a:xfrm>
          <a:prstGeom prst="rect">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25" name="TextBox 25"/>
          <p:cNvSpPr txBox="1"/>
          <p:nvPr/>
        </p:nvSpPr>
        <p:spPr>
          <a:xfrm rot="0">
            <a:off x="342040" y="1229367"/>
            <a:ext cx="2733675" cy="295275"/>
          </a:xfrm>
          <a:prstGeom prst="rect">
            <a:avLst/>
          </a:prstGeom>
          <a:noFill/>
          <a:ln/>
        </p:spPr>
        <p:txBody>
          <a:bodyPr anchor="ctr" anchorCtr="0" bIns="0" lIns="0" rIns="0" rtlCol="0" tIns="0" vert="horz" wrap="none">
            <a:spAutoFit/>
          </a:bodyPr>
          <a:lstStyle/>
          <a:p>
            <a:pPr algn="ctr">
              <a:lnSpc>
                <a:spcPct val="100000"/>
              </a:lnSpc>
              <a:spcBef>
                <a:spcPct val="0"/>
              </a:spcBef>
            </a:pPr>
            <a:r>
              <a:rPr lang="en-US" sz="1800">
                <a:solidFill>
                  <a:srgbClr val="FFFFFF">
                    <a:alpha val="100000"/>
                  </a:srgbClr>
                </a:solidFill>
                <a:latin typeface="Noto Sans SC"/>
                <a:ea typeface="Noto Sans SC"/>
                <a:cs typeface="Noto Sans SC"/>
              </a:rPr>
              <a:t>影响力量化</a:t>
            </a:r>
          </a:p>
        </p:txBody>
        <p:extLst>
          <p:ext uri="http://schemas.baidu.com/office/drawing/2023/templateData">
            <bd:templateData xmlns:bd="http://schemas.baidu.com/office/drawing/2023/templateData">eyJfdGVtcGxhdGVEYXRhIjp7ImxpbmVDb3VudCI6IjEiLCJ3b3JkQ291bnQiOiI2In0sInRhZyI6Im5vRWRpdCJ9</bd:templateData>
          </p:ext>
        </p:extLst>
      </p:sp>
      <p:sp>
        <p:nvSpPr>
          <p:cNvPr id="26" name="AutoShape 26"/>
          <p:cNvSpPr/>
          <p:nvPr/>
        </p:nvSpPr>
        <p:spPr>
          <a:xfrm rot="0">
            <a:off x="342040" y="5918641"/>
            <a:ext cx="2831672" cy="465233"/>
          </a:xfrm>
          <a:prstGeom prst="rect">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27" name="TextBox 27"/>
          <p:cNvSpPr txBox="1"/>
          <p:nvPr/>
        </p:nvSpPr>
        <p:spPr>
          <a:xfrm rot="0">
            <a:off x="342040" y="5994222"/>
            <a:ext cx="2737265" cy="295275"/>
          </a:xfrm>
          <a:prstGeom prst="rect">
            <a:avLst/>
          </a:prstGeom>
          <a:noFill/>
          <a:ln/>
        </p:spPr>
        <p:txBody>
          <a:bodyPr anchor="ctr" anchorCtr="0" bIns="0" lIns="0" rIns="0" rtlCol="0" tIns="0" vert="horz" wrap="none">
            <a:spAutoFit/>
          </a:bodyPr>
          <a:lstStyle/>
          <a:p>
            <a:pPr algn="ctr">
              <a:lnSpc>
                <a:spcPct val="100000"/>
              </a:lnSpc>
              <a:spcBef>
                <a:spcPct val="0"/>
              </a:spcBef>
            </a:pPr>
            <a:r>
              <a:rPr lang="en-US" sz="1800">
                <a:solidFill>
                  <a:srgbClr val="FFFFFF">
                    <a:alpha val="100000"/>
                  </a:srgbClr>
                </a:solidFill>
                <a:latin typeface="Noto Sans SC"/>
                <a:ea typeface="Noto Sans SC"/>
                <a:cs typeface="Noto Sans SC"/>
              </a:rPr>
              <a:t>关系挖掘</a:t>
            </a:r>
          </a:p>
        </p:txBody>
        <p:extLst>
          <p:ext uri="http://schemas.baidu.com/office/drawing/2023/templateData">
            <bd:templateData xmlns:bd="http://schemas.baidu.com/office/drawing/2023/templateData">eyJfdGVtcGxhdGVEYXRhIjp7ImxpbmVDb3VudCI6IjEiLCJ3b3JkQ291bnQiOiI1In0sInRhZyI6Im5vRWRpdCJ9</bd:templateData>
          </p:ext>
        </p:extLst>
      </p:sp>
      <p:sp>
        <p:nvSpPr>
          <p:cNvPr id="28" name="AutoShape 28"/>
          <p:cNvSpPr/>
          <p:nvPr/>
        </p:nvSpPr>
        <p:spPr>
          <a:xfrm flipH="1" rot="0">
            <a:off x="8998696" y="3863362"/>
            <a:ext cx="2831672" cy="2519729"/>
          </a:xfrm>
          <a:prstGeom prst="rect">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29" name="AutoShape 29"/>
          <p:cNvSpPr/>
          <p:nvPr/>
        </p:nvSpPr>
        <p:spPr>
          <a:xfrm flipH="1" rot="0">
            <a:off x="8998696" y="1151159"/>
            <a:ext cx="2831672" cy="2519729"/>
          </a:xfrm>
          <a:prstGeom prst="rect">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30" name="TextBox 30"/>
          <p:cNvSpPr txBox="1"/>
          <p:nvPr/>
        </p:nvSpPr>
        <p:spPr>
          <a:xfrm flipH="1" rot="0">
            <a:off x="9397956" y="1970135"/>
            <a:ext cx="2171700" cy="600075"/>
          </a:xfrm>
          <a:prstGeom prst="rect">
            <a:avLst/>
          </a:prstGeom>
          <a:noFill/>
          <a:ln/>
        </p:spPr>
        <p:txBody>
          <a:bodyPr anchor="ctr" anchorCtr="0" bIns="0" lIns="0" rIns="0" rtlCol="0" tIns="0" vert="horz" wrap="square">
            <a:spAutoFit/>
          </a:bodyPr>
          <a:lstStyle/>
          <a:p>
            <a:pPr algn="l">
              <a:lnSpc>
                <a:spcPct val="113999"/>
              </a:lnSpc>
              <a:spcBef>
                <a:spcPct val="0"/>
              </a:spcBef>
            </a:pPr>
            <a:r>
              <a:rPr lang="en-US" sz="1100">
                <a:solidFill>
                  <a:schemeClr val="dk1">
                    <a:alpha val="100000"/>
                  </a:schemeClr>
                </a:solidFill>
                <a:latin typeface="Noto Sans SC"/>
                <a:ea typeface="Noto Sans SC"/>
                <a:cs typeface="Noto Sans SC"/>
              </a:rPr>
              <a:t>基于分布式架构处理千万级代码仓库数据，分钟级生成全维度分析报告</a:t>
            </a:r>
          </a:p>
        </p:txBody>
        <p:extLst>
          <p:ext uri="http://schemas.baidu.com/office/drawing/2023/templateData">
            <bd:templateData xmlns:bd="http://schemas.baidu.com/office/drawing/2023/templateData">eyJfdGVtcGxhdGVEYXRhIjp7ImxpbmVDb3VudCI6IjIiLCJ3b3JkQ291bnQiOiIxMyJ9LCJ0YWciOiJub0VkaXQifQ==</bd:templateData>
          </p:ext>
        </p:extLst>
      </p:sp>
      <p:sp>
        <p:nvSpPr>
          <p:cNvPr id="31" name="TextBox 31"/>
          <p:cNvSpPr txBox="1"/>
          <p:nvPr/>
        </p:nvSpPr>
        <p:spPr>
          <a:xfrm flipH="1" rot="0">
            <a:off x="9397956" y="2776959"/>
            <a:ext cx="2171700" cy="600075"/>
          </a:xfrm>
          <a:prstGeom prst="rect">
            <a:avLst/>
          </a:prstGeom>
          <a:noFill/>
          <a:ln/>
        </p:spPr>
        <p:txBody>
          <a:bodyPr anchor="ctr" anchorCtr="0" bIns="0" lIns="0" rIns="0" rtlCol="0" tIns="0" vert="horz" wrap="square">
            <a:spAutoFit/>
          </a:bodyPr>
          <a:lstStyle/>
          <a:p>
            <a:pPr algn="l">
              <a:lnSpc>
                <a:spcPct val="113999"/>
              </a:lnSpc>
              <a:spcBef>
                <a:spcPct val="0"/>
              </a:spcBef>
            </a:pPr>
            <a:r>
              <a:rPr lang="en-US" sz="1100">
                <a:solidFill>
                  <a:schemeClr val="dk1">
                    <a:alpha val="100000"/>
                  </a:schemeClr>
                </a:solidFill>
                <a:latin typeface="Noto Sans SC"/>
                <a:ea typeface="Noto Sans SC"/>
                <a:cs typeface="Noto Sans SC"/>
              </a:rPr>
              <a:t>内置智能预警机制，自动识别异常贡献模式，防范刷榜等作弊行为</a:t>
            </a:r>
          </a:p>
        </p:txBody>
        <p:extLst>
          <p:ext uri="http://schemas.baidu.com/office/drawing/2023/templateData">
            <bd:templateData xmlns:bd="http://schemas.baidu.com/office/drawing/2023/templateData">eyJfdGVtcGxhdGVEYXRhIjp7ImxpbmVDb3VudCI6IjIiLCJ3b3JkQ291bnQiOiIxMyJ9LCJ0YWciOiJub0VkaXQifQ==</bd:templateData>
          </p:ext>
        </p:extLst>
      </p:sp>
      <p:sp>
        <p:nvSpPr>
          <p:cNvPr id="32" name="TextBox 32"/>
          <p:cNvSpPr txBox="1"/>
          <p:nvPr/>
        </p:nvSpPr>
        <p:spPr>
          <a:xfrm flipH="1" rot="0">
            <a:off x="9397956" y="4178148"/>
            <a:ext cx="2171700" cy="600075"/>
          </a:xfrm>
          <a:prstGeom prst="rect">
            <a:avLst/>
          </a:prstGeom>
          <a:noFill/>
          <a:ln/>
        </p:spPr>
        <p:txBody>
          <a:bodyPr anchor="t" anchorCtr="0" bIns="0" lIns="0" rIns="0" rtlCol="0" tIns="0" vert="horz" wrap="square">
            <a:spAutoFit/>
          </a:bodyPr>
          <a:lstStyle/>
          <a:p>
            <a:pPr algn="l">
              <a:lnSpc>
                <a:spcPct val="113999"/>
              </a:lnSpc>
              <a:spcBef>
                <a:spcPct val="0"/>
              </a:spcBef>
            </a:pPr>
            <a:r>
              <a:rPr lang="en-US" sz="1100">
                <a:solidFill>
                  <a:schemeClr val="dk1">
                    <a:alpha val="100000"/>
                  </a:schemeClr>
                </a:solidFill>
                <a:latin typeface="Noto Sans SC"/>
                <a:ea typeface="Noto Sans SC"/>
                <a:cs typeface="Noto Sans SC"/>
              </a:rPr>
              <a:t>支持自定义评估指标权重，满足不同开源社区个性化分析需求</a:t>
            </a:r>
          </a:p>
        </p:txBody>
        <p:extLst>
          <p:ext uri="http://schemas.baidu.com/office/drawing/2023/templateData">
            <bd:templateData xmlns:bd="http://schemas.baidu.com/office/drawing/2023/templateData">eyJfdGVtcGxhdGVEYXRhIjp7ImxpbmVDb3VudCI6IjIiLCJ3b3JkQ291bnQiOiIxMyJ9LCJ0YWciOiJub0VkaXQifQ==</bd:templateData>
          </p:ext>
        </p:extLst>
      </p:sp>
      <p:sp>
        <p:nvSpPr>
          <p:cNvPr id="33" name="TextBox 33"/>
          <p:cNvSpPr txBox="1"/>
          <p:nvPr/>
        </p:nvSpPr>
        <p:spPr>
          <a:xfrm flipH="1" rot="0">
            <a:off x="9397956" y="4984972"/>
            <a:ext cx="2171700" cy="600075"/>
          </a:xfrm>
          <a:prstGeom prst="rect">
            <a:avLst/>
          </a:prstGeom>
          <a:noFill/>
          <a:ln/>
        </p:spPr>
        <p:txBody>
          <a:bodyPr anchor="t" anchorCtr="0" bIns="0" lIns="0" rIns="0" rtlCol="0" tIns="0" vert="horz" wrap="square">
            <a:spAutoFit/>
          </a:bodyPr>
          <a:lstStyle/>
          <a:p>
            <a:pPr algn="l">
              <a:lnSpc>
                <a:spcPct val="113999"/>
              </a:lnSpc>
              <a:spcBef>
                <a:spcPct val="0"/>
              </a:spcBef>
            </a:pPr>
            <a:r>
              <a:rPr lang="en-US" sz="1100">
                <a:solidFill>
                  <a:schemeClr val="dk1">
                    <a:alpha val="100000"/>
                  </a:schemeClr>
                </a:solidFill>
                <a:latin typeface="Noto Sans SC"/>
                <a:ea typeface="Noto Sans SC"/>
                <a:cs typeface="Noto Sans SC"/>
              </a:rPr>
              <a:t>提供RESTful API接口，可与企业现有研发效能平台无缝集成</a:t>
            </a:r>
          </a:p>
        </p:txBody>
        <p:extLst>
          <p:ext uri="http://schemas.baidu.com/office/drawing/2023/templateData">
            <bd:templateData xmlns:bd="http://schemas.baidu.com/office/drawing/2023/templateData">eyJfdGVtcGxhdGVEYXRhIjp7ImxpbmVDb3VudCI6IjIiLCJ3b3JkQ291bnQiOiIxMyJ9LCJ0YWciOiJub0VkaXQifQ==</bd:templateData>
          </p:ext>
        </p:extLst>
      </p:sp>
      <p:sp>
        <p:nvSpPr>
          <p:cNvPr id="34" name="AutoShape 34"/>
          <p:cNvSpPr/>
          <p:nvPr/>
        </p:nvSpPr>
        <p:spPr>
          <a:xfrm flipH="1" rot="0">
            <a:off x="8998696" y="1151160"/>
            <a:ext cx="2831672" cy="461348"/>
          </a:xfrm>
          <a:prstGeom prst="rect">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35" name="TextBox 35"/>
          <p:cNvSpPr txBox="1"/>
          <p:nvPr/>
        </p:nvSpPr>
        <p:spPr>
          <a:xfrm flipH="1" rot="0">
            <a:off x="8998696" y="1229367"/>
            <a:ext cx="2831672" cy="295275"/>
          </a:xfrm>
          <a:prstGeom prst="rect">
            <a:avLst/>
          </a:prstGeom>
          <a:noFill/>
          <a:ln/>
        </p:spPr>
        <p:txBody>
          <a:bodyPr anchor="ctr" anchorCtr="0" bIns="0" lIns="0" rIns="0" rtlCol="0" tIns="0" vert="horz" wrap="none">
            <a:spAutoFit/>
          </a:bodyPr>
          <a:lstStyle/>
          <a:p>
            <a:pPr algn="ctr">
              <a:lnSpc>
                <a:spcPct val="100000"/>
              </a:lnSpc>
              <a:spcBef>
                <a:spcPct val="0"/>
              </a:spcBef>
            </a:pPr>
            <a:r>
              <a:rPr lang="en-US" sz="1800">
                <a:solidFill>
                  <a:srgbClr val="FFFFFF">
                    <a:alpha val="100000"/>
                  </a:srgbClr>
                </a:solidFill>
                <a:latin typeface="Noto Sans SC"/>
                <a:ea typeface="Noto Sans SC"/>
                <a:cs typeface="Noto Sans SC"/>
              </a:rPr>
              <a:t>实时计算</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36" name="AutoShape 36"/>
          <p:cNvSpPr/>
          <p:nvPr/>
        </p:nvSpPr>
        <p:spPr>
          <a:xfrm flipH="1" rot="0">
            <a:off x="8998696" y="5918641"/>
            <a:ext cx="2831672" cy="465233"/>
          </a:xfrm>
          <a:prstGeom prst="rect">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37" name="TextBox 37"/>
          <p:cNvSpPr txBox="1"/>
          <p:nvPr/>
        </p:nvSpPr>
        <p:spPr>
          <a:xfrm flipH="1" rot="0">
            <a:off x="8998696" y="6003747"/>
            <a:ext cx="2831672" cy="295275"/>
          </a:xfrm>
          <a:prstGeom prst="rect">
            <a:avLst/>
          </a:prstGeom>
          <a:noFill/>
          <a:ln/>
        </p:spPr>
        <p:txBody>
          <a:bodyPr anchor="ctr" anchorCtr="0" bIns="0" lIns="0" rIns="0" rtlCol="0" tIns="0" vert="horz" wrap="none">
            <a:spAutoFit/>
          </a:bodyPr>
          <a:lstStyle/>
          <a:p>
            <a:pPr algn="ctr">
              <a:lnSpc>
                <a:spcPct val="100000"/>
              </a:lnSpc>
              <a:spcBef>
                <a:spcPct val="0"/>
              </a:spcBef>
            </a:pPr>
            <a:r>
              <a:rPr lang="en-US" sz="1800">
                <a:solidFill>
                  <a:srgbClr val="FFFFFF">
                    <a:alpha val="100000"/>
                  </a:srgbClr>
                </a:solidFill>
                <a:latin typeface="Noto Sans SC"/>
                <a:ea typeface="Noto Sans SC"/>
                <a:cs typeface="Noto Sans SC"/>
              </a:rPr>
              <a:t>定制化配置</a:t>
            </a:r>
          </a:p>
        </p:txBody>
        <p:extLst>
          <p:ext uri="http://schemas.baidu.com/office/drawing/2023/templateData">
            <bd:templateData xmlns:bd="http://schemas.baidu.com/office/drawing/2023/templateData">eyJfdGVtcGxhdGVEYXRhIjp7ImxpbmVDb3VudCI6IjEiLCJ3b3JkQ291bnQiOiI1In0sInRhZyI6Im5vRWRpdCJ9</bd:templateData>
          </p:ext>
        </p:extLst>
      </p:sp>
      <p:cxnSp>
        <p:nvCxnSpPr>
          <p:cNvPr id="38" name="Connector 38"/>
          <p:cNvCxnSpPr/>
          <p:nvPr/>
        </p:nvCxnSpPr>
        <p:spPr>
          <a:xfrm>
            <a:off x="3269974" y="1369227"/>
            <a:ext cx="526774" cy="243281"/>
          </a:xfrm>
          <a:prstGeom prst="line">
            <a:avLst/>
          </a:prstGeom>
          <a:ln w="12700">
            <a:solidFill>
              <a:schemeClr val="accent3"/>
            </a:solidFill>
            <a:prstDash val="dash"/>
            <a:headEnd type="none"/>
            <a:tailEnd type="oval"/>
          </a:ln>
        </p:spPr>
        <p:style>
          <a:lnRef idx="0">
            <a:schemeClr val="accent3"/>
          </a:lnRef>
          <a:fillRef idx="1">
            <a:schemeClr val="accent3"/>
          </a:fillRef>
          <a:effectRef idx="0">
            <a:schemeClr val="accent3"/>
          </a:effectRef>
          <a:fontRef idx="minor">
            <a:schemeClr val="lt1"/>
          </a:fontRef>
        </p:style>
        <p:extLst>
          <p:ext uri="http://schemas.baidu.com/office/drawing/2023/templateData">
            <bd:templateData xmlns:bd="http://schemas.baidu.com/office/drawing/2023/templateData">eyJ0YWciOiJub0VkaXQifQ==</bd:templateData>
          </p:ext>
        </p:extLst>
      </p:cxnSp>
      <p:cxnSp>
        <p:nvCxnSpPr>
          <p:cNvPr id="39" name="Connector 39"/>
          <p:cNvCxnSpPr/>
          <p:nvPr/>
        </p:nvCxnSpPr>
        <p:spPr>
          <a:xfrm flipV="1">
            <a:off x="3269974" y="5944337"/>
            <a:ext cx="526774" cy="243281"/>
          </a:xfrm>
          <a:prstGeom prst="line">
            <a:avLst/>
          </a:prstGeom>
          <a:ln w="12700">
            <a:solidFill>
              <a:schemeClr val="accent3"/>
            </a:solidFill>
            <a:prstDash val="dash"/>
            <a:headEnd type="none"/>
            <a:tailEnd type="oval"/>
          </a:ln>
        </p:spPr>
        <p:style>
          <a:lnRef idx="0">
            <a:schemeClr val="accent3"/>
          </a:lnRef>
          <a:fillRef idx="1">
            <a:schemeClr val="accent3"/>
          </a:fillRef>
          <a:effectRef idx="0">
            <a:schemeClr val="accent3"/>
          </a:effectRef>
          <a:fontRef idx="minor">
            <a:schemeClr val="lt1"/>
          </a:fontRef>
        </p:style>
        <p:extLst>
          <p:ext uri="http://schemas.baidu.com/office/drawing/2023/templateData">
            <bd:templateData xmlns:bd="http://schemas.baidu.com/office/drawing/2023/templateData">eyJ0YWciOiJub0VkaXQifQ==</bd:templateData>
          </p:ext>
        </p:extLst>
      </p:cxnSp>
      <p:cxnSp>
        <p:nvCxnSpPr>
          <p:cNvPr id="40" name="Connector 40"/>
          <p:cNvCxnSpPr/>
          <p:nvPr/>
        </p:nvCxnSpPr>
        <p:spPr>
          <a:xfrm flipH="1">
            <a:off x="8407561" y="1369674"/>
            <a:ext cx="476683" cy="279119"/>
          </a:xfrm>
          <a:prstGeom prst="line">
            <a:avLst/>
          </a:prstGeom>
          <a:ln w="12700">
            <a:solidFill>
              <a:schemeClr val="accent3"/>
            </a:solidFill>
            <a:prstDash val="dash"/>
            <a:headEnd type="none"/>
            <a:tailEnd type="oval"/>
          </a:ln>
        </p:spPr>
        <p:style>
          <a:lnRef idx="0">
            <a:schemeClr val="accent3"/>
          </a:lnRef>
          <a:fillRef idx="1">
            <a:schemeClr val="accent3"/>
          </a:fillRef>
          <a:effectRef idx="0">
            <a:schemeClr val="accent3"/>
          </a:effectRef>
          <a:fontRef idx="minor">
            <a:schemeClr val="lt1"/>
          </a:fontRef>
        </p:style>
        <p:extLst>
          <p:ext uri="http://schemas.baidu.com/office/drawing/2023/templateData">
            <bd:templateData xmlns:bd="http://schemas.baidu.com/office/drawing/2023/templateData">eyJ0YWciOiJub0VkaXQifQ==</bd:templateData>
          </p:ext>
        </p:extLst>
      </p:cxnSp>
      <p:cxnSp>
        <p:nvCxnSpPr>
          <p:cNvPr id="41" name="Connector 41"/>
          <p:cNvCxnSpPr/>
          <p:nvPr/>
        </p:nvCxnSpPr>
        <p:spPr>
          <a:xfrm flipH="1" flipV="1">
            <a:off x="8343585" y="5944552"/>
            <a:ext cx="458003" cy="224839"/>
          </a:xfrm>
          <a:prstGeom prst="line">
            <a:avLst/>
          </a:prstGeom>
          <a:ln w="12700">
            <a:solidFill>
              <a:schemeClr val="accent3"/>
            </a:solidFill>
            <a:prstDash val="dash"/>
            <a:headEnd type="none"/>
            <a:tailEnd type="oval"/>
          </a:ln>
        </p:spPr>
        <p:style>
          <a:lnRef idx="0">
            <a:schemeClr val="accent3"/>
          </a:lnRef>
          <a:fillRef idx="1">
            <a:schemeClr val="accent3"/>
          </a:fillRef>
          <a:effectRef idx="0">
            <a:schemeClr val="accent3"/>
          </a:effectRef>
          <a:fontRef idx="minor">
            <a:schemeClr val="lt1"/>
          </a:fontRef>
        </p:style>
        <p:extLst>
          <p:ext uri="http://schemas.baidu.com/office/drawing/2023/templateData">
            <bd:templateData xmlns:bd="http://schemas.baidu.com/office/drawing/2023/templateData">eyJ0YWciOiJub0VkaXQifQ==</bd:templateData>
          </p:ext>
        </p:extLst>
      </p:cxnSp>
      <p:sp>
        <p:nvSpPr>
          <p:cNvPr id="42" name="TextBox 42"/>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00000"/>
              </a:lnSpc>
              <a:spcBef>
                <a:spcPts val="375"/>
              </a:spcBef>
            </a:pPr>
            <a:r>
              <a:rPr b="1" lang="en-US" sz="3000">
                <a:solidFill>
                  <a:schemeClr val="dk2">
                    <a:alpha val="100000"/>
                  </a:schemeClr>
                </a:solidFill>
                <a:latin typeface="Noto Sans SC"/>
                <a:ea typeface="Noto Sans SC"/>
                <a:cs typeface="Noto Sans SC"/>
              </a:rPr>
              <a:t>功能亮点</a:t>
            </a:r>
          </a:p>
        </p:txBody>
        <p:extLst>
          <p:ext uri="http://schemas.baidu.com/office/drawing/2023/templateData">
            <bd:templateData xmlns:bd="http://schemas.baidu.com/office/drawing/2023/templateData">eyJfdGVtcGxhdGVEYXRhIjp7ImNvbnRlbnRUeXBlIjoiJHRpdGxlIiwibGluZUNvdW50IjoiMSIsIndvcmRDb3VudCI6IjI4In0sInRhZyI6Im5vRWRpdCJ9</bd:templateData>
          </p:ext>
        </p:extLst>
      </p:sp>
    </p:spTree>
  </p:cSld>
  <p:clrMapOvr>
    <a:masterClrMapping/>
  </p:clrMapOvr>
  <p:extLst>
    <p:ext uri="http://schemas.baidu.com/office/drawing/2023/templateData">
      <bd:templateData xmlns:bd="http://schemas.baidu.com/office/drawing/2023/templateData">eyJtZCI6IiMjIOWIm+aWsOeCueS4juW6lOeUqOS7t+WAvFxuIyMjIOWKn+iDveS6rueCuSIsInRwbGlkIjoiNjgiLCJ0cGxOYW1lIjoidGl0bGVHcmFwaF9wcm82MSIsImVkaXRlZCI6ImZhbHNlIn0=</bd:templateData>
    </p:ext>
  </p:extLst>
</p:sld>
</file>

<file path=ppt/slides/slide21.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Freeform 2"/>
          <p:cNvSpPr/>
          <p:nvPr/>
        </p:nvSpPr>
        <p:spPr>
          <a:xfrm rot="16200000">
            <a:off x="6845638" y="39874"/>
            <a:ext cx="3559858" cy="6317035"/>
          </a:xfrm>
          <a:custGeom>
            <a:avLst/>
            <a:gdLst/>
            <a:ahLst/>
            <a:cxnLst/>
            <a:rect b="b" l="l" r="r" t="t"/>
            <a:pathLst>
              <a:path h="6803600" w="3834054">
                <a:moveTo>
                  <a:pt x="0" y="477404"/>
                </a:moveTo>
                <a:lnTo>
                  <a:pt x="318363" y="0"/>
                </a:lnTo>
                <a:lnTo>
                  <a:pt x="636726" y="477404"/>
                </a:lnTo>
                <a:lnTo>
                  <a:pt x="490031" y="477404"/>
                </a:lnTo>
                <a:lnTo>
                  <a:pt x="490031" y="2911929"/>
                </a:lnTo>
                <a:lnTo>
                  <a:pt x="489525" y="2911929"/>
                </a:lnTo>
                <a:lnTo>
                  <a:pt x="489525" y="4976334"/>
                </a:lnTo>
                <a:lnTo>
                  <a:pt x="492247" y="4976298"/>
                </a:lnTo>
                <a:cubicBezTo>
                  <a:pt x="499491" y="5510664"/>
                  <a:pt x="791540" y="6000488"/>
                  <a:pt x="1258195" y="6260939"/>
                </a:cubicBezTo>
                <a:cubicBezTo>
                  <a:pt x="1724850" y="6521389"/>
                  <a:pt x="2295068" y="6512816"/>
                  <a:pt x="2753683" y="6238455"/>
                </a:cubicBezTo>
                <a:cubicBezTo>
                  <a:pt x="3212298" y="5964094"/>
                  <a:pt x="3489493" y="5465713"/>
                  <a:pt x="3480670" y="4931370"/>
                </a:cubicBezTo>
                <a:cubicBezTo>
                  <a:pt x="3598380" y="4929426"/>
                  <a:pt x="3716091" y="4927484"/>
                  <a:pt x="3833802" y="4925540"/>
                </a:cubicBezTo>
                <a:cubicBezTo>
                  <a:pt x="3844709" y="5586170"/>
                  <a:pt x="3502003" y="6202338"/>
                  <a:pt x="2934999" y="6541541"/>
                </a:cubicBezTo>
                <a:cubicBezTo>
                  <a:pt x="2367996" y="6880744"/>
                  <a:pt x="1663013" y="6891342"/>
                  <a:pt x="1086069" y="6569336"/>
                </a:cubicBezTo>
                <a:cubicBezTo>
                  <a:pt x="545185" y="6267456"/>
                  <a:pt x="194030" y="5716333"/>
                  <a:pt x="144870" y="5104258"/>
                </a:cubicBezTo>
                <a:lnTo>
                  <a:pt x="139107" y="4981284"/>
                </a:lnTo>
                <a:lnTo>
                  <a:pt x="138930" y="4981284"/>
                </a:lnTo>
                <a:lnTo>
                  <a:pt x="138930" y="2911929"/>
                </a:lnTo>
                <a:lnTo>
                  <a:pt x="138930" y="2853884"/>
                </a:lnTo>
                <a:lnTo>
                  <a:pt x="138930" y="477404"/>
                </a:lnTo>
              </a:path>
            </a:pathLst>
          </a:custGeom>
          <a:gradFill>
            <a:gsLst>
              <a:gs pos="9000">
                <a:schemeClr val="accent1">
                  <a:alpha val="0"/>
                </a:schemeClr>
              </a:gs>
              <a:gs pos="100000">
                <a:schemeClr val="accent2">
                  <a:alpha val="100000"/>
                </a:schemeClr>
              </a:gs>
            </a:gsLst>
            <a:lin ang="10800000"/>
          </a:gradFill>
          <a:ln/>
        </p:spPr>
        <p:extLst>
          <p:ext uri="http://schemas.baidu.com/office/drawing/2023/templateData">
            <bd:templateData xmlns:bd="http://schemas.baidu.com/office/drawing/2023/templateData">eyJ0YWciOiJub0VkaXQifQ==</bd:templateData>
          </p:ext>
        </p:extLst>
      </p:sp>
      <p:sp>
        <p:nvSpPr>
          <p:cNvPr id="3" name="Freeform 3"/>
          <p:cNvSpPr/>
          <p:nvPr/>
        </p:nvSpPr>
        <p:spPr>
          <a:xfrm rot="5400000">
            <a:off x="1786508" y="-102735"/>
            <a:ext cx="3559858" cy="6317035"/>
          </a:xfrm>
          <a:custGeom>
            <a:avLst/>
            <a:gdLst/>
            <a:ahLst/>
            <a:cxnLst/>
            <a:rect b="b" l="l" r="r" t="t"/>
            <a:pathLst>
              <a:path h="6803600" w="3834054">
                <a:moveTo>
                  <a:pt x="0" y="477404"/>
                </a:moveTo>
                <a:lnTo>
                  <a:pt x="318363" y="0"/>
                </a:lnTo>
                <a:lnTo>
                  <a:pt x="636726" y="477404"/>
                </a:lnTo>
                <a:lnTo>
                  <a:pt x="490031" y="477404"/>
                </a:lnTo>
                <a:lnTo>
                  <a:pt x="490031" y="2911929"/>
                </a:lnTo>
                <a:lnTo>
                  <a:pt x="489525" y="2911929"/>
                </a:lnTo>
                <a:lnTo>
                  <a:pt x="489525" y="4976334"/>
                </a:lnTo>
                <a:lnTo>
                  <a:pt x="492247" y="4976298"/>
                </a:lnTo>
                <a:cubicBezTo>
                  <a:pt x="499491" y="5510664"/>
                  <a:pt x="791540" y="6000488"/>
                  <a:pt x="1258195" y="6260939"/>
                </a:cubicBezTo>
                <a:cubicBezTo>
                  <a:pt x="1724850" y="6521389"/>
                  <a:pt x="2295068" y="6512816"/>
                  <a:pt x="2753683" y="6238455"/>
                </a:cubicBezTo>
                <a:cubicBezTo>
                  <a:pt x="3212298" y="5964094"/>
                  <a:pt x="3489493" y="5465713"/>
                  <a:pt x="3480670" y="4931370"/>
                </a:cubicBezTo>
                <a:cubicBezTo>
                  <a:pt x="3598380" y="4929426"/>
                  <a:pt x="3716091" y="4927484"/>
                  <a:pt x="3833802" y="4925540"/>
                </a:cubicBezTo>
                <a:cubicBezTo>
                  <a:pt x="3844709" y="5586170"/>
                  <a:pt x="3502003" y="6202338"/>
                  <a:pt x="2934999" y="6541541"/>
                </a:cubicBezTo>
                <a:cubicBezTo>
                  <a:pt x="2367996" y="6880744"/>
                  <a:pt x="1663013" y="6891342"/>
                  <a:pt x="1086069" y="6569336"/>
                </a:cubicBezTo>
                <a:cubicBezTo>
                  <a:pt x="545185" y="6267456"/>
                  <a:pt x="194030" y="5716333"/>
                  <a:pt x="144870" y="5104258"/>
                </a:cubicBezTo>
                <a:lnTo>
                  <a:pt x="139107" y="4981284"/>
                </a:lnTo>
                <a:lnTo>
                  <a:pt x="138930" y="4981284"/>
                </a:lnTo>
                <a:lnTo>
                  <a:pt x="138930" y="2911929"/>
                </a:lnTo>
                <a:lnTo>
                  <a:pt x="138930" y="2853884"/>
                </a:lnTo>
                <a:lnTo>
                  <a:pt x="138930" y="477404"/>
                </a:lnTo>
              </a:path>
            </a:pathLst>
          </a:custGeom>
          <a:gradFill>
            <a:gsLst>
              <a:gs pos="10000">
                <a:schemeClr val="accent1">
                  <a:alpha val="0"/>
                </a:schemeClr>
              </a:gs>
              <a:gs pos="99000">
                <a:schemeClr val="accent1">
                  <a:alpha val="100000"/>
                </a:schemeClr>
              </a:gs>
            </a:gsLst>
            <a:lin ang="10800000"/>
          </a:gradFill>
          <a:ln/>
        </p:spPr>
        <p:extLst>
          <p:ext uri="http://schemas.baidu.com/office/drawing/2023/templateData">
            <bd:templateData xmlns:bd="http://schemas.baidu.com/office/drawing/2023/templateData">eyJ0YWciOiJub0VkaXQifQ==</bd:templateData>
          </p:ext>
        </p:extLst>
      </p:sp>
      <p:sp>
        <p:nvSpPr>
          <p:cNvPr id="4" name="AutoShape 4"/>
          <p:cNvSpPr/>
          <p:nvPr/>
        </p:nvSpPr>
        <p:spPr>
          <a:xfrm rot="0">
            <a:off x="989601" y="1936317"/>
            <a:ext cx="10201240" cy="2379623"/>
          </a:xfrm>
          <a:prstGeom prst="roundRect">
            <a:avLst>
              <a:gd fmla="val 50000" name="adj"/>
            </a:avLst>
          </a:prstGeom>
          <a:solidFill>
            <a:srgbClr val="FFFFFF">
              <a:alpha val="100000"/>
            </a:srgbClr>
          </a:solidFill>
          <a:ln w="2540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5" name="TextBox 5"/>
          <p:cNvSpPr txBox="1"/>
          <p:nvPr/>
        </p:nvSpPr>
        <p:spPr>
          <a:xfrm rot="0">
            <a:off x="6707513" y="1473251"/>
            <a:ext cx="971550" cy="2190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99">
                <a:solidFill>
                  <a:schemeClr val="dk1">
                    <a:alpha val="100000"/>
                  </a:schemeClr>
                </a:solidFill>
                <a:latin typeface="Noto Sans SC"/>
                <a:ea typeface="Noto Sans SC"/>
                <a:cs typeface="Noto Sans SC"/>
              </a:rPr>
              <a:t>贡献定位</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6" name="TextBox 6"/>
          <p:cNvSpPr txBox="1"/>
          <p:nvPr/>
        </p:nvSpPr>
        <p:spPr>
          <a:xfrm rot="0">
            <a:off x="7935602" y="1473251"/>
            <a:ext cx="971550" cy="2190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99">
                <a:solidFill>
                  <a:schemeClr val="dk1">
                    <a:alpha val="100000"/>
                  </a:schemeClr>
                </a:solidFill>
                <a:latin typeface="Noto Sans SC"/>
                <a:ea typeface="Noto Sans SC"/>
                <a:cs typeface="Noto Sans SC"/>
              </a:rPr>
              <a:t>社区互动</a:t>
            </a:r>
          </a:p>
        </p:txBody>
        <p:extLst>
          <p:ext uri="http://schemas.baidu.com/office/drawing/2023/templateData">
            <bd:templateData xmlns:bd="http://schemas.baidu.com/office/drawing/2023/templateData">eyJ0YWciOiJub0VkaXQifQ==</bd:templateData>
          </p:ext>
        </p:extLst>
      </p:sp>
      <p:sp>
        <p:nvSpPr>
          <p:cNvPr id="7" name="TextBox 7"/>
          <p:cNvSpPr txBox="1"/>
          <p:nvPr/>
        </p:nvSpPr>
        <p:spPr>
          <a:xfrm rot="0">
            <a:off x="9163691" y="1473251"/>
            <a:ext cx="971550" cy="2190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99">
                <a:solidFill>
                  <a:schemeClr val="dk1">
                    <a:alpha val="100000"/>
                  </a:schemeClr>
                </a:solidFill>
                <a:latin typeface="Noto Sans SC"/>
                <a:ea typeface="Noto Sans SC"/>
                <a:cs typeface="Noto Sans SC"/>
              </a:rPr>
              <a:t>效果监测</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8" name="TextBox 8"/>
          <p:cNvSpPr txBox="1"/>
          <p:nvPr/>
        </p:nvSpPr>
        <p:spPr>
          <a:xfrm rot="0">
            <a:off x="1954692" y="4603262"/>
            <a:ext cx="1152525" cy="2190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99">
                <a:solidFill>
                  <a:schemeClr val="dk1">
                    <a:alpha val="100000"/>
                  </a:schemeClr>
                </a:solidFill>
                <a:latin typeface="Noto Sans SC"/>
                <a:ea typeface="Noto Sans SC"/>
                <a:cs typeface="Noto Sans SC"/>
              </a:rPr>
              <a:t>品牌</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9" name="TextBox 9"/>
          <p:cNvSpPr txBox="1"/>
          <p:nvPr/>
        </p:nvSpPr>
        <p:spPr>
          <a:xfrm rot="0">
            <a:off x="3193425" y="4603262"/>
            <a:ext cx="1152525" cy="2190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99">
                <a:solidFill>
                  <a:schemeClr val="dk1">
                    <a:alpha val="100000"/>
                  </a:schemeClr>
                </a:solidFill>
                <a:latin typeface="Noto Sans SC"/>
                <a:ea typeface="Noto Sans SC"/>
                <a:cs typeface="Noto Sans SC"/>
              </a:rPr>
              <a:t>领域覆盖</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10" name="TextBox 10"/>
          <p:cNvSpPr txBox="1"/>
          <p:nvPr/>
        </p:nvSpPr>
        <p:spPr>
          <a:xfrm rot="0">
            <a:off x="4432158" y="4603262"/>
            <a:ext cx="1152525" cy="2190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99">
                <a:solidFill>
                  <a:schemeClr val="dk1">
                    <a:alpha val="100000"/>
                  </a:schemeClr>
                </a:solidFill>
                <a:latin typeface="Noto Sans SC"/>
                <a:ea typeface="Noto Sans SC"/>
                <a:cs typeface="Noto Sans SC"/>
              </a:rPr>
              <a:t>流程</a:t>
            </a:r>
          </a:p>
        </p:txBody>
        <p:extLst>
          <p:ext uri="http://schemas.baidu.com/office/drawing/2023/templateData">
            <bd:templateData xmlns:bd="http://schemas.baidu.com/office/drawing/2023/templateData">eyJfdGVtcGxhdGVEYXRhIjp7ImxpbmVDb3VudCI6IjEiLCJ3b3JkQ291bnQiOiI0In0sInRhZyI6Im5vRWRpdCJ9</bd:templateData>
          </p:ext>
        </p:extLst>
      </p:sp>
      <p:sp>
        <p:nvSpPr>
          <p:cNvPr id="11" name="TextBox 11"/>
          <p:cNvSpPr txBox="1"/>
          <p:nvPr/>
        </p:nvSpPr>
        <p:spPr>
          <a:xfrm rot="0">
            <a:off x="7555504" y="1473251"/>
            <a:ext cx="504825" cy="2190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99">
                <a:solidFill>
                  <a:schemeClr val="dk1">
                    <a:alpha val="100000"/>
                  </a:schemeClr>
                </a:solidFill>
                <a:latin typeface="Noto Sans SC"/>
                <a:ea typeface="Noto Sans SC"/>
                <a:cs typeface="Noto Sans SC"/>
              </a:rPr>
              <a:t>&gt;&gt;&gt;</a:t>
            </a:r>
          </a:p>
        </p:txBody>
        <p:extLst>
          <p:ext uri="http://schemas.baidu.com/office/drawing/2023/templateData">
            <bd:templateData xmlns:bd="http://schemas.baidu.com/office/drawing/2023/templateData">eyJfdGVtcGxhdGVEYXRhIjp7ImxpbmVDb3VudCI6IjEiLCJ3b3JkQ291bnQiOiIxIn0sInRhZyI6Im5vRWRpdCJ9</bd:templateData>
          </p:ext>
        </p:extLst>
      </p:sp>
      <p:sp>
        <p:nvSpPr>
          <p:cNvPr id="12" name="TextBox 12"/>
          <p:cNvSpPr txBox="1"/>
          <p:nvPr/>
        </p:nvSpPr>
        <p:spPr>
          <a:xfrm rot="0">
            <a:off x="8783594" y="1473251"/>
            <a:ext cx="504825" cy="2190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99">
                <a:solidFill>
                  <a:schemeClr val="dk1">
                    <a:alpha val="100000"/>
                  </a:schemeClr>
                </a:solidFill>
                <a:latin typeface="Noto Sans SC"/>
                <a:ea typeface="Noto Sans SC"/>
                <a:cs typeface="Noto Sans SC"/>
              </a:rPr>
              <a:t>&gt;&gt;&gt;</a:t>
            </a:r>
          </a:p>
        </p:txBody>
        <p:extLst>
          <p:ext uri="http://schemas.baidu.com/office/drawing/2023/templateData">
            <bd:templateData xmlns:bd="http://schemas.baidu.com/office/drawing/2023/templateData">eyJ0YWciOiJub0VkaXQifQ==</bd:templateData>
          </p:ext>
        </p:extLst>
      </p:sp>
      <p:sp>
        <p:nvSpPr>
          <p:cNvPr id="13" name="TextBox 13"/>
          <p:cNvSpPr txBox="1"/>
          <p:nvPr/>
        </p:nvSpPr>
        <p:spPr>
          <a:xfrm rot="10800000">
            <a:off x="2837153" y="4610608"/>
            <a:ext cx="619125" cy="2190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99">
                <a:solidFill>
                  <a:schemeClr val="dk1">
                    <a:alpha val="100000"/>
                  </a:schemeClr>
                </a:solidFill>
                <a:latin typeface="Noto Sans SC"/>
                <a:ea typeface="Noto Sans SC"/>
                <a:cs typeface="Noto Sans SC"/>
              </a:rPr>
              <a:t>&gt;&gt;&gt;</a:t>
            </a:r>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14" name="TextBox 14"/>
          <p:cNvSpPr txBox="1"/>
          <p:nvPr/>
        </p:nvSpPr>
        <p:spPr>
          <a:xfrm rot="10800000">
            <a:off x="4075885" y="4610608"/>
            <a:ext cx="619125" cy="219075"/>
          </a:xfrm>
          <a:prstGeom prst="rect">
            <a:avLst/>
          </a:prstGeom>
          <a:noFill/>
          <a:ln/>
        </p:spPr>
        <p:txBody>
          <a:bodyPr anchor="t" anchorCtr="0" bIns="0" lIns="0" rIns="0" rtlCol="0" tIns="0" vert="horz" wrap="square">
            <a:spAutoFit/>
          </a:bodyPr>
          <a:lstStyle/>
          <a:p>
            <a:pPr algn="ctr">
              <a:lnSpc>
                <a:spcPct val="100000"/>
              </a:lnSpc>
              <a:spcBef>
                <a:spcPct val="0"/>
              </a:spcBef>
            </a:pPr>
            <a:r>
              <a:rPr lang="en-US" sz="1299">
                <a:solidFill>
                  <a:schemeClr val="dk1">
                    <a:alpha val="100000"/>
                  </a:schemeClr>
                </a:solidFill>
                <a:latin typeface="Noto Sans SC"/>
                <a:ea typeface="Noto Sans SC"/>
                <a:cs typeface="Noto Sans SC"/>
              </a:rPr>
              <a:t>&gt;&gt;&gt;</a:t>
            </a:r>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15" name="AutoShape 15"/>
          <p:cNvSpPr/>
          <p:nvPr/>
        </p:nvSpPr>
        <p:spPr>
          <a:xfrm rot="0">
            <a:off x="3635951" y="2618220"/>
            <a:ext cx="1050383" cy="1050383"/>
          </a:xfrm>
          <a:prstGeom prst="ellipse">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6" name="AutoShape 16"/>
          <p:cNvSpPr/>
          <p:nvPr/>
        </p:nvSpPr>
        <p:spPr>
          <a:xfrm rot="0">
            <a:off x="3635951" y="3021978"/>
            <a:ext cx="1050383" cy="212873"/>
          </a:xfrm>
          <a:prstGeom prst="rect">
            <a:avLst/>
          </a:prstGeom>
          <a:noFill/>
          <a:ln/>
        </p:spPr>
        <p:txBody>
          <a:bodyPr anchor="ctr" anchorCtr="0" bIns="0" lIns="0" rIns="0" rtlCol="0" tIns="0" vert="horz" wrap="square">
            <a:noAutofit/>
          </a:bodyPr>
          <a:lstStyle/>
          <a:p>
            <a:pPr algn="ctr">
              <a:lnSpc>
                <a:spcPct val="120000"/>
              </a:lnSpc>
              <a:spcBef>
                <a:spcPct val="0"/>
              </a:spcBef>
              <a:defRPr/>
            </a:pPr>
            <a:r>
              <a:rPr lang="en-US" sz="1200">
                <a:solidFill>
                  <a:srgbClr val="FFFEFE">
                    <a:alpha val="100000"/>
                  </a:srgbClr>
                </a:solidFill>
                <a:latin typeface="Noto Sans SC"/>
                <a:ea typeface="Noto Sans SC"/>
                <a:cs typeface="Noto Sans SC"/>
              </a:rPr>
              <a:t>贡献追踪</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17" name="AutoShape 17"/>
          <p:cNvSpPr/>
          <p:nvPr/>
        </p:nvSpPr>
        <p:spPr>
          <a:xfrm rot="0">
            <a:off x="1425976" y="2244867"/>
            <a:ext cx="642579" cy="328771"/>
          </a:xfrm>
          <a:prstGeom prst="roundRect">
            <a:avLst>
              <a:gd fmla="val 50000" name="adj"/>
            </a:avLst>
          </a:prstGeom>
          <a:solidFill>
            <a:schemeClr val="dk2">
              <a:alpha val="100000"/>
            </a:schemeClr>
          </a:solidFill>
          <a:ln w="1270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18" name="AutoShape 18"/>
          <p:cNvSpPr/>
          <p:nvPr/>
        </p:nvSpPr>
        <p:spPr>
          <a:xfrm rot="0">
            <a:off x="1425976" y="2332309"/>
            <a:ext cx="642579" cy="153888"/>
          </a:xfrm>
          <a:prstGeom prst="rect">
            <a:avLst/>
          </a:prstGeom>
          <a:noFill/>
          <a:ln/>
        </p:spPr>
        <p:txBody>
          <a:bodyPr anchor="t" anchorCtr="0" bIns="0" lIns="0" rIns="0" rtlCol="0" tIns="0" vert="horz" wrap="square">
            <a:noAutofit/>
          </a:bodyPr>
          <a:lstStyle/>
          <a:p>
            <a:pPr algn="ctr">
              <a:lnSpc>
                <a:spcPct val="100000"/>
              </a:lnSpc>
              <a:spcBef>
                <a:spcPct val="0"/>
              </a:spcBef>
              <a:defRPr/>
            </a:pPr>
            <a:r>
              <a:rPr lang="en-US" sz="999">
                <a:solidFill>
                  <a:schemeClr val="lt1">
                    <a:alpha val="100000"/>
                  </a:schemeClr>
                </a:solidFill>
                <a:latin typeface="Noto Sans SC"/>
                <a:ea typeface="Noto Sans SC"/>
                <a:cs typeface="Noto Sans SC"/>
              </a:rPr>
              <a:t>测试</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19" name="AutoShape 19"/>
          <p:cNvSpPr/>
          <p:nvPr/>
        </p:nvSpPr>
        <p:spPr>
          <a:xfrm rot="0">
            <a:off x="1328697" y="2719957"/>
            <a:ext cx="642579" cy="328771"/>
          </a:xfrm>
          <a:prstGeom prst="roundRect">
            <a:avLst>
              <a:gd fmla="val 50000" name="adj"/>
            </a:avLst>
          </a:prstGeom>
          <a:solidFill>
            <a:schemeClr val="dk2">
              <a:alpha val="100000"/>
            </a:schemeClr>
          </a:solidFill>
          <a:ln w="1270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20" name="AutoShape 20"/>
          <p:cNvSpPr/>
          <p:nvPr/>
        </p:nvSpPr>
        <p:spPr>
          <a:xfrm rot="0">
            <a:off x="1328697" y="2807646"/>
            <a:ext cx="625995" cy="153888"/>
          </a:xfrm>
          <a:prstGeom prst="rect">
            <a:avLst/>
          </a:prstGeom>
          <a:noFill/>
          <a:ln/>
        </p:spPr>
        <p:txBody>
          <a:bodyPr anchor="t" anchorCtr="0" bIns="0" lIns="0" rIns="0" rtlCol="0" tIns="0" vert="horz" wrap="square">
            <a:noAutofit/>
          </a:bodyPr>
          <a:lstStyle/>
          <a:p>
            <a:pPr algn="ctr">
              <a:lnSpc>
                <a:spcPct val="100000"/>
              </a:lnSpc>
              <a:spcBef>
                <a:spcPct val="0"/>
              </a:spcBef>
              <a:defRPr/>
            </a:pPr>
            <a:r>
              <a:rPr lang="en-US" sz="999">
                <a:solidFill>
                  <a:schemeClr val="lt1">
                    <a:alpha val="100000"/>
                  </a:schemeClr>
                </a:solidFill>
                <a:latin typeface="Noto Sans SC"/>
                <a:ea typeface="Noto Sans SC"/>
                <a:cs typeface="Noto Sans SC"/>
              </a:rPr>
              <a:t>互动</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21" name="AutoShape 21"/>
          <p:cNvSpPr/>
          <p:nvPr/>
        </p:nvSpPr>
        <p:spPr>
          <a:xfrm rot="0">
            <a:off x="1425976" y="3670632"/>
            <a:ext cx="642579" cy="328771"/>
          </a:xfrm>
          <a:prstGeom prst="roundRect">
            <a:avLst>
              <a:gd fmla="val 50000" name="adj"/>
            </a:avLst>
          </a:prstGeom>
          <a:solidFill>
            <a:schemeClr val="dk2">
              <a:alpha val="100000"/>
            </a:schemeClr>
          </a:solidFill>
          <a:ln w="1270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22" name="AutoShape 22"/>
          <p:cNvSpPr/>
          <p:nvPr/>
        </p:nvSpPr>
        <p:spPr>
          <a:xfrm rot="0">
            <a:off x="1425976" y="3758321"/>
            <a:ext cx="642579" cy="153888"/>
          </a:xfrm>
          <a:prstGeom prst="rect">
            <a:avLst/>
          </a:prstGeom>
          <a:noFill/>
          <a:ln/>
        </p:spPr>
        <p:txBody>
          <a:bodyPr anchor="t" anchorCtr="0" bIns="0" lIns="0" rIns="0" rtlCol="0" tIns="0" vert="horz" wrap="square">
            <a:noAutofit/>
          </a:bodyPr>
          <a:lstStyle/>
          <a:p>
            <a:pPr algn="ctr">
              <a:lnSpc>
                <a:spcPct val="100000"/>
              </a:lnSpc>
              <a:spcBef>
                <a:spcPct val="0"/>
              </a:spcBef>
              <a:defRPr/>
            </a:pPr>
            <a:r>
              <a:rPr lang="en-US" sz="999">
                <a:solidFill>
                  <a:schemeClr val="lt1">
                    <a:alpha val="100000"/>
                  </a:schemeClr>
                </a:solidFill>
                <a:latin typeface="Noto Sans SC"/>
                <a:ea typeface="Noto Sans SC"/>
                <a:cs typeface="Noto Sans SC"/>
              </a:rPr>
              <a:t>策略优化</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23" name="AutoShape 23"/>
          <p:cNvSpPr/>
          <p:nvPr/>
        </p:nvSpPr>
        <p:spPr>
          <a:xfrm rot="0">
            <a:off x="2191859" y="2557068"/>
            <a:ext cx="1172686" cy="1172687"/>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24" name="AutoShape 24"/>
          <p:cNvSpPr/>
          <p:nvPr/>
        </p:nvSpPr>
        <p:spPr>
          <a:xfrm rot="0">
            <a:off x="7505422" y="2624199"/>
            <a:ext cx="1038424" cy="1038424"/>
          </a:xfrm>
          <a:prstGeom prst="ellipse">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25" name="AutoShape 25"/>
          <p:cNvSpPr/>
          <p:nvPr/>
        </p:nvSpPr>
        <p:spPr>
          <a:xfrm rot="0">
            <a:off x="7505422" y="3021976"/>
            <a:ext cx="1038424" cy="210827"/>
          </a:xfrm>
          <a:prstGeom prst="rect">
            <a:avLst/>
          </a:prstGeom>
          <a:noFill/>
          <a:ln/>
        </p:spPr>
        <p:txBody>
          <a:bodyPr anchor="ctr" anchorCtr="0" bIns="0" lIns="0" rIns="0" rtlCol="0" tIns="0" vert="horz" wrap="square">
            <a:noAutofit/>
          </a:bodyPr>
          <a:lstStyle/>
          <a:p>
            <a:pPr algn="ctr">
              <a:lnSpc>
                <a:spcPct val="120000"/>
              </a:lnSpc>
              <a:spcBef>
                <a:spcPct val="0"/>
              </a:spcBef>
              <a:defRPr/>
            </a:pPr>
            <a:r>
              <a:rPr lang="en-US" sz="1200">
                <a:solidFill>
                  <a:srgbClr val="FAFBFA">
                    <a:alpha val="100000"/>
                  </a:srgbClr>
                </a:solidFill>
                <a:latin typeface="Noto Sans SC"/>
                <a:ea typeface="Noto Sans SC"/>
                <a:cs typeface="Noto Sans SC"/>
              </a:rPr>
              <a:t>贡献分析</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26" name="AutoShape 26"/>
          <p:cNvSpPr/>
          <p:nvPr/>
        </p:nvSpPr>
        <p:spPr>
          <a:xfrm rot="0">
            <a:off x="8822071" y="2561291"/>
            <a:ext cx="1164241" cy="1164241"/>
          </a:xfrm>
          <a:prstGeom prst="ellipse">
            <a:avLst/>
          </a:prstGeom>
          <a:solidFill>
            <a:schemeClr val="accent2">
              <a:alpha val="100000"/>
            </a:schemeClr>
          </a:solidFill>
          <a:ln/>
        </p:spPr>
        <p:txBody>
          <a:bodyPr anchor="t" anchorCtr="0" bIns="45720" lIns="91440" rIns="91440" rtlCol="0" tIns="45720" vert="horz" wrap="square">
            <a:normAutofit/>
          </a:bodyPr>
          <a:lstStyle/>
          <a:p>
            <a:pPr algn="l">
              <a:lnSpc>
                <a:spcPct val="100000"/>
              </a:lnSpc>
              <a:spcBef>
                <a:spcPts val="375"/>
              </a:spcBef>
              <a:defRPr/>
            </a:pPr>
            <a:r>
              <a:rPr lang="en-US" sz="900">
                <a:solidFill>
                  <a:srgbClr val="FFFFFF">
                    <a:alpha val="100000"/>
                  </a:srgbClr>
                </a:solidFill>
                <a:latin typeface="Noto Sans SC"/>
                <a:ea typeface="Noto Sans SC"/>
                <a:cs typeface="Noto Sans SC"/>
              </a:rPr>
              <a:t/>
            </a:r>
            <a:endParaRPr lang="en-US" sz="1100"/>
          </a:p>
        </p:txBody>
        <p:extLst>
          <p:ext uri="http://schemas.baidu.com/office/drawing/2023/templateData">
            <bd:templateData xmlns:bd="http://schemas.baidu.com/office/drawing/2023/templateData">eyJ0YWciOiJub0VkaXQifQ==</bd:templateData>
          </p:ext>
        </p:extLst>
      </p:sp>
      <p:sp>
        <p:nvSpPr>
          <p:cNvPr id="27" name="AutoShape 27"/>
          <p:cNvSpPr/>
          <p:nvPr/>
        </p:nvSpPr>
        <p:spPr>
          <a:xfrm rot="0">
            <a:off x="10037057" y="2346248"/>
            <a:ext cx="642579" cy="328771"/>
          </a:xfrm>
          <a:prstGeom prst="roundRect">
            <a:avLst>
              <a:gd fmla="val 50000" name="adj"/>
            </a:avLst>
          </a:prstGeom>
          <a:solidFill>
            <a:schemeClr val="dk2">
              <a:alpha val="100000"/>
            </a:schemeClr>
          </a:solidFill>
          <a:ln w="1270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28" name="AutoShape 28"/>
          <p:cNvSpPr/>
          <p:nvPr/>
        </p:nvSpPr>
        <p:spPr>
          <a:xfrm rot="0">
            <a:off x="10037057" y="2433937"/>
            <a:ext cx="642579" cy="153888"/>
          </a:xfrm>
          <a:prstGeom prst="rect">
            <a:avLst/>
          </a:prstGeom>
          <a:noFill/>
          <a:ln/>
        </p:spPr>
        <p:txBody>
          <a:bodyPr anchor="t" anchorCtr="0" bIns="0" lIns="0" rIns="0" rtlCol="0" tIns="0" vert="horz" wrap="square">
            <a:noAutofit/>
          </a:bodyPr>
          <a:lstStyle/>
          <a:p>
            <a:pPr algn="ctr">
              <a:lnSpc>
                <a:spcPct val="100000"/>
              </a:lnSpc>
              <a:spcBef>
                <a:spcPct val="0"/>
              </a:spcBef>
              <a:defRPr/>
            </a:pPr>
            <a:r>
              <a:rPr lang="en-US" sz="999">
                <a:solidFill>
                  <a:schemeClr val="lt1">
                    <a:alpha val="100000"/>
                  </a:schemeClr>
                </a:solidFill>
                <a:latin typeface="Noto Sans SC"/>
                <a:ea typeface="Noto Sans SC"/>
                <a:cs typeface="Noto Sans SC"/>
              </a:rPr>
              <a:t>流程</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29" name="AutoShape 29"/>
          <p:cNvSpPr/>
          <p:nvPr/>
        </p:nvSpPr>
        <p:spPr>
          <a:xfrm rot="0">
            <a:off x="10241289" y="2946384"/>
            <a:ext cx="642579" cy="328771"/>
          </a:xfrm>
          <a:prstGeom prst="roundRect">
            <a:avLst>
              <a:gd fmla="val 50000" name="adj"/>
            </a:avLst>
          </a:prstGeom>
          <a:solidFill>
            <a:schemeClr val="dk2">
              <a:alpha val="100000"/>
            </a:schemeClr>
          </a:solidFill>
          <a:ln w="1270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30" name="AutoShape 30"/>
          <p:cNvSpPr/>
          <p:nvPr/>
        </p:nvSpPr>
        <p:spPr>
          <a:xfrm rot="0">
            <a:off x="10241289" y="3034075"/>
            <a:ext cx="642579" cy="155381"/>
          </a:xfrm>
          <a:prstGeom prst="rect">
            <a:avLst/>
          </a:prstGeom>
          <a:noFill/>
          <a:ln/>
        </p:spPr>
        <p:txBody>
          <a:bodyPr anchor="t" anchorCtr="0" bIns="0" lIns="0" rIns="0" rtlCol="0" tIns="0" vert="horz" wrap="square">
            <a:noAutofit/>
          </a:bodyPr>
          <a:lstStyle/>
          <a:p>
            <a:pPr algn="ctr">
              <a:lnSpc>
                <a:spcPct val="100000"/>
              </a:lnSpc>
              <a:spcBef>
                <a:spcPct val="0"/>
              </a:spcBef>
              <a:defRPr/>
            </a:pPr>
            <a:r>
              <a:rPr lang="en-US" sz="999">
                <a:solidFill>
                  <a:schemeClr val="lt1">
                    <a:alpha val="100000"/>
                  </a:schemeClr>
                </a:solidFill>
                <a:latin typeface="Noto Sans SC"/>
                <a:ea typeface="Noto Sans SC"/>
                <a:cs typeface="Noto Sans SC"/>
              </a:rPr>
              <a:t>实施</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31" name="AutoShape 31"/>
          <p:cNvSpPr/>
          <p:nvPr/>
        </p:nvSpPr>
        <p:spPr>
          <a:xfrm rot="0">
            <a:off x="10037057" y="3546522"/>
            <a:ext cx="642579" cy="328771"/>
          </a:xfrm>
          <a:prstGeom prst="roundRect">
            <a:avLst>
              <a:gd fmla="val 50000" name="adj"/>
            </a:avLst>
          </a:prstGeom>
          <a:solidFill>
            <a:schemeClr val="dk2">
              <a:alpha val="100000"/>
            </a:schemeClr>
          </a:solidFill>
          <a:ln w="1270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32" name="AutoShape 32"/>
          <p:cNvSpPr/>
          <p:nvPr/>
        </p:nvSpPr>
        <p:spPr>
          <a:xfrm rot="0">
            <a:off x="10037057" y="3634213"/>
            <a:ext cx="642579" cy="155381"/>
          </a:xfrm>
          <a:prstGeom prst="rect">
            <a:avLst/>
          </a:prstGeom>
          <a:noFill/>
          <a:ln/>
        </p:spPr>
        <p:txBody>
          <a:bodyPr anchor="t" anchorCtr="0" bIns="0" lIns="0" rIns="0" rtlCol="0" tIns="0" vert="horz" wrap="square">
            <a:noAutofit/>
          </a:bodyPr>
          <a:lstStyle/>
          <a:p>
            <a:pPr algn="ctr">
              <a:lnSpc>
                <a:spcPct val="100000"/>
              </a:lnSpc>
              <a:spcBef>
                <a:spcPct val="0"/>
              </a:spcBef>
              <a:defRPr/>
            </a:pPr>
            <a:r>
              <a:rPr lang="en-US" sz="999">
                <a:solidFill>
                  <a:schemeClr val="lt1">
                    <a:alpha val="100000"/>
                  </a:schemeClr>
                </a:solidFill>
                <a:latin typeface="Noto Sans SC"/>
                <a:ea typeface="Noto Sans SC"/>
                <a:cs typeface="Noto Sans SC"/>
              </a:rPr>
              <a:t>评估</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33" name="AutoShape 33"/>
          <p:cNvSpPr/>
          <p:nvPr/>
        </p:nvSpPr>
        <p:spPr>
          <a:xfrm rot="0">
            <a:off x="1320243" y="3195295"/>
            <a:ext cx="642579" cy="328771"/>
          </a:xfrm>
          <a:prstGeom prst="roundRect">
            <a:avLst>
              <a:gd fmla="val 50000" name="adj"/>
            </a:avLst>
          </a:prstGeom>
          <a:solidFill>
            <a:schemeClr val="dk2">
              <a:alpha val="100000"/>
            </a:schemeClr>
          </a:solidFill>
          <a:ln w="12700">
            <a:solidFill>
              <a:schemeClr val="accen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34" name="AutoShape 34"/>
          <p:cNvSpPr/>
          <p:nvPr/>
        </p:nvSpPr>
        <p:spPr>
          <a:xfrm rot="0">
            <a:off x="1328697" y="3282984"/>
            <a:ext cx="625995" cy="155381"/>
          </a:xfrm>
          <a:prstGeom prst="rect">
            <a:avLst/>
          </a:prstGeom>
          <a:noFill/>
          <a:ln/>
        </p:spPr>
        <p:txBody>
          <a:bodyPr anchor="t" anchorCtr="0" bIns="0" lIns="0" rIns="0" rtlCol="0" tIns="0" vert="horz" wrap="square">
            <a:noAutofit/>
          </a:bodyPr>
          <a:lstStyle/>
          <a:p>
            <a:pPr algn="ctr">
              <a:lnSpc>
                <a:spcPct val="100000"/>
              </a:lnSpc>
              <a:spcBef>
                <a:spcPct val="0"/>
              </a:spcBef>
              <a:defRPr/>
            </a:pPr>
            <a:r>
              <a:rPr lang="en-US" sz="999">
                <a:solidFill>
                  <a:schemeClr val="lt1">
                    <a:alpha val="100000"/>
                  </a:schemeClr>
                </a:solidFill>
                <a:latin typeface="Noto Sans SC"/>
                <a:ea typeface="Noto Sans SC"/>
                <a:cs typeface="Noto Sans SC"/>
              </a:rPr>
              <a:t>数据分析</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cxnSp>
        <p:nvCxnSpPr>
          <p:cNvPr id="35" name="Connector 35"/>
          <p:cNvCxnSpPr/>
          <p:nvPr/>
        </p:nvCxnSpPr>
        <p:spPr>
          <a:xfrm>
            <a:off x="3349075" y="3143411"/>
            <a:ext cx="286876" cy="0"/>
          </a:xfrm>
          <a:prstGeom prst="line">
            <a:avLst/>
          </a:prstGeom>
          <a:ln w="34925">
            <a:solidFill>
              <a:schemeClr val="accent1"/>
            </a:solidFill>
            <a:prstDash val="solid"/>
            <a:headEnd type="none"/>
            <a:tailEnd type="triangl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sp>
        <p:nvSpPr>
          <p:cNvPr id="36" name="AutoShape 36"/>
          <p:cNvSpPr/>
          <p:nvPr/>
        </p:nvSpPr>
        <p:spPr>
          <a:xfrm rot="0">
            <a:off x="5212070" y="2242198"/>
            <a:ext cx="1767862" cy="1767862"/>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37" name="AutoShape 37"/>
          <p:cNvSpPr/>
          <p:nvPr/>
        </p:nvSpPr>
        <p:spPr>
          <a:xfrm rot="0">
            <a:off x="5334745" y="2741678"/>
            <a:ext cx="1519221" cy="316305"/>
          </a:xfrm>
          <a:prstGeom prst="rect">
            <a:avLst/>
          </a:prstGeom>
          <a:noFill/>
          <a:ln/>
        </p:spPr>
        <p:txBody>
          <a:bodyPr anchor="t" anchorCtr="0" bIns="0" lIns="0" rIns="0" rtlCol="0" tIns="0" vert="horz" wrap="square">
            <a:noAutofit/>
          </a:bodyPr>
          <a:lstStyle/>
          <a:p>
            <a:pPr algn="ctr">
              <a:lnSpc>
                <a:spcPct val="120000"/>
              </a:lnSpc>
              <a:spcBef>
                <a:spcPct val="0"/>
              </a:spcBef>
              <a:defRPr/>
            </a:pPr>
            <a:r>
              <a:rPr lang="en-US" sz="1800">
                <a:solidFill>
                  <a:srgbClr val="FFFFFF">
                    <a:alpha val="100000"/>
                  </a:srgbClr>
                </a:solidFill>
                <a:latin typeface="Noto Sans SC"/>
                <a:ea typeface="Noto Sans SC"/>
                <a:cs typeface="Noto Sans SC"/>
              </a:rPr>
              <a:t>社区协作</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38" name="TextBox 38"/>
          <p:cNvSpPr txBox="1"/>
          <p:nvPr/>
        </p:nvSpPr>
        <p:spPr>
          <a:xfrm rot="0">
            <a:off x="5265311" y="3105600"/>
            <a:ext cx="1680580" cy="190500"/>
          </a:xfrm>
          <a:prstGeom prst="rect">
            <a:avLst/>
          </a:prstGeom>
          <a:noFill/>
          <a:ln/>
        </p:spPr>
        <p:txBody>
          <a:bodyPr anchor="t" anchorCtr="0" bIns="0" lIns="0" rIns="0" rtlCol="0" tIns="0" vert="horz" wrap="square">
            <a:spAutoFit/>
          </a:bodyPr>
          <a:lstStyle/>
          <a:p>
            <a:pPr algn="ctr">
              <a:lnSpc>
                <a:spcPct val="120000"/>
              </a:lnSpc>
              <a:spcBef>
                <a:spcPct val="0"/>
              </a:spcBef>
            </a:pPr>
            <a:r>
              <a:rPr lang="en-US" sz="999">
                <a:solidFill>
                  <a:srgbClr val="FFFEFE">
                    <a:alpha val="100000"/>
                  </a:srgbClr>
                </a:solidFill>
                <a:latin typeface="Noto Sans SC"/>
                <a:ea typeface="Noto Sans SC"/>
                <a:cs typeface="Noto Sans SC"/>
              </a:rPr>
              <a:t>精准激励</a:t>
            </a:r>
          </a:p>
        </p:txBody>
        <p:extLst>
          <p:ext uri="http://schemas.baidu.com/office/drawing/2023/templateData">
            <bd:templateData xmlns:bd="http://schemas.baidu.com/office/drawing/2023/templateData">eyJfdGVtcGxhdGVEYXRhIjp7ImxpbmVDb3VudCI6IjEiLCJ3b3JkQ291bnQiOiI4In0sInRhZyI6Im5vRWRpdCJ9</bd:templateData>
          </p:ext>
        </p:extLst>
      </p:sp>
      <p:sp>
        <p:nvSpPr>
          <p:cNvPr id="39" name="TextBox 39"/>
          <p:cNvSpPr txBox="1"/>
          <p:nvPr/>
        </p:nvSpPr>
        <p:spPr>
          <a:xfrm rot="0">
            <a:off x="5265311" y="3326600"/>
            <a:ext cx="1714621" cy="190500"/>
          </a:xfrm>
          <a:prstGeom prst="rect">
            <a:avLst/>
          </a:prstGeom>
          <a:noFill/>
          <a:ln/>
        </p:spPr>
        <p:txBody>
          <a:bodyPr anchor="t" anchorCtr="0" bIns="0" lIns="0" rIns="0" rtlCol="0" tIns="0" vert="horz" wrap="square">
            <a:spAutoFit/>
          </a:bodyPr>
          <a:lstStyle/>
          <a:p>
            <a:pPr algn="ctr">
              <a:lnSpc>
                <a:spcPct val="120000"/>
              </a:lnSpc>
              <a:spcBef>
                <a:spcPct val="0"/>
              </a:spcBef>
            </a:pPr>
            <a:r>
              <a:rPr lang="en-US" sz="999">
                <a:solidFill>
                  <a:srgbClr val="FFFDFD">
                    <a:alpha val="100000"/>
                  </a:srgbClr>
                </a:solidFill>
                <a:latin typeface="Noto Sans SC"/>
                <a:ea typeface="Noto Sans SC"/>
                <a:cs typeface="Noto Sans SC"/>
              </a:rPr>
              <a:t>创新激励</a:t>
            </a:r>
          </a:p>
        </p:txBody>
        <p:extLst>
          <p:ext uri="http://schemas.baidu.com/office/drawing/2023/templateData">
            <bd:templateData xmlns:bd="http://schemas.baidu.com/office/drawing/2023/templateData">eyJfdGVtcGxhdGVEYXRhIjp7ImxpbmVDb3VudCI6IjEiLCJ3b3JkQ291bnQiOiI4In0sInRhZyI6Im5vRWRpdCJ9</bd:templateData>
          </p:ext>
        </p:extLst>
      </p:sp>
      <p:sp>
        <p:nvSpPr>
          <p:cNvPr id="40" name="TextBox 40"/>
          <p:cNvSpPr txBox="1"/>
          <p:nvPr/>
        </p:nvSpPr>
        <p:spPr>
          <a:xfrm rot="0">
            <a:off x="2688241" y="1444093"/>
            <a:ext cx="3427880" cy="247650"/>
          </a:xfrm>
          <a:prstGeom prst="rect">
            <a:avLst/>
          </a:prstGeom>
          <a:noFill/>
          <a:ln/>
        </p:spPr>
        <p:txBody>
          <a:bodyPr anchor="t" anchorCtr="0" bIns="0" lIns="0" rIns="0" rtlCol="0" tIns="0" vert="horz" wrap="square">
            <a:spAutoFit/>
          </a:bodyPr>
          <a:lstStyle/>
          <a:p>
            <a:pPr algn="r">
              <a:lnSpc>
                <a:spcPct val="120000"/>
              </a:lnSpc>
              <a:spcBef>
                <a:spcPct val="0"/>
              </a:spcBef>
            </a:pPr>
            <a:r>
              <a:rPr lang="en-US" sz="1299">
                <a:solidFill>
                  <a:srgbClr val="FFFFFF">
                    <a:alpha val="100000"/>
                  </a:srgbClr>
                </a:solidFill>
                <a:latin typeface="Noto Sans SC"/>
                <a:ea typeface="Noto Sans SC"/>
                <a:cs typeface="Noto Sans SC"/>
              </a:rPr>
              <a:t>开发者影响力评估</a:t>
            </a:r>
          </a:p>
        </p:txBody>
        <p:extLst>
          <p:ext uri="http://schemas.baidu.com/office/drawing/2023/templateData">
            <bd:templateData xmlns:bd="http://schemas.baidu.com/office/drawing/2023/templateData">eyJfdGVtcGxhdGVEYXRhIjp7ImxpbmVDb3VudCI6IjEiLCJ3b3JkQ291bnQiOiI3In0sInRhZyI6Im5vRWRpdCJ9</bd:templateData>
          </p:ext>
        </p:extLst>
      </p:sp>
      <p:sp>
        <p:nvSpPr>
          <p:cNvPr id="41" name="TextBox 41"/>
          <p:cNvSpPr txBox="1"/>
          <p:nvPr/>
        </p:nvSpPr>
        <p:spPr>
          <a:xfrm rot="0">
            <a:off x="6079045" y="4565156"/>
            <a:ext cx="4056196" cy="247650"/>
          </a:xfrm>
          <a:prstGeom prst="rect">
            <a:avLst/>
          </a:prstGeom>
          <a:noFill/>
          <a:ln/>
        </p:spPr>
        <p:txBody>
          <a:bodyPr anchor="t" anchorCtr="0" bIns="0" lIns="0" rIns="0" rtlCol="0" tIns="0" vert="horz" wrap="square">
            <a:spAutoFit/>
          </a:bodyPr>
          <a:lstStyle/>
          <a:p>
            <a:pPr algn="l">
              <a:lnSpc>
                <a:spcPct val="120000"/>
              </a:lnSpc>
              <a:spcBef>
                <a:spcPct val="0"/>
              </a:spcBef>
            </a:pPr>
            <a:r>
              <a:rPr lang="en-US" sz="1299">
                <a:solidFill>
                  <a:srgbClr val="FFFFFF">
                    <a:alpha val="100000"/>
                  </a:srgbClr>
                </a:solidFill>
                <a:latin typeface="Noto Sans SC"/>
                <a:ea typeface="Noto Sans SC"/>
                <a:cs typeface="Noto Sans SC"/>
              </a:rPr>
              <a:t>社区品牌建设</a:t>
            </a:r>
          </a:p>
        </p:txBody>
        <p:extLst>
          <p:ext uri="http://schemas.baidu.com/office/drawing/2023/templateData">
            <bd:templateData xmlns:bd="http://schemas.baidu.com/office/drawing/2023/templateData">eyJfdGVtcGxhdGVEYXRhIjp7ImxpbmVDb3VudCI6IjEiLCJ3b3JkQ291bnQiOiI4In0sInRhZyI6Im5vRWRpdCJ9</bd:templateData>
          </p:ext>
        </p:extLst>
      </p:sp>
      <p:sp>
        <p:nvSpPr>
          <p:cNvPr id="42" name="AutoShape 42"/>
          <p:cNvSpPr/>
          <p:nvPr/>
        </p:nvSpPr>
        <p:spPr>
          <a:xfrm rot="0">
            <a:off x="6945891" y="2979467"/>
            <a:ext cx="465305" cy="327889"/>
          </a:xfrm>
          <a:prstGeom prst="rightArrow">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43" name="AutoShape 43"/>
          <p:cNvSpPr/>
          <p:nvPr/>
        </p:nvSpPr>
        <p:spPr>
          <a:xfrm rot="10800000">
            <a:off x="4780807" y="2979467"/>
            <a:ext cx="465305" cy="327889"/>
          </a:xfrm>
          <a:prstGeom prst="rightArrow">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cxnSp>
        <p:nvCxnSpPr>
          <p:cNvPr id="44" name="Connector 44"/>
          <p:cNvCxnSpPr/>
          <p:nvPr/>
        </p:nvCxnSpPr>
        <p:spPr>
          <a:xfrm flipH="1">
            <a:off x="8537642" y="3143411"/>
            <a:ext cx="286876" cy="0"/>
          </a:xfrm>
          <a:prstGeom prst="line">
            <a:avLst/>
          </a:prstGeom>
          <a:ln w="34925">
            <a:solidFill>
              <a:schemeClr val="accent1"/>
            </a:solidFill>
            <a:prstDash val="solid"/>
            <a:headEnd type="none"/>
            <a:tailEnd type="triangl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sp>
        <p:nvSpPr>
          <p:cNvPr id="45" name="AutoShape 45"/>
          <p:cNvSpPr/>
          <p:nvPr/>
        </p:nvSpPr>
        <p:spPr>
          <a:xfrm rot="0">
            <a:off x="1483936" y="5351942"/>
            <a:ext cx="9160630" cy="1036393"/>
          </a:xfrm>
          <a:prstGeom prst="roundRect">
            <a:avLst>
              <a:gd fmla="val 50000"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46" name="TextBox 46"/>
          <p:cNvSpPr txBox="1"/>
          <p:nvPr/>
        </p:nvSpPr>
        <p:spPr>
          <a:xfrm rot="0">
            <a:off x="2831119" y="5566635"/>
            <a:ext cx="1630680" cy="615315"/>
          </a:xfrm>
          <a:prstGeom prst="rect">
            <a:avLst/>
          </a:prstGeom>
          <a:noFill/>
          <a:ln/>
        </p:spPr>
        <p:txBody>
          <a:bodyPr anchor="ctr" anchorCtr="0" bIns="45720" lIns="91440" rIns="91440" rtlCol="0" tIns="45720" vert="horz" wrap="square">
            <a:spAutoFit/>
          </a:bodyPr>
          <a:lstStyle/>
          <a:p>
            <a:pPr algn="just">
              <a:lnSpc>
                <a:spcPct val="110000"/>
              </a:lnSpc>
              <a:spcBef>
                <a:spcPct val="0"/>
              </a:spcBef>
            </a:pPr>
            <a:r>
              <a:rPr lang="en-US" sz="999">
                <a:solidFill>
                  <a:schemeClr val="dk1">
                    <a:alpha val="100000"/>
                  </a:schemeClr>
                </a:solidFill>
                <a:latin typeface="Noto Sans SC"/>
                <a:ea typeface="Noto Sans SC"/>
                <a:cs typeface="Noto Sans SC"/>
              </a:rPr>
              <a:t>提升可见度</a:t>
            </a:r>
          </a:p>
        </p:txBody>
        <p:extLst>
          <p:ext uri="http://schemas.baidu.com/office/drawing/2023/templateData">
            <bd:templateData xmlns:bd="http://schemas.baidu.com/office/drawing/2023/templateData">eyJfdGVtcGxhdGVEYXRhIjp7ImxpbmVDb3VudCI6IjMiLCJ3b3JkQ291bnQiOiIxMCJ9LCJ0YWciOiJub0VkaXQifQ==</bd:templateData>
          </p:ext>
        </p:extLst>
      </p:sp>
      <p:sp>
        <p:nvSpPr>
          <p:cNvPr id="47" name="AutoShape 47"/>
          <p:cNvSpPr/>
          <p:nvPr/>
        </p:nvSpPr>
        <p:spPr>
          <a:xfrm rot="0">
            <a:off x="4912805" y="5596318"/>
            <a:ext cx="547688" cy="547688"/>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48" name="AutoShape 48"/>
          <p:cNvSpPr/>
          <p:nvPr/>
        </p:nvSpPr>
        <p:spPr>
          <a:xfrm rot="0">
            <a:off x="7589425" y="5596318"/>
            <a:ext cx="547688" cy="547688"/>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49" name="AutoShape 49"/>
          <p:cNvSpPr/>
          <p:nvPr/>
        </p:nvSpPr>
        <p:spPr>
          <a:xfrm rot="0">
            <a:off x="2265712" y="5596318"/>
            <a:ext cx="547688" cy="547688"/>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50" name="Freeform 50"/>
          <p:cNvSpPr/>
          <p:nvPr/>
        </p:nvSpPr>
        <p:spPr>
          <a:xfrm rot="0">
            <a:off x="2402586" y="5707380"/>
            <a:ext cx="285655" cy="340043"/>
          </a:xfrm>
          <a:custGeom>
            <a:avLst/>
            <a:gdLst/>
            <a:ahLst/>
            <a:cxnLst/>
            <a:rect b="b" l="l" r="r" t="t"/>
            <a:pathLst>
              <a:path h="478" w="401">
                <a:moveTo>
                  <a:pt x="401" y="89"/>
                </a:moveTo>
                <a:lnTo>
                  <a:pt x="401" y="293"/>
                </a:lnTo>
                <a:cubicBezTo>
                  <a:pt x="292" y="212"/>
                  <a:pt x="182" y="375"/>
                  <a:pt x="73" y="293"/>
                </a:cubicBezTo>
                <a:lnTo>
                  <a:pt x="73" y="89"/>
                </a:lnTo>
                <a:cubicBezTo>
                  <a:pt x="182" y="171"/>
                  <a:pt x="292" y="7"/>
                  <a:pt x="401" y="89"/>
                </a:cubicBezTo>
                <a:close/>
              </a:path>
              <a:path h="478" w="401">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51" name="TextBox 51"/>
          <p:cNvSpPr txBox="1"/>
          <p:nvPr/>
        </p:nvSpPr>
        <p:spPr>
          <a:xfrm rot="0">
            <a:off x="5476142" y="5566635"/>
            <a:ext cx="1630680" cy="615315"/>
          </a:xfrm>
          <a:prstGeom prst="rect">
            <a:avLst/>
          </a:prstGeom>
          <a:noFill/>
          <a:ln/>
        </p:spPr>
        <p:txBody>
          <a:bodyPr anchor="ctr" anchorCtr="0" bIns="45720" lIns="91440" rIns="91440" rtlCol="0" tIns="45720" vert="horz" wrap="square">
            <a:spAutoFit/>
          </a:bodyPr>
          <a:lstStyle/>
          <a:p>
            <a:pPr algn="just">
              <a:lnSpc>
                <a:spcPct val="110000"/>
              </a:lnSpc>
              <a:spcBef>
                <a:spcPct val="0"/>
              </a:spcBef>
            </a:pPr>
            <a:r>
              <a:rPr lang="en-US" sz="999">
                <a:solidFill>
                  <a:schemeClr val="dk1">
                    <a:alpha val="100000"/>
                  </a:schemeClr>
                </a:solidFill>
                <a:latin typeface="Noto Sans SC"/>
                <a:ea typeface="Noto Sans SC"/>
                <a:cs typeface="Noto Sans SC"/>
              </a:rPr>
              <a:t>优化效益</a:t>
            </a:r>
          </a:p>
        </p:txBody>
        <p:extLst>
          <p:ext uri="http://schemas.baidu.com/office/drawing/2023/templateData">
            <bd:templateData xmlns:bd="http://schemas.baidu.com/office/drawing/2023/templateData">eyJfdGVtcGxhdGVEYXRhIjp7ImxpbmVDb3VudCI6IjMiLCJ3b3JkQ291bnQiOiIxMCJ9LCJ0YWciOiJub0VkaXQifQ==</bd:templateData>
          </p:ext>
        </p:extLst>
      </p:sp>
      <p:sp>
        <p:nvSpPr>
          <p:cNvPr id="52" name="TextBox 52"/>
          <p:cNvSpPr txBox="1"/>
          <p:nvPr/>
        </p:nvSpPr>
        <p:spPr>
          <a:xfrm rot="0">
            <a:off x="8154848" y="5566635"/>
            <a:ext cx="1630680" cy="615315"/>
          </a:xfrm>
          <a:prstGeom prst="rect">
            <a:avLst/>
          </a:prstGeom>
          <a:noFill/>
          <a:ln/>
        </p:spPr>
        <p:txBody>
          <a:bodyPr anchor="ctr" anchorCtr="0" bIns="45720" lIns="91440" rIns="91440" rtlCol="0" tIns="45720" vert="horz" wrap="square">
            <a:spAutoFit/>
          </a:bodyPr>
          <a:lstStyle/>
          <a:p>
            <a:pPr algn="just">
              <a:lnSpc>
                <a:spcPct val="110000"/>
              </a:lnSpc>
              <a:spcBef>
                <a:spcPct val="0"/>
              </a:spcBef>
            </a:pPr>
            <a:r>
              <a:rPr lang="en-US" sz="999">
                <a:solidFill>
                  <a:schemeClr val="dk1">
                    <a:alpha val="100000"/>
                  </a:schemeClr>
                </a:solidFill>
                <a:latin typeface="Noto Sans SC"/>
                <a:ea typeface="Noto Sans SC"/>
                <a:cs typeface="Noto Sans SC"/>
              </a:rPr>
              <a:t>增强吸引力</a:t>
            </a:r>
          </a:p>
        </p:txBody>
        <p:extLst>
          <p:ext uri="http://schemas.baidu.com/office/drawing/2023/templateData">
            <bd:templateData xmlns:bd="http://schemas.baidu.com/office/drawing/2023/templateData">eyJfdGVtcGxhdGVEYXRhIjp7ImxpbmVDb3VudCI6IjMiLCJ3b3JkQ291bnQiOiIxMCJ9LCJ0YWciOiJub0VkaXQifQ==</bd:templateData>
          </p:ext>
        </p:extLst>
      </p:sp>
      <p:sp>
        <p:nvSpPr>
          <p:cNvPr id="53" name="Freeform 53"/>
          <p:cNvSpPr/>
          <p:nvPr/>
        </p:nvSpPr>
        <p:spPr>
          <a:xfrm flipH="1" rot="0">
            <a:off x="4554021" y="5588496"/>
            <a:ext cx="104644" cy="563284"/>
          </a:xfrm>
          <a:custGeom>
            <a:avLst/>
            <a:gdLst/>
            <a:ahLst/>
            <a:cxnLst/>
            <a:rect b="b" l="l" r="r" t="t"/>
            <a:pathLst>
              <a:path h="225425" w="6350">
                <a:moveTo>
                  <a:pt x="0" y="0"/>
                </a:moveTo>
                <a:lnTo>
                  <a:pt x="0" y="225425"/>
                </a:lnTo>
              </a:path>
            </a:pathLst>
          </a:custGeom>
          <a:noFill/>
          <a:ln w="12700">
            <a:solidFill>
              <a:srgbClr val="747993">
                <a:alpha val="100000"/>
              </a:srgbClr>
            </a:solidFill>
            <a:prstDash val="solid"/>
          </a:ln>
        </p:spPr>
        <p:extLst>
          <p:ext uri="http://schemas.baidu.com/office/drawing/2023/templateData">
            <bd:templateData xmlns:bd="http://schemas.baidu.com/office/drawing/2023/templateData">eyJ0YWciOiJub0VkaXQifQ==</bd:templateData>
          </p:ext>
        </p:extLst>
      </p:sp>
      <p:sp>
        <p:nvSpPr>
          <p:cNvPr id="54" name="Freeform 54"/>
          <p:cNvSpPr/>
          <p:nvPr/>
        </p:nvSpPr>
        <p:spPr>
          <a:xfrm flipH="1" rot="0">
            <a:off x="7220036" y="5588496"/>
            <a:ext cx="104644" cy="563284"/>
          </a:xfrm>
          <a:custGeom>
            <a:avLst/>
            <a:gdLst/>
            <a:ahLst/>
            <a:cxnLst/>
            <a:rect b="b" l="l" r="r" t="t"/>
            <a:pathLst>
              <a:path h="225425" w="6350">
                <a:moveTo>
                  <a:pt x="0" y="0"/>
                </a:moveTo>
                <a:lnTo>
                  <a:pt x="0" y="225425"/>
                </a:lnTo>
              </a:path>
            </a:pathLst>
          </a:custGeom>
          <a:noFill/>
          <a:ln w="12700">
            <a:solidFill>
              <a:srgbClr val="747993">
                <a:alpha val="100000"/>
              </a:srgbClr>
            </a:solidFill>
            <a:prstDash val="solid"/>
          </a:ln>
        </p:spPr>
        <p:extLst>
          <p:ext uri="http://schemas.baidu.com/office/drawing/2023/templateData">
            <bd:templateData xmlns:bd="http://schemas.baidu.com/office/drawing/2023/templateData">eyJ0YWciOiJub0VkaXQifQ==</bd:templateData>
          </p:ext>
        </p:extLst>
      </p:sp>
      <p:sp>
        <p:nvSpPr>
          <p:cNvPr id="55" name="AutoShape 55"/>
          <p:cNvSpPr/>
          <p:nvPr/>
        </p:nvSpPr>
        <p:spPr>
          <a:xfrm rot="0">
            <a:off x="2402586" y="2875592"/>
            <a:ext cx="790839" cy="562773"/>
          </a:xfrm>
          <a:prstGeom prst="rect">
            <a:avLst/>
          </a:prstGeom>
          <a:noFill/>
          <a:ln/>
        </p:spPr>
        <p:txBody>
          <a:bodyPr anchor="ctr" anchorCtr="0" bIns="0" lIns="0" rIns="0" rtlCol="0" tIns="0" vert="horz" wrap="square">
            <a:noAutofit/>
          </a:bodyPr>
          <a:lstStyle/>
          <a:p>
            <a:pPr algn="ctr">
              <a:lnSpc>
                <a:spcPct val="120000"/>
              </a:lnSpc>
              <a:spcBef>
                <a:spcPct val="0"/>
              </a:spcBef>
              <a:defRPr/>
            </a:pPr>
            <a:r>
              <a:rPr lang="en-US" sz="1200">
                <a:solidFill>
                  <a:srgbClr val="FDFCFC">
                    <a:alpha val="100000"/>
                  </a:srgbClr>
                </a:solidFill>
                <a:latin typeface="Noto Sans SC"/>
                <a:ea typeface="Noto Sans SC"/>
                <a:cs typeface="Noto Sans SC"/>
              </a:rPr>
              <a:t>激励策略</a:t>
            </a:r>
            <a:endParaRPr lang="en-US" sz="1100"/>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56" name="TextBox 56"/>
          <p:cNvSpPr txBox="1"/>
          <p:nvPr/>
        </p:nvSpPr>
        <p:spPr>
          <a:xfrm rot="0">
            <a:off x="349788" y="-1786001"/>
            <a:ext cx="11239500" cy="914400"/>
          </a:xfrm>
          <a:prstGeom prst="rect">
            <a:avLst/>
          </a:prstGeom>
          <a:ln/>
        </p:spPr>
        <p:txBody>
          <a:bodyPr anchor="ctr" anchorCtr="0" bIns="123825" lIns="123825" rIns="57150" rtlCol="0" tIns="123825" vert="horz" wrap="square">
            <a:noAutofit/>
          </a:bodyPr>
          <a:lstStyle/>
          <a:p>
            <a:pPr>
              <a:lnSpc>
                <a:spcPct val="100000"/>
              </a:lnSpc>
              <a:spcBef>
                <a:spcPts val="375"/>
              </a:spcBef>
            </a:pPr>
            <a:r>
              <a:rPr lang="en-US" sz="900">
                <a:solidFill>
                  <a:srgbClr val="152815">
                    <a:alpha val="100000"/>
                  </a:srgbClr>
                </a:solidFill>
                <a:latin typeface="Noto Sans SC"/>
                <a:ea typeface="Noto Sans SC"/>
                <a:cs typeface="Noto Sans SC"/>
              </a:rPr>
              <a:t/>
            </a:r>
          </a:p>
        </p:txBody>
        <p:extLst>
          <p:ext uri="http://schemas.baidu.com/office/drawing/2023/templateData">
            <bd:templateData xmlns:bd="http://schemas.baidu.com/office/drawing/2023/templateData">eyJfdGVtcGxhdGVEYXRhIjp7ImNvbnRlbnRUeXBlIjoiJHRpdGxlIiwibGluZUNvdW50IjoiNCIsIndvcmRDb3VudCI6Ijk1In0sInRhZyI6Im5vRWRpdCJ9</bd:templateData>
          </p:ext>
        </p:extLst>
      </p:sp>
      <p:sp>
        <p:nvSpPr>
          <p:cNvPr id="57" name="AutoShape 57"/>
          <p:cNvSpPr/>
          <p:nvPr/>
        </p:nvSpPr>
        <p:spPr>
          <a:xfrm rot="0">
            <a:off x="8907152" y="2927198"/>
            <a:ext cx="963046" cy="432426"/>
          </a:xfrm>
          <a:prstGeom prst="rect">
            <a:avLst/>
          </a:prstGeom>
          <a:noFill/>
          <a:ln/>
        </p:spPr>
        <p:txBody>
          <a:bodyPr anchor="ctr" anchorCtr="0" bIns="0" lIns="0" rIns="0" rtlCol="0" tIns="0" vert="horz" wrap="square">
            <a:noAutofit/>
          </a:bodyPr>
          <a:lstStyle/>
          <a:p>
            <a:pPr algn="ctr">
              <a:lnSpc>
                <a:spcPct val="120000"/>
              </a:lnSpc>
              <a:spcBef>
                <a:spcPct val="0"/>
              </a:spcBef>
              <a:defRPr/>
            </a:pPr>
            <a:r>
              <a:rPr lang="en-US" sz="1200">
                <a:solidFill>
                  <a:srgbClr val="FDFCFC">
                    <a:alpha val="100000"/>
                  </a:srgbClr>
                </a:solidFill>
                <a:latin typeface="Noto Sans SC"/>
                <a:ea typeface="Noto Sans SC"/>
                <a:cs typeface="Noto Sans SC"/>
              </a:rPr>
              <a:t>流程设计</a:t>
            </a:r>
            <a:endParaRPr lang="en-US" sz="1100"/>
          </a:p>
        </p:txBody>
        <p:extLst>
          <p:ext uri="http://schemas.baidu.com/office/drawing/2023/templateData">
            <bd:templateData xmlns:bd="http://schemas.baidu.com/office/drawing/2023/templateData">eyJ0YWciOiJub0VkaXQifQ==</bd:templateData>
          </p:ext>
        </p:extLst>
      </p:sp>
      <p:sp>
        <p:nvSpPr>
          <p:cNvPr id="58" name="Freeform 58"/>
          <p:cNvSpPr/>
          <p:nvPr/>
        </p:nvSpPr>
        <p:spPr>
          <a:xfrm rot="0">
            <a:off x="5036995" y="5721505"/>
            <a:ext cx="297749" cy="297749"/>
          </a:xfrm>
          <a:custGeom>
            <a:avLst/>
            <a:gdLst/>
            <a:ahLst/>
            <a:cxnLst/>
            <a:rect b="b" l="l" r="r" t="t"/>
            <a:pathLst>
              <a:path h="304800" w="304800">
                <a:moveTo>
                  <a:pt x="147409" y="185366"/>
                </a:moveTo>
                <a:lnTo>
                  <a:pt x="66913" y="266338"/>
                </a:lnTo>
                <a:lnTo>
                  <a:pt x="66913" y="47987"/>
                </a:lnTo>
                <a:lnTo>
                  <a:pt x="228371" y="47987"/>
                </a:lnTo>
                <a:lnTo>
                  <a:pt x="228371" y="266338"/>
                </a:lnTo>
                <a:lnTo>
                  <a:pt x="147409" y="185366"/>
                </a:lnTo>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59" name="Freeform 59"/>
          <p:cNvSpPr/>
          <p:nvPr/>
        </p:nvSpPr>
        <p:spPr>
          <a:xfrm rot="0">
            <a:off x="7707638" y="5749597"/>
            <a:ext cx="312757" cy="241082"/>
          </a:xfrm>
          <a:custGeom>
            <a:avLst/>
            <a:gdLst/>
            <a:ahLst/>
            <a:cxnLst/>
            <a:rect b="b" l="l" r="r" t="t"/>
            <a:pathLst>
              <a:path h="304800" w="304800">
                <a:moveTo>
                  <a:pt x="261518" y="97841"/>
                </a:moveTo>
                <a:cubicBezTo>
                  <a:pt x="249460" y="74143"/>
                  <a:pt x="230657" y="55340"/>
                  <a:pt x="207655" y="43605"/>
                </a:cubicBezTo>
                <a:lnTo>
                  <a:pt x="206959" y="43282"/>
                </a:lnTo>
                <a:lnTo>
                  <a:pt x="186538" y="84277"/>
                </a:lnTo>
                <a:cubicBezTo>
                  <a:pt x="201292" y="91802"/>
                  <a:pt x="212998" y="103508"/>
                  <a:pt x="220323" y="117834"/>
                </a:cubicBezTo>
                <a:lnTo>
                  <a:pt x="220523" y="118262"/>
                </a:lnTo>
                <a:lnTo>
                  <a:pt x="261518" y="97841"/>
                </a:lnTo>
                <a:close/>
                <a:moveTo>
                  <a:pt x="261518" y="206959"/>
                </a:moveTo>
                <a:lnTo>
                  <a:pt x="220523" y="186538"/>
                </a:lnTo>
                <a:cubicBezTo>
                  <a:pt x="212998" y="201292"/>
                  <a:pt x="201292" y="212998"/>
                  <a:pt x="186966" y="220323"/>
                </a:cubicBezTo>
                <a:lnTo>
                  <a:pt x="186538" y="220523"/>
                </a:lnTo>
                <a:lnTo>
                  <a:pt x="206959" y="261518"/>
                </a:lnTo>
                <a:cubicBezTo>
                  <a:pt x="230657" y="249460"/>
                  <a:pt x="249460" y="230657"/>
                  <a:pt x="261195" y="207655"/>
                </a:cubicBezTo>
                <a:lnTo>
                  <a:pt x="261518" y="206959"/>
                </a:lnTo>
                <a:close/>
                <a:moveTo>
                  <a:pt x="97841" y="43282"/>
                </a:moveTo>
                <a:cubicBezTo>
                  <a:pt x="74143" y="55340"/>
                  <a:pt x="55340" y="74143"/>
                  <a:pt x="43605" y="97145"/>
                </a:cubicBezTo>
                <a:lnTo>
                  <a:pt x="43282" y="97841"/>
                </a:lnTo>
                <a:lnTo>
                  <a:pt x="84277" y="118262"/>
                </a:lnTo>
                <a:cubicBezTo>
                  <a:pt x="91802" y="103508"/>
                  <a:pt x="103508" y="91802"/>
                  <a:pt x="117834" y="84477"/>
                </a:cubicBezTo>
                <a:lnTo>
                  <a:pt x="118262" y="84277"/>
                </a:lnTo>
                <a:lnTo>
                  <a:pt x="97841" y="43282"/>
                </a:lnTo>
                <a:close/>
                <a:moveTo>
                  <a:pt x="43282" y="206959"/>
                </a:moveTo>
                <a:cubicBezTo>
                  <a:pt x="55340" y="230657"/>
                  <a:pt x="74143" y="249460"/>
                  <a:pt x="97145" y="261195"/>
                </a:cubicBezTo>
                <a:lnTo>
                  <a:pt x="97841" y="261518"/>
                </a:lnTo>
                <a:lnTo>
                  <a:pt x="118262" y="220523"/>
                </a:lnTo>
                <a:cubicBezTo>
                  <a:pt x="103508" y="212998"/>
                  <a:pt x="91802" y="201292"/>
                  <a:pt x="84477" y="186966"/>
                </a:cubicBezTo>
                <a:lnTo>
                  <a:pt x="84277" y="186538"/>
                </a:lnTo>
                <a:lnTo>
                  <a:pt x="43282" y="206959"/>
                </a:lnTo>
                <a:close/>
                <a:moveTo>
                  <a:pt x="152400" y="304800"/>
                </a:moveTo>
                <a:cubicBezTo>
                  <a:pt x="68228" y="304800"/>
                  <a:pt x="0" y="236572"/>
                  <a:pt x="0" y="152400"/>
                </a:cubicBezTo>
                <a:cubicBezTo>
                  <a:pt x="0" y="68228"/>
                  <a:pt x="68228" y="0"/>
                  <a:pt x="152400" y="0"/>
                </a:cubicBezTo>
                <a:lnTo>
                  <a:pt x="152400" y="0"/>
                </a:lnTo>
                <a:cubicBezTo>
                  <a:pt x="236572" y="0"/>
                  <a:pt x="304800" y="68228"/>
                  <a:pt x="304800" y="152400"/>
                </a:cubicBezTo>
                <a:cubicBezTo>
                  <a:pt x="304800" y="236572"/>
                  <a:pt x="236572" y="304800"/>
                  <a:pt x="152400" y="304800"/>
                </a:cubicBezTo>
                <a:lnTo>
                  <a:pt x="152400" y="304800"/>
                </a:lnTo>
                <a:close/>
                <a:moveTo>
                  <a:pt x="152400" y="198120"/>
                </a:moveTo>
                <a:cubicBezTo>
                  <a:pt x="177651" y="198120"/>
                  <a:pt x="198120" y="177651"/>
                  <a:pt x="198120" y="152400"/>
                </a:cubicBezTo>
                <a:cubicBezTo>
                  <a:pt x="198120" y="127149"/>
                  <a:pt x="177651" y="106680"/>
                  <a:pt x="152400" y="106680"/>
                </a:cubicBezTo>
                <a:lnTo>
                  <a:pt x="152400" y="106680"/>
                </a:lnTo>
                <a:cubicBezTo>
                  <a:pt x="127149" y="106680"/>
                  <a:pt x="106680" y="127149"/>
                  <a:pt x="106680" y="152400"/>
                </a:cubicBezTo>
                <a:cubicBezTo>
                  <a:pt x="106680" y="177651"/>
                  <a:pt x="127149" y="198120"/>
                  <a:pt x="152400" y="198120"/>
                </a:cubicBezTo>
                <a:lnTo>
                  <a:pt x="152400" y="198120"/>
                </a:lnTo>
                <a:close/>
              </a:path>
            </a:pathLst>
          </a:custGeom>
          <a:solidFill>
            <a:srgbClr val="F8F8FB">
              <a:alpha val="100000"/>
            </a:srgbClr>
          </a:solidFill>
          <a:ln/>
        </p:spPr>
        <p:extLst>
          <p:ext uri="http://schemas.baidu.com/office/drawing/2023/templateData">
            <bd:templateData xmlns:bd="http://schemas.baidu.com/office/drawing/2023/templateData">eyJ0YWciOiJub0VkaXQifQ==</bd:templateData>
          </p:ext>
        </p:extLst>
      </p:sp>
      <p:sp>
        <p:nvSpPr>
          <p:cNvPr id="60" name="TextBox 60"/>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实际应用场景</a:t>
            </a:r>
          </a:p>
        </p:txBody>
        <p:extLst>
          <p:ext uri="http://schemas.baidu.com/office/drawing/2023/templateData">
            <bd:templateData xmlns:bd="http://schemas.baidu.com/office/drawing/2023/templateData">eyJfdGVtcGxhdGVEYXRhIjp7ImNvbnRlbnRUeXBlIjoiJHRpdGxlIiwibGluZUNvdW50IjoiMSIsIndvcmRDb3VudCI6IjI4In0sInRhZyI6Im5vRWRpdCJ9</bd:templateData>
          </p:ext>
        </p:extLst>
      </p:sp>
    </p:spTree>
  </p:cSld>
  <p:clrMapOvr>
    <a:masterClrMapping/>
  </p:clrMapOvr>
  <p:extLst>
    <p:ext uri="http://schemas.baidu.com/office/drawing/2023/templateData">
      <bd:templateData xmlns:bd="http://schemas.baidu.com/office/drawing/2023/templateData">eyJtZCI6IiMjIOWIm+aWsOeCueS4juW6lOeUqOS7t+WAvFxuIyMjIOWunumZheW6lOeUqOWcuuaZryIsInRwbGlkIjoiNjgiLCJ0cGxOYW1lIjoidGl0bGVHcmFwaF9wcm8xMyIsImVkaXRlZCI6ImZhbHNlIn0=</bd:templateData>
    </p:ext>
  </p:extLst>
</p:sld>
</file>

<file path=ppt/slides/slide22.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3947160" y="1300388"/>
            <a:ext cx="4297680" cy="1522429"/>
          </a:xfrm>
          <a:prstGeom prst="rect">
            <a:avLst/>
          </a:prstGeom>
          <a:ln/>
        </p:spPr>
        <p:txBody>
          <a:bodyPr anchor="ctr" anchorCtr="0" bIns="45720" lIns="91440" rIns="91440" rtlCol="0" tIns="45720" vert="horz" wrap="square">
            <a:normAutofit/>
          </a:bodyPr>
          <a:lstStyle/>
          <a:p>
            <a:pPr algn="ctr">
              <a:lnSpc>
                <a:spcPct val="100000"/>
              </a:lnSpc>
              <a:spcBef>
                <a:spcPts val="375"/>
              </a:spcBef>
            </a:pPr>
            <a:r>
              <a:rPr b="1" lang="en-US" sz="7050">
                <a:solidFill>
                  <a:srgbClr val="1ACA6E">
                    <a:alpha val="100000"/>
                  </a:srgbClr>
                </a:solidFill>
                <a:latin typeface="Noto Sans SC"/>
                <a:ea typeface="Noto Sans SC"/>
                <a:cs typeface="Noto Sans SC"/>
              </a:rPr>
              <a:t>06</a:t>
            </a:r>
          </a:p>
        </p:txBody>
        <p:extLst>
          <p:ext uri="http://schemas.baidu.com/office/drawing/2023/templateData">
            <bd:templateData xmlns:bd="http://schemas.baidu.com/office/drawing/2023/templateData">eyJfdGVtcGxhdGVEYXRhIjp7ImNvbnRlbnRUeXBlIjoiJG51bWJlciIsImxpbmVDb3VudCI6IjEiLCJ3b3JkQ291bnQiOiIzIn0sInRhZyI6Im5vRWRpdCJ9</bd:templateData>
          </p:ext>
        </p:extLst>
      </p:sp>
      <p:sp>
        <p:nvSpPr>
          <p:cNvPr id="3" name="TextBox 3"/>
          <p:cNvSpPr txBox="1"/>
          <p:nvPr/>
        </p:nvSpPr>
        <p:spPr>
          <a:xfrm rot="0">
            <a:off x="1811474" y="2886383"/>
            <a:ext cx="8569053" cy="2874949"/>
          </a:xfrm>
          <a:prstGeom prst="rect">
            <a:avLst/>
          </a:prstGeom>
          <a:ln/>
        </p:spPr>
        <p:txBody>
          <a:bodyPr anchor="t" anchorCtr="0" bIns="45720" lIns="91440" rIns="91440" rtlCol="0" tIns="45720" vert="horz" wrap="square">
            <a:noAutofit/>
          </a:bodyPr>
          <a:lstStyle/>
          <a:p>
            <a:pPr algn="ctr">
              <a:lnSpc>
                <a:spcPct val="100000"/>
              </a:lnSpc>
              <a:spcBef>
                <a:spcPts val="375"/>
              </a:spcBef>
            </a:pPr>
            <a:r>
              <a:rPr b="1" lang="en-US" sz="5250">
                <a:solidFill>
                  <a:srgbClr val="152815">
                    <a:alpha val="100000"/>
                  </a:srgbClr>
                </a:solidFill>
                <a:latin typeface="Noto Sans SC"/>
                <a:ea typeface="Noto Sans SC"/>
                <a:cs typeface="Noto Sans SC"/>
              </a:rPr>
              <a:t>总结与展望</a:t>
            </a:r>
          </a:p>
        </p:txBody>
        <p:extLst>
          <p:ext uri="http://schemas.baidu.com/office/drawing/2023/templateData">
            <bd:templateData xmlns:bd="http://schemas.baidu.com/office/drawing/2023/templateData">eyJfdGVtcGxhdGVEYXRhIjp7ImNvbnRlbnRUeXBlIjoiJHRpdGxlIiwibGluZUNvdW50IjoiMyIsIndvcmRDb3VudCI6IjExIn0sInRhZyI6IiR0aXRsZSJ9</bd:templateData>
          </p:ext>
        </p:extLst>
      </p:sp>
    </p:spTree>
  </p:cSld>
  <p:clrMapOvr>
    <a:masterClrMapping/>
  </p:clrMapOvr>
  <p:extLst>
    <p:ext uri="http://schemas.baidu.com/office/drawing/2023/templateData">
      <bd:templateData xmlns:bd="http://schemas.baidu.com/office/drawing/2023/templateData">eyJtZCI6IiMjIOaAu+e7k+S4juWxleacmyIsInRwbGlkIjoiNjgiLCJ0cGxOYW1lIjoiaDJ0aXRsZV82OGdsYXNzIiwiZWRpdGVkIjoiZmFsc2UifQ==</bd:templateData>
    </p:ext>
  </p:extLst>
</p:sld>
</file>

<file path=ppt/slides/slide23.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Freeform 2"/>
          <p:cNvSpPr/>
          <p:nvPr/>
        </p:nvSpPr>
        <p:spPr>
          <a:xfrm rot="0">
            <a:off x="4677172" y="2606336"/>
            <a:ext cx="2786856" cy="2786856"/>
          </a:xfrm>
          <a:custGeom>
            <a:avLst/>
            <a:gdLst/>
            <a:ahLst/>
            <a:cxnLst/>
            <a:rect b="b" l="l" r="r" t="t"/>
            <a:pathLst>
              <a:path h="1665731" w="1665731">
                <a:moveTo>
                  <a:pt x="1665732" y="832866"/>
                </a:moveTo>
                <a:cubicBezTo>
                  <a:pt x="1665732" y="1292845"/>
                  <a:pt x="1292845" y="1665732"/>
                  <a:pt x="832866" y="1665732"/>
                </a:cubicBezTo>
                <a:cubicBezTo>
                  <a:pt x="372887" y="1665732"/>
                  <a:pt x="0" y="1292845"/>
                  <a:pt x="0" y="832866"/>
                </a:cubicBezTo>
                <a:cubicBezTo>
                  <a:pt x="0" y="372887"/>
                  <a:pt x="372887" y="0"/>
                  <a:pt x="832866" y="0"/>
                </a:cubicBezTo>
                <a:cubicBezTo>
                  <a:pt x="1292845" y="0"/>
                  <a:pt x="1665732" y="372887"/>
                  <a:pt x="1665732" y="832866"/>
                </a:cubicBezTo>
              </a:path>
            </a:pathLst>
          </a:cu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3" name="AutoShape 3"/>
          <p:cNvSpPr/>
          <p:nvPr/>
        </p:nvSpPr>
        <p:spPr>
          <a:xfrm rot="0">
            <a:off x="2108736" y="1364966"/>
            <a:ext cx="7911028" cy="1036393"/>
          </a:xfrm>
          <a:prstGeom prst="roundRect">
            <a:avLst>
              <a:gd fmla="val 50000" name="adj"/>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4" name="Freeform 4"/>
          <p:cNvSpPr/>
          <p:nvPr/>
        </p:nvSpPr>
        <p:spPr>
          <a:xfrm rot="0">
            <a:off x="7009566" y="2926691"/>
            <a:ext cx="2343984" cy="2343985"/>
          </a:xfrm>
          <a:custGeom>
            <a:avLst/>
            <a:gdLst/>
            <a:ahLst/>
            <a:cxnLst/>
            <a:rect b="b" l="l" r="r" t="t"/>
            <a:pathLst>
              <a:path h="1665731" w="1665731">
                <a:moveTo>
                  <a:pt x="1665732" y="832866"/>
                </a:moveTo>
                <a:cubicBezTo>
                  <a:pt x="1665732" y="1292845"/>
                  <a:pt x="1292845" y="1665732"/>
                  <a:pt x="832866" y="1665732"/>
                </a:cubicBezTo>
                <a:cubicBezTo>
                  <a:pt x="372887" y="1665732"/>
                  <a:pt x="0" y="1292845"/>
                  <a:pt x="0" y="832866"/>
                </a:cubicBezTo>
                <a:cubicBezTo>
                  <a:pt x="0" y="372887"/>
                  <a:pt x="372887" y="0"/>
                  <a:pt x="832866" y="0"/>
                </a:cubicBezTo>
                <a:cubicBezTo>
                  <a:pt x="1292845" y="0"/>
                  <a:pt x="1665732" y="372887"/>
                  <a:pt x="1665732" y="832866"/>
                </a:cubicBezTo>
              </a:path>
            </a:pathLst>
          </a:cu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5" name="Freeform 5"/>
          <p:cNvSpPr/>
          <p:nvPr/>
        </p:nvSpPr>
        <p:spPr>
          <a:xfrm rot="0">
            <a:off x="7159096" y="3076221"/>
            <a:ext cx="2044924" cy="2044924"/>
          </a:xfrm>
          <a:custGeom>
            <a:avLst/>
            <a:gdLst/>
            <a:ahLst/>
            <a:cxnLst/>
            <a:rect b="b" l="l" r="r" t="t"/>
            <a:pathLst>
              <a:path h="2286380" w="2286381">
                <a:moveTo>
                  <a:pt x="2286381" y="1143191"/>
                </a:moveTo>
                <a:cubicBezTo>
                  <a:pt x="2286381" y="1774557"/>
                  <a:pt x="1774557" y="2286381"/>
                  <a:pt x="1143190" y="2286381"/>
                </a:cubicBezTo>
                <a:cubicBezTo>
                  <a:pt x="511823" y="2286381"/>
                  <a:pt x="-1" y="1774557"/>
                  <a:pt x="-1" y="1143191"/>
                </a:cubicBezTo>
                <a:cubicBezTo>
                  <a:pt x="-1" y="511824"/>
                  <a:pt x="511823" y="0"/>
                  <a:pt x="1143190" y="0"/>
                </a:cubicBezTo>
                <a:cubicBezTo>
                  <a:pt x="1774557" y="0"/>
                  <a:pt x="2286381" y="511824"/>
                  <a:pt x="2286381" y="1143191"/>
                </a:cubicBezTo>
              </a:path>
            </a:pathLst>
          </a:cu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6" name="Freeform 6"/>
          <p:cNvSpPr/>
          <p:nvPr/>
        </p:nvSpPr>
        <p:spPr>
          <a:xfrm rot="0">
            <a:off x="2832598" y="2926691"/>
            <a:ext cx="2343984" cy="2343985"/>
          </a:xfrm>
          <a:custGeom>
            <a:avLst/>
            <a:gdLst/>
            <a:ahLst/>
            <a:cxnLst/>
            <a:rect b="b" l="l" r="r" t="t"/>
            <a:pathLst>
              <a:path h="1665731" w="1665731">
                <a:moveTo>
                  <a:pt x="1665732" y="832866"/>
                </a:moveTo>
                <a:cubicBezTo>
                  <a:pt x="1665732" y="1292845"/>
                  <a:pt x="1292845" y="1665732"/>
                  <a:pt x="832866" y="1665732"/>
                </a:cubicBezTo>
                <a:cubicBezTo>
                  <a:pt x="372887" y="1665732"/>
                  <a:pt x="0" y="1292845"/>
                  <a:pt x="0" y="832866"/>
                </a:cubicBezTo>
                <a:cubicBezTo>
                  <a:pt x="0" y="372887"/>
                  <a:pt x="372887" y="0"/>
                  <a:pt x="832866" y="0"/>
                </a:cubicBezTo>
                <a:cubicBezTo>
                  <a:pt x="1292845" y="0"/>
                  <a:pt x="1665732" y="372887"/>
                  <a:pt x="1665732" y="832866"/>
                </a:cubicBezTo>
              </a:path>
            </a:pathLst>
          </a:cu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7" name="Freeform 7"/>
          <p:cNvSpPr/>
          <p:nvPr/>
        </p:nvSpPr>
        <p:spPr>
          <a:xfrm rot="0">
            <a:off x="2982128" y="3076221"/>
            <a:ext cx="2044924" cy="2044924"/>
          </a:xfrm>
          <a:custGeom>
            <a:avLst/>
            <a:gdLst/>
            <a:ahLst/>
            <a:cxnLst/>
            <a:rect b="b" l="l" r="r" t="t"/>
            <a:pathLst>
              <a:path h="2286380" w="2286381">
                <a:moveTo>
                  <a:pt x="2286381" y="1143191"/>
                </a:moveTo>
                <a:cubicBezTo>
                  <a:pt x="2286381" y="1774557"/>
                  <a:pt x="1774557" y="2286381"/>
                  <a:pt x="1143190" y="2286381"/>
                </a:cubicBezTo>
                <a:cubicBezTo>
                  <a:pt x="511823" y="2286381"/>
                  <a:pt x="-1" y="1774557"/>
                  <a:pt x="-1" y="1143191"/>
                </a:cubicBezTo>
                <a:cubicBezTo>
                  <a:pt x="-1" y="511824"/>
                  <a:pt x="511823" y="0"/>
                  <a:pt x="1143190" y="0"/>
                </a:cubicBezTo>
                <a:cubicBezTo>
                  <a:pt x="1774557" y="0"/>
                  <a:pt x="2286381" y="511824"/>
                  <a:pt x="2286381" y="1143191"/>
                </a:cubicBezTo>
              </a:path>
            </a:pathLst>
          </a:cu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8" name="AutoShape 8"/>
          <p:cNvSpPr/>
          <p:nvPr/>
        </p:nvSpPr>
        <p:spPr>
          <a:xfrm rot="0">
            <a:off x="2241550" y="5841389"/>
            <a:ext cx="7658100" cy="419100"/>
          </a:xfrm>
          <a:prstGeom prst="roundRect">
            <a:avLst>
              <a:gd fmla="val 50000"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9" name="AutoShape 9"/>
          <p:cNvSpPr/>
          <p:nvPr/>
        </p:nvSpPr>
        <p:spPr>
          <a:xfrm rot="0">
            <a:off x="10121900" y="3345839"/>
            <a:ext cx="1187450" cy="482600"/>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0" name="AutoShape 10"/>
          <p:cNvSpPr/>
          <p:nvPr/>
        </p:nvSpPr>
        <p:spPr>
          <a:xfrm rot="0">
            <a:off x="838200" y="3345839"/>
            <a:ext cx="1187450" cy="482600"/>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1" name="AutoShape 11"/>
          <p:cNvSpPr/>
          <p:nvPr/>
        </p:nvSpPr>
        <p:spPr>
          <a:xfrm rot="0">
            <a:off x="10121900" y="3923689"/>
            <a:ext cx="1187450" cy="488950"/>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2" name="AutoShape 12"/>
          <p:cNvSpPr/>
          <p:nvPr/>
        </p:nvSpPr>
        <p:spPr>
          <a:xfrm rot="0">
            <a:off x="838200" y="3923689"/>
            <a:ext cx="1187450" cy="488950"/>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3" name="AutoShape 13"/>
          <p:cNvSpPr/>
          <p:nvPr/>
        </p:nvSpPr>
        <p:spPr>
          <a:xfrm rot="0">
            <a:off x="10121900" y="4507889"/>
            <a:ext cx="1187450" cy="482600"/>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4" name="AutoShape 14"/>
          <p:cNvSpPr/>
          <p:nvPr/>
        </p:nvSpPr>
        <p:spPr>
          <a:xfrm rot="0">
            <a:off x="838200" y="4514977"/>
            <a:ext cx="1187450" cy="482600"/>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5" name="Freeform 15"/>
          <p:cNvSpPr/>
          <p:nvPr/>
        </p:nvSpPr>
        <p:spPr>
          <a:xfrm rot="0">
            <a:off x="4940300" y="5924447"/>
            <a:ext cx="6350" cy="225425"/>
          </a:xfrm>
          <a:custGeom>
            <a:avLst/>
            <a:gdLst/>
            <a:ahLst/>
            <a:cxnLst/>
            <a:rect b="b" l="l" r="r" t="t"/>
            <a:pathLst>
              <a:path h="225425" w="6350">
                <a:moveTo>
                  <a:pt x="0" y="0"/>
                </a:moveTo>
                <a:lnTo>
                  <a:pt x="0" y="225425"/>
                </a:lnTo>
              </a:path>
            </a:pathLst>
          </a:custGeom>
          <a:noFill/>
          <a:ln w="12700">
            <a:solidFill>
              <a:schemeClr val="l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16" name="Freeform 16"/>
          <p:cNvSpPr/>
          <p:nvPr/>
        </p:nvSpPr>
        <p:spPr>
          <a:xfrm rot="0">
            <a:off x="7200900" y="5924447"/>
            <a:ext cx="6350" cy="225425"/>
          </a:xfrm>
          <a:custGeom>
            <a:avLst/>
            <a:gdLst/>
            <a:ahLst/>
            <a:cxnLst/>
            <a:rect b="b" l="l" r="r" t="t"/>
            <a:pathLst>
              <a:path h="225425" w="6350">
                <a:moveTo>
                  <a:pt x="0" y="0"/>
                </a:moveTo>
                <a:lnTo>
                  <a:pt x="0" y="225425"/>
                </a:lnTo>
              </a:path>
            </a:pathLst>
          </a:custGeom>
          <a:noFill/>
          <a:ln w="12700">
            <a:solidFill>
              <a:schemeClr val="l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17" name="Freeform 17"/>
          <p:cNvSpPr/>
          <p:nvPr/>
        </p:nvSpPr>
        <p:spPr>
          <a:xfrm rot="0">
            <a:off x="2373898" y="3971422"/>
            <a:ext cx="347129" cy="380784"/>
          </a:xfrm>
          <a:custGeom>
            <a:avLst/>
            <a:gdLst/>
            <a:ahLst/>
            <a:cxnLst/>
            <a:rect b="b" l="l" r="r" t="t"/>
            <a:pathLst>
              <a:path h="380784" w="347129">
                <a:moveTo>
                  <a:pt x="347129" y="294538"/>
                </a:moveTo>
                <a:lnTo>
                  <a:pt x="347129" y="86265"/>
                </a:lnTo>
                <a:lnTo>
                  <a:pt x="260344" y="86265"/>
                </a:lnTo>
                <a:lnTo>
                  <a:pt x="260344" y="0"/>
                </a:lnTo>
                <a:lnTo>
                  <a:pt x="0" y="190392"/>
                </a:lnTo>
                <a:lnTo>
                  <a:pt x="260344" y="380784"/>
                </a:lnTo>
                <a:lnTo>
                  <a:pt x="260344" y="294538"/>
                </a:lnTo>
                <a:lnTo>
                  <a:pt x="347129" y="294538"/>
                </a:lnTo>
              </a:path>
            </a:pathLst>
          </a:custGeom>
          <a:gradFill>
            <a:gsLst>
              <a:gs pos="0">
                <a:schemeClr val="accent6">
                  <a:alpha val="0"/>
                </a:schemeClr>
              </a:gs>
              <a:gs pos="100000">
                <a:schemeClr val="accent6">
                  <a:alpha val="50000"/>
                </a:schemeClr>
              </a:gs>
            </a:gsLst>
            <a:lin ang="10800000"/>
          </a:gradFill>
          <a:ln/>
        </p:spPr>
        <p:extLst>
          <p:ext uri="http://schemas.baidu.com/office/drawing/2023/templateData">
            <bd:templateData xmlns:bd="http://schemas.baidu.com/office/drawing/2023/templateData">eyJ0YWciOiJub0VkaXQifQ==</bd:templateData>
          </p:ext>
        </p:extLst>
      </p:sp>
      <p:sp>
        <p:nvSpPr>
          <p:cNvPr id="18" name="Freeform 18"/>
          <p:cNvSpPr/>
          <p:nvPr/>
        </p:nvSpPr>
        <p:spPr>
          <a:xfrm rot="0">
            <a:off x="9464443" y="3971422"/>
            <a:ext cx="347154" cy="380784"/>
          </a:xfrm>
          <a:custGeom>
            <a:avLst/>
            <a:gdLst/>
            <a:ahLst/>
            <a:cxnLst/>
            <a:rect b="b" l="l" r="r" t="t"/>
            <a:pathLst>
              <a:path h="380784" w="347154">
                <a:moveTo>
                  <a:pt x="0" y="294538"/>
                </a:moveTo>
                <a:lnTo>
                  <a:pt x="0" y="86265"/>
                </a:lnTo>
                <a:lnTo>
                  <a:pt x="86805" y="86265"/>
                </a:lnTo>
                <a:lnTo>
                  <a:pt x="86805" y="0"/>
                </a:lnTo>
                <a:lnTo>
                  <a:pt x="347155" y="190392"/>
                </a:lnTo>
                <a:lnTo>
                  <a:pt x="86805" y="380784"/>
                </a:lnTo>
                <a:lnTo>
                  <a:pt x="86805" y="294538"/>
                </a:lnTo>
                <a:lnTo>
                  <a:pt x="0" y="294538"/>
                </a:lnTo>
              </a:path>
            </a:pathLst>
          </a:custGeom>
          <a:gradFill>
            <a:gsLst>
              <a:gs pos="0">
                <a:schemeClr val="accent6">
                  <a:alpha val="0"/>
                </a:schemeClr>
              </a:gs>
              <a:gs pos="100000">
                <a:schemeClr val="accent6">
                  <a:alpha val="50000"/>
                </a:schemeClr>
              </a:gs>
            </a:gsLst>
            <a:lin ang="0"/>
          </a:gradFill>
          <a:ln/>
        </p:spPr>
        <p:extLst>
          <p:ext uri="http://schemas.baidu.com/office/drawing/2023/templateData">
            <bd:templateData xmlns:bd="http://schemas.baidu.com/office/drawing/2023/templateData">eyJ0YWciOiJub0VkaXQifQ==</bd:templateData>
          </p:ext>
        </p:extLst>
      </p:sp>
      <p:sp>
        <p:nvSpPr>
          <p:cNvPr id="19" name="TextBox 19"/>
          <p:cNvSpPr txBox="1"/>
          <p:nvPr/>
        </p:nvSpPr>
        <p:spPr>
          <a:xfrm rot="0">
            <a:off x="3200219" y="3687612"/>
            <a:ext cx="1476375" cy="3429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2000">
                <a:solidFill>
                  <a:srgbClr val="FFFFFF">
                    <a:alpha val="100000"/>
                  </a:srgbClr>
                </a:solidFill>
                <a:latin typeface="Noto Sans SC"/>
                <a:ea typeface="Noto Sans SC"/>
                <a:cs typeface="Noto Sans SC"/>
              </a:rPr>
              <a:t>数据层</a:t>
            </a:r>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20" name="TextBox 20"/>
          <p:cNvSpPr txBox="1"/>
          <p:nvPr/>
        </p:nvSpPr>
        <p:spPr>
          <a:xfrm rot="0">
            <a:off x="3200219" y="4103221"/>
            <a:ext cx="1495425" cy="514350"/>
          </a:xfrm>
          <a:prstGeom prst="rect">
            <a:avLst/>
          </a:prstGeom>
          <a:noFill/>
          <a:ln/>
        </p:spPr>
        <p:txBody>
          <a:bodyPr anchor="t" anchorCtr="0" bIns="0" lIns="0" rIns="0" rtlCol="0" tIns="0" vert="horz" wrap="square">
            <a:spAutoFit/>
          </a:bodyPr>
          <a:lstStyle/>
          <a:p>
            <a:pPr algn="ctr">
              <a:lnSpc>
                <a:spcPct val="120000"/>
              </a:lnSpc>
              <a:spcBef>
                <a:spcPct val="0"/>
              </a:spcBef>
            </a:pPr>
            <a:r>
              <a:rPr lang="en-US" sz="699">
                <a:solidFill>
                  <a:srgbClr val="FFFFFF">
                    <a:alpha val="100000"/>
                  </a:srgbClr>
                </a:solidFill>
                <a:latin typeface="Noto Sans SC"/>
                <a:ea typeface="Noto Sans SC"/>
                <a:cs typeface="Noto Sans SC"/>
              </a:rPr>
              <a:t>整合GitHub/Gitee等平台数据源，建立贡献行为特征指标体系</a:t>
            </a:r>
          </a:p>
        </p:txBody>
        <p:extLst>
          <p:ext uri="http://schemas.baidu.com/office/drawing/2023/templateData">
            <bd:templateData xmlns:bd="http://schemas.baidu.com/office/drawing/2023/templateData">eyJfdGVtcGxhdGVEYXRhIjp7ImxpbmVDb3VudCI6IjMiLCJ3b3JkQ291bnQiOiIxMyJ9LCJ0YWciOiJub0VkaXQifQ==</bd:templateData>
          </p:ext>
        </p:extLst>
      </p:sp>
      <p:sp>
        <p:nvSpPr>
          <p:cNvPr id="21" name="TextBox 21"/>
          <p:cNvSpPr txBox="1"/>
          <p:nvPr/>
        </p:nvSpPr>
        <p:spPr>
          <a:xfrm rot="0">
            <a:off x="7479027" y="3687612"/>
            <a:ext cx="1495425" cy="342900"/>
          </a:xfrm>
          <a:prstGeom prst="rect">
            <a:avLst/>
          </a:prstGeom>
          <a:noFill/>
          <a:ln/>
        </p:spPr>
        <p:txBody>
          <a:bodyPr anchor="t" anchorCtr="0" bIns="0" lIns="0" rIns="0" rtlCol="0" tIns="0" vert="horz" wrap="square">
            <a:spAutoFit/>
          </a:bodyPr>
          <a:lstStyle/>
          <a:p>
            <a:pPr algn="ctr">
              <a:lnSpc>
                <a:spcPct val="100000"/>
              </a:lnSpc>
              <a:spcBef>
                <a:spcPct val="0"/>
              </a:spcBef>
            </a:pPr>
            <a:r>
              <a:rPr lang="en-US" sz="2000">
                <a:solidFill>
                  <a:srgbClr val="FFFFFF">
                    <a:alpha val="100000"/>
                  </a:srgbClr>
                </a:solidFill>
                <a:latin typeface="Noto Sans SC"/>
                <a:ea typeface="Noto Sans SC"/>
                <a:cs typeface="Noto Sans SC"/>
              </a:rPr>
              <a:t>分析层</a:t>
            </a:r>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22" name="TextBox 22"/>
          <p:cNvSpPr txBox="1"/>
          <p:nvPr/>
        </p:nvSpPr>
        <p:spPr>
          <a:xfrm rot="0">
            <a:off x="7479027" y="4103221"/>
            <a:ext cx="1495425" cy="514350"/>
          </a:xfrm>
          <a:prstGeom prst="rect">
            <a:avLst/>
          </a:prstGeom>
          <a:noFill/>
          <a:ln/>
        </p:spPr>
        <p:txBody>
          <a:bodyPr anchor="t" anchorCtr="0" bIns="0" lIns="0" rIns="0" rtlCol="0" tIns="0" vert="horz" wrap="square">
            <a:spAutoFit/>
          </a:bodyPr>
          <a:lstStyle/>
          <a:p>
            <a:pPr algn="ctr">
              <a:lnSpc>
                <a:spcPct val="120000"/>
              </a:lnSpc>
              <a:spcBef>
                <a:spcPct val="0"/>
              </a:spcBef>
            </a:pPr>
            <a:r>
              <a:rPr lang="en-US" sz="699">
                <a:solidFill>
                  <a:srgbClr val="FFFFFF">
                    <a:alpha val="100000"/>
                  </a:srgbClr>
                </a:solidFill>
                <a:latin typeface="Noto Sans SC"/>
                <a:ea typeface="Noto Sans SC"/>
                <a:cs typeface="Noto Sans SC"/>
              </a:rPr>
              <a:t>基于PageRank算法改进的贡献者影响力加权评估算法</a:t>
            </a:r>
          </a:p>
        </p:txBody>
        <p:extLst>
          <p:ext uri="http://schemas.baidu.com/office/drawing/2023/templateData">
            <bd:templateData xmlns:bd="http://schemas.baidu.com/office/drawing/2023/templateData">eyJfdGVtcGxhdGVEYXRhIjp7ImxpbmVDb3VudCI6IjMiLCJ3b3JkQ291bnQiOiIxMyJ9LCJ0YWciOiJub0VkaXQifQ==</bd:templateData>
          </p:ext>
        </p:extLst>
      </p:sp>
      <p:sp>
        <p:nvSpPr>
          <p:cNvPr id="23" name="TextBox 23"/>
          <p:cNvSpPr txBox="1"/>
          <p:nvPr/>
        </p:nvSpPr>
        <p:spPr>
          <a:xfrm rot="0">
            <a:off x="2832598" y="5965206"/>
            <a:ext cx="1752600"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chemeClr val="dk1">
                    <a:alpha val="100000"/>
                  </a:schemeClr>
                </a:solidFill>
                <a:latin typeface="Noto Sans SC"/>
                <a:ea typeface="Noto Sans SC"/>
                <a:cs typeface="Noto Sans SC"/>
              </a:rPr>
              <a:t>高效</a:t>
            </a:r>
          </a:p>
        </p:txBody>
        <p:extLst>
          <p:ext uri="http://schemas.baidu.com/office/drawing/2023/templateData">
            <bd:templateData xmlns:bd="http://schemas.baidu.com/office/drawing/2023/templateData">eyJ0YWciOiJub0VkaXQifQ==</bd:templateData>
          </p:ext>
        </p:extLst>
      </p:sp>
      <p:sp>
        <p:nvSpPr>
          <p:cNvPr id="24" name="TextBox 24"/>
          <p:cNvSpPr txBox="1"/>
          <p:nvPr/>
        </p:nvSpPr>
        <p:spPr>
          <a:xfrm rot="0">
            <a:off x="5176582" y="5965206"/>
            <a:ext cx="1647825"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chemeClr val="dk1">
                    <a:alpha val="100000"/>
                  </a:schemeClr>
                </a:solidFill>
                <a:latin typeface="Noto Sans SC"/>
                <a:ea typeface="Noto Sans SC"/>
                <a:cs typeface="Noto Sans SC"/>
              </a:rPr>
              <a:t>精准</a:t>
            </a:r>
          </a:p>
        </p:txBody>
        <p:extLst>
          <p:ext uri="http://schemas.baidu.com/office/drawing/2023/templateData">
            <bd:templateData xmlns:bd="http://schemas.baidu.com/office/drawing/2023/templateData">eyJ0YWciOiJub0VkaXQifQ==</bd:templateData>
          </p:ext>
        </p:extLst>
      </p:sp>
      <p:sp>
        <p:nvSpPr>
          <p:cNvPr id="25" name="TextBox 25"/>
          <p:cNvSpPr txBox="1"/>
          <p:nvPr/>
        </p:nvSpPr>
        <p:spPr>
          <a:xfrm rot="0">
            <a:off x="7464028" y="5965206"/>
            <a:ext cx="1514475"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chemeClr val="dk1">
                    <a:alpha val="100000"/>
                  </a:schemeClr>
                </a:solidFill>
                <a:latin typeface="Noto Sans SC"/>
                <a:ea typeface="Noto Sans SC"/>
                <a:cs typeface="Noto Sans SC"/>
              </a:rPr>
              <a:t>直观</a:t>
            </a:r>
          </a:p>
        </p:txBody>
        <p:extLst>
          <p:ext uri="http://schemas.baidu.com/office/drawing/2023/templateData">
            <bd:templateData xmlns:bd="http://schemas.baidu.com/office/drawing/2023/templateData">eyJ0YWciOiJub0VkaXQifQ==</bd:templateData>
          </p:ext>
        </p:extLst>
      </p:sp>
      <p:sp>
        <p:nvSpPr>
          <p:cNvPr id="26" name="TextBox 26"/>
          <p:cNvSpPr txBox="1"/>
          <p:nvPr/>
        </p:nvSpPr>
        <p:spPr>
          <a:xfrm rot="0">
            <a:off x="974920" y="3494806"/>
            <a:ext cx="914400"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代码提交</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27" name="TextBox 27"/>
          <p:cNvSpPr txBox="1"/>
          <p:nvPr/>
        </p:nvSpPr>
        <p:spPr>
          <a:xfrm rot="0">
            <a:off x="1051864" y="4075831"/>
            <a:ext cx="762000"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议题处理</a:t>
            </a:r>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28" name="TextBox 28"/>
          <p:cNvSpPr txBox="1"/>
          <p:nvPr/>
        </p:nvSpPr>
        <p:spPr>
          <a:xfrm rot="0">
            <a:off x="974921" y="4663944"/>
            <a:ext cx="914400"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代码评审</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29" name="TextBox 29"/>
          <p:cNvSpPr txBox="1"/>
          <p:nvPr/>
        </p:nvSpPr>
        <p:spPr>
          <a:xfrm rot="0">
            <a:off x="10255101" y="3521330"/>
            <a:ext cx="914400"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活跃度</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30" name="TextBox 30"/>
          <p:cNvSpPr txBox="1"/>
          <p:nvPr/>
        </p:nvSpPr>
        <p:spPr>
          <a:xfrm rot="0">
            <a:off x="10255101" y="4075831"/>
            <a:ext cx="914400"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持续性</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31" name="TextBox 31"/>
          <p:cNvSpPr txBox="1"/>
          <p:nvPr/>
        </p:nvSpPr>
        <p:spPr>
          <a:xfrm rot="0">
            <a:off x="10255103" y="4656856"/>
            <a:ext cx="914400"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rgbClr val="FFFFFF">
                    <a:alpha val="100000"/>
                  </a:srgbClr>
                </a:solidFill>
                <a:latin typeface="Noto Sans SC"/>
                <a:ea typeface="Noto Sans SC"/>
                <a:cs typeface="Noto Sans SC"/>
              </a:rPr>
              <a:t>协作度</a:t>
            </a:r>
          </a:p>
        </p:txBody>
        <p:extLst>
          <p:ext uri="http://schemas.baidu.com/office/drawing/2023/templateData">
            <bd:templateData xmlns:bd="http://schemas.baidu.com/office/drawing/2023/templateData">eyJfdGVtcGxhdGVEYXRhIjp7ImxpbmVDb3VudCI6IjEiLCJ3b3JkQ291bnQiOiIzIn0sInRhZyI6Im5vRWRpdCJ9</bd:templateData>
          </p:ext>
        </p:extLst>
      </p:sp>
      <p:sp>
        <p:nvSpPr>
          <p:cNvPr id="32" name="AutoShape 32"/>
          <p:cNvSpPr/>
          <p:nvPr/>
        </p:nvSpPr>
        <p:spPr>
          <a:xfrm rot="0">
            <a:off x="4818053" y="2744042"/>
            <a:ext cx="2511444" cy="2511444"/>
          </a:xfrm>
          <a:prstGeom prst="ellipse">
            <a:avLst/>
          </a:prstGeom>
          <a:solidFill>
            <a:schemeClr val="accent1">
              <a:alpha val="100000"/>
            </a:schemeClr>
          </a:solidFill>
          <a:ln/>
        </p:spPr>
        <p:txBody>
          <a:bodyPr anchor="t" anchorCtr="0" bIns="45720" lIns="91440" rIns="91440" rtlCol="0" tIns="45720" vert="horz" wrap="square">
            <a:normAutofit/>
          </a:bodyPr>
          <a:lstStyle/>
          <a:p>
            <a:pPr algn="l">
              <a:lnSpc>
                <a:spcPct val="100000"/>
              </a:lnSpc>
              <a:spcBef>
                <a:spcPts val="375"/>
              </a:spcBef>
              <a:defRPr/>
            </a:pPr>
            <a:r>
              <a:rPr lang="en-US" sz="900">
                <a:solidFill>
                  <a:srgbClr val="000000">
                    <a:alpha val="100000"/>
                  </a:srgbClr>
                </a:solidFill>
                <a:latin typeface="Noto Sans SC"/>
                <a:ea typeface="Noto Sans SC"/>
                <a:cs typeface="Noto Sans SC"/>
              </a:rPr>
              <a:t/>
            </a:r>
            <a:endParaRPr lang="en-US" sz="1100"/>
          </a:p>
        </p:txBody>
        <p:extLst>
          <p:ext uri="http://schemas.baidu.com/office/drawing/2023/templateData">
            <bd:templateData xmlns:bd="http://schemas.baidu.com/office/drawing/2023/templateData">eyJ0YWciOiJub0VkaXQifQ==</bd:templateData>
          </p:ext>
        </p:extLst>
      </p:sp>
      <p:sp>
        <p:nvSpPr>
          <p:cNvPr id="33" name="TextBox 33"/>
          <p:cNvSpPr txBox="1"/>
          <p:nvPr/>
        </p:nvSpPr>
        <p:spPr>
          <a:xfrm rot="0">
            <a:off x="5027052" y="3504589"/>
            <a:ext cx="2133600" cy="381000"/>
          </a:xfrm>
          <a:prstGeom prst="rect">
            <a:avLst/>
          </a:prstGeom>
          <a:noFill/>
          <a:ln/>
        </p:spPr>
        <p:txBody>
          <a:bodyPr anchor="ctr" anchorCtr="0" bIns="0" lIns="0" rIns="0" rtlCol="0" tIns="0" vert="horz" wrap="square">
            <a:spAutoFit/>
          </a:bodyPr>
          <a:lstStyle/>
          <a:p>
            <a:pPr algn="ctr">
              <a:lnSpc>
                <a:spcPct val="100000"/>
              </a:lnSpc>
              <a:spcBef>
                <a:spcPct val="0"/>
              </a:spcBef>
            </a:pPr>
            <a:r>
              <a:rPr lang="en-US" sz="2199">
                <a:solidFill>
                  <a:srgbClr val="FFFFFF">
                    <a:alpha val="100000"/>
                  </a:srgbClr>
                </a:solidFill>
                <a:latin typeface="Noto Sans SC"/>
                <a:ea typeface="Noto Sans SC"/>
                <a:cs typeface="Noto Sans SC"/>
              </a:rPr>
              <a:t>系统架构</a:t>
            </a:r>
          </a:p>
        </p:txBody>
        <p:extLst>
          <p:ext uri="http://schemas.baidu.com/office/drawing/2023/templateData">
            <bd:templateData xmlns:bd="http://schemas.baidu.com/office/drawing/2023/templateData">eyJ0YWciOiJub0VkaXQifQ==</bd:templateData>
          </p:ext>
        </p:extLst>
      </p:sp>
      <p:sp>
        <p:nvSpPr>
          <p:cNvPr id="34" name="TextBox 34"/>
          <p:cNvSpPr txBox="1"/>
          <p:nvPr/>
        </p:nvSpPr>
        <p:spPr>
          <a:xfrm rot="0">
            <a:off x="5322887" y="4098684"/>
            <a:ext cx="1495425" cy="342900"/>
          </a:xfrm>
          <a:prstGeom prst="rect">
            <a:avLst/>
          </a:prstGeom>
          <a:noFill/>
          <a:ln/>
        </p:spPr>
        <p:txBody>
          <a:bodyPr anchor="t" anchorCtr="0" bIns="0" lIns="0" rIns="0" rtlCol="0" tIns="0" vert="horz" wrap="square">
            <a:spAutoFit/>
          </a:bodyPr>
          <a:lstStyle/>
          <a:p>
            <a:pPr algn="ctr">
              <a:lnSpc>
                <a:spcPct val="120000"/>
              </a:lnSpc>
              <a:spcBef>
                <a:spcPct val="0"/>
              </a:spcBef>
            </a:pPr>
            <a:r>
              <a:rPr lang="en-US" sz="800">
                <a:solidFill>
                  <a:srgbClr val="FFFFFF">
                    <a:alpha val="100000"/>
                  </a:srgbClr>
                </a:solidFill>
                <a:latin typeface="Noto Sans SC"/>
                <a:ea typeface="Noto Sans SC"/>
                <a:cs typeface="Noto Sans SC"/>
              </a:rPr>
              <a:t>采用微服务架构实现模块化部署与弹性扩展</a:t>
            </a:r>
          </a:p>
        </p:txBody>
        <p:extLst>
          <p:ext uri="http://schemas.baidu.com/office/drawing/2023/templateData">
            <bd:templateData xmlns:bd="http://schemas.baidu.com/office/drawing/2023/templateData">eyJ0YWciOiJub0VkaXQifQ==</bd:templateData>
          </p:ext>
        </p:extLst>
      </p:sp>
      <p:sp>
        <p:nvSpPr>
          <p:cNvPr id="35" name="TextBox 35"/>
          <p:cNvSpPr txBox="1"/>
          <p:nvPr/>
        </p:nvSpPr>
        <p:spPr>
          <a:xfrm rot="0">
            <a:off x="2951038" y="1606163"/>
            <a:ext cx="1630680" cy="577215"/>
          </a:xfrm>
          <a:prstGeom prst="rect">
            <a:avLst/>
          </a:prstGeom>
          <a:noFill/>
          <a:ln/>
        </p:spPr>
        <p:txBody>
          <a:bodyPr anchor="ctr" anchorCtr="0" bIns="45720" lIns="91440" rIns="91440" rtlCol="0" tIns="45720" vert="horz" wrap="square">
            <a:spAutoFit/>
          </a:bodyPr>
          <a:lstStyle/>
          <a:p>
            <a:pPr>
              <a:lnSpc>
                <a:spcPct val="100000"/>
              </a:lnSpc>
              <a:spcBef>
                <a:spcPct val="0"/>
              </a:spcBef>
            </a:pPr>
            <a:r>
              <a:rPr lang="en-US" sz="999">
                <a:solidFill>
                  <a:srgbClr val="FFFFFF">
                    <a:alpha val="100000"/>
                  </a:srgbClr>
                </a:solidFill>
                <a:latin typeface="Noto Sans SC"/>
                <a:ea typeface="Noto Sans SC"/>
                <a:cs typeface="Noto Sans SC"/>
              </a:rPr>
              <a:t>构建了覆盖代码提交、PR评审等维度的贡献者影响力评估模型</a:t>
            </a:r>
          </a:p>
        </p:txBody>
        <p:extLst>
          <p:ext uri="http://schemas.baidu.com/office/drawing/2023/templateData">
            <bd:templateData xmlns:bd="http://schemas.baidu.com/office/drawing/2023/templateData">eyJfdGVtcGxhdGVEYXRhIjp7ImxpbmVDb3VudCI6IjMiLCJ3b3JkQ291bnQiOiIxMCJ9LCJ0YWciOiJub0VkaXQifQ==</bd:templateData>
          </p:ext>
        </p:extLst>
      </p:sp>
      <p:sp>
        <p:nvSpPr>
          <p:cNvPr id="36" name="TextBox 36"/>
          <p:cNvSpPr txBox="1"/>
          <p:nvPr/>
        </p:nvSpPr>
        <p:spPr>
          <a:xfrm rot="0">
            <a:off x="5476141" y="1606163"/>
            <a:ext cx="1630680" cy="577215"/>
          </a:xfrm>
          <a:prstGeom prst="rect">
            <a:avLst/>
          </a:prstGeom>
          <a:noFill/>
          <a:ln/>
        </p:spPr>
        <p:txBody>
          <a:bodyPr anchor="ctr" anchorCtr="0" bIns="45720" lIns="91440" rIns="91440" rtlCol="0" tIns="45720" vert="horz" wrap="square">
            <a:spAutoFit/>
          </a:bodyPr>
          <a:lstStyle/>
          <a:p>
            <a:pPr>
              <a:lnSpc>
                <a:spcPct val="100000"/>
              </a:lnSpc>
              <a:spcBef>
                <a:spcPct val="0"/>
              </a:spcBef>
            </a:pPr>
            <a:r>
              <a:rPr lang="en-US" sz="999">
                <a:solidFill>
                  <a:srgbClr val="FFFFFF">
                    <a:alpha val="100000"/>
                  </a:srgbClr>
                </a:solidFill>
                <a:latin typeface="Noto Sans SC"/>
                <a:ea typeface="Noto Sans SC"/>
                <a:cs typeface="Noto Sans SC"/>
              </a:rPr>
              <a:t>开发了支持多源数据采集与实时计算的系统架构</a:t>
            </a:r>
          </a:p>
        </p:txBody>
        <p:extLst>
          <p:ext uri="http://schemas.baidu.com/office/drawing/2023/templateData">
            <bd:templateData xmlns:bd="http://schemas.baidu.com/office/drawing/2023/templateData">eyJfdGVtcGxhdGVEYXRhIjp7ImxpbmVDb3VudCI6IjMiLCJ3b3JkQ291bnQiOiIxMCJ9LCJ0YWciOiJub0VkaXQifQ==</bd:templateData>
          </p:ext>
        </p:extLst>
      </p:sp>
      <p:sp>
        <p:nvSpPr>
          <p:cNvPr id="37" name="TextBox 37"/>
          <p:cNvSpPr txBox="1"/>
          <p:nvPr/>
        </p:nvSpPr>
        <p:spPr>
          <a:xfrm rot="0">
            <a:off x="8036243" y="1518355"/>
            <a:ext cx="1630680" cy="729615"/>
          </a:xfrm>
          <a:prstGeom prst="rect">
            <a:avLst/>
          </a:prstGeom>
          <a:noFill/>
          <a:ln/>
        </p:spPr>
        <p:txBody>
          <a:bodyPr anchor="ctr" anchorCtr="0" bIns="45720" lIns="91440" rIns="91440" rtlCol="0" tIns="45720" vert="horz" wrap="square">
            <a:spAutoFit/>
          </a:bodyPr>
          <a:lstStyle/>
          <a:p>
            <a:pPr>
              <a:lnSpc>
                <a:spcPct val="100000"/>
              </a:lnSpc>
              <a:spcBef>
                <a:spcPct val="0"/>
              </a:spcBef>
            </a:pPr>
            <a:r>
              <a:rPr lang="en-US" sz="999">
                <a:solidFill>
                  <a:srgbClr val="FFFFFF">
                    <a:alpha val="100000"/>
                  </a:srgbClr>
                </a:solidFill>
                <a:latin typeface="Noto Sans SC"/>
                <a:ea typeface="Noto Sans SC"/>
                <a:cs typeface="Noto Sans SC"/>
              </a:rPr>
              <a:t>通过图谱分析技术实现社区协作网络的动态可视化</a:t>
            </a:r>
          </a:p>
        </p:txBody>
        <p:extLst>
          <p:ext uri="http://schemas.baidu.com/office/drawing/2023/templateData">
            <bd:templateData xmlns:bd="http://schemas.baidu.com/office/drawing/2023/templateData">eyJfdGVtcGxhdGVEYXRhIjp7ImxpbmVDb3VudCI6IjQiLCJ3b3JkQ291bnQiOiIxMCJ9LCJ0YWciOiJub0VkaXQifQ==</bd:templateData>
          </p:ext>
        </p:extLst>
      </p:sp>
      <p:sp>
        <p:nvSpPr>
          <p:cNvPr id="38" name="Freeform 38"/>
          <p:cNvSpPr/>
          <p:nvPr/>
        </p:nvSpPr>
        <p:spPr>
          <a:xfrm flipH="1" rot="0">
            <a:off x="4613980" y="1601520"/>
            <a:ext cx="104644" cy="563284"/>
          </a:xfrm>
          <a:custGeom>
            <a:avLst/>
            <a:gdLst/>
            <a:ahLst/>
            <a:cxnLst/>
            <a:rect b="b" l="l" r="r" t="t"/>
            <a:pathLst>
              <a:path h="225425" w="6350">
                <a:moveTo>
                  <a:pt x="0" y="0"/>
                </a:moveTo>
                <a:lnTo>
                  <a:pt x="0" y="225425"/>
                </a:lnTo>
              </a:path>
            </a:pathLst>
          </a:custGeom>
          <a:noFill/>
          <a:ln w="12700">
            <a:solidFill>
              <a:schemeClr val="l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39" name="Freeform 39"/>
          <p:cNvSpPr/>
          <p:nvPr/>
        </p:nvSpPr>
        <p:spPr>
          <a:xfrm flipH="1" rot="0">
            <a:off x="7160075" y="1601520"/>
            <a:ext cx="104644" cy="563284"/>
          </a:xfrm>
          <a:custGeom>
            <a:avLst/>
            <a:gdLst/>
            <a:ahLst/>
            <a:cxnLst/>
            <a:rect b="b" l="l" r="r" t="t"/>
            <a:pathLst>
              <a:path h="225425" w="6350">
                <a:moveTo>
                  <a:pt x="0" y="0"/>
                </a:moveTo>
                <a:lnTo>
                  <a:pt x="0" y="225425"/>
                </a:lnTo>
              </a:path>
            </a:pathLst>
          </a:custGeom>
          <a:noFill/>
          <a:ln w="12700">
            <a:solidFill>
              <a:schemeClr val="lt1">
                <a:alpha val="100000"/>
              </a:schemeClr>
            </a:solidFill>
            <a:prstDash val="solid"/>
          </a:ln>
        </p:spPr>
        <p:extLst>
          <p:ext uri="http://schemas.baidu.com/office/drawing/2023/templateData">
            <bd:templateData xmlns:bd="http://schemas.baidu.com/office/drawing/2023/templateData">eyJ0YWciOiJub0VkaXQifQ==</bd:templateData>
          </p:ext>
        </p:extLst>
      </p:sp>
      <p:sp>
        <p:nvSpPr>
          <p:cNvPr id="40" name="TextBox 40"/>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项目成果总结</a:t>
            </a:r>
          </a:p>
        </p:txBody>
        <p:extLst>
          <p:ext uri="http://schemas.baidu.com/office/drawing/2023/templateData">
            <bd:templateData xmlns:bd="http://schemas.baidu.com/office/drawing/2023/templateData">eyJfdGVtcGxhdGVEYXRhIjp7ImNvbnRlbnRUeXBlIjoiJHRpdGxlIiwibGluZUNvdW50IjoiMSIsIndvcmRDb3VudCI6IjI4In0sInRhZyI6Im5vRWRpdCJ9</bd:templateData>
          </p:ext>
        </p:extLst>
      </p:sp>
      <p:sp>
        <p:nvSpPr>
          <p:cNvPr id="41" name="AutoShape 41"/>
          <p:cNvSpPr/>
          <p:nvPr/>
        </p:nvSpPr>
        <p:spPr>
          <a:xfrm rot="0">
            <a:off x="4912805" y="1609344"/>
            <a:ext cx="547688" cy="547688"/>
          </a:xfrm>
          <a:prstGeom prst="ellipse">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42" name="AutoShape 42"/>
          <p:cNvSpPr/>
          <p:nvPr/>
        </p:nvSpPr>
        <p:spPr>
          <a:xfrm rot="0">
            <a:off x="7488555" y="1609344"/>
            <a:ext cx="547688" cy="547688"/>
          </a:xfrm>
          <a:prstGeom prst="ellipse">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43" name="AutoShape 43"/>
          <p:cNvSpPr/>
          <p:nvPr/>
        </p:nvSpPr>
        <p:spPr>
          <a:xfrm rot="0">
            <a:off x="2385632" y="1609344"/>
            <a:ext cx="547688" cy="547688"/>
          </a:xfrm>
          <a:prstGeom prst="ellipse">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44" name="Freeform 44"/>
          <p:cNvSpPr/>
          <p:nvPr/>
        </p:nvSpPr>
        <p:spPr>
          <a:xfrm rot="0">
            <a:off x="2583053" y="1702133"/>
            <a:ext cx="259070" cy="326091"/>
          </a:xfrm>
          <a:custGeom>
            <a:avLst/>
            <a:gdLst/>
            <a:ahLst/>
            <a:cxnLst/>
            <a:rect b="b" l="l" r="r" t="t"/>
            <a:pathLst>
              <a:path h="304800" w="304800">
                <a:moveTo>
                  <a:pt x="133350" y="0"/>
                </a:moveTo>
                <a:lnTo>
                  <a:pt x="0" y="0"/>
                </a:lnTo>
                <a:lnTo>
                  <a:pt x="0" y="304800"/>
                </a:lnTo>
                <a:lnTo>
                  <a:pt x="228600" y="304800"/>
                </a:lnTo>
                <a:lnTo>
                  <a:pt x="228600" y="95231"/>
                </a:lnTo>
                <a:lnTo>
                  <a:pt x="133350" y="0"/>
                </a:lnTo>
                <a:close/>
                <a:moveTo>
                  <a:pt x="113519" y="114300"/>
                </a:moveTo>
                <a:lnTo>
                  <a:pt x="113519" y="38100"/>
                </a:lnTo>
                <a:lnTo>
                  <a:pt x="189719" y="114300"/>
                </a:lnTo>
                <a:lnTo>
                  <a:pt x="113519" y="114300"/>
                </a:lnTo>
                <a:close/>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45" name="Freeform 45"/>
          <p:cNvSpPr/>
          <p:nvPr/>
        </p:nvSpPr>
        <p:spPr>
          <a:xfrm rot="0">
            <a:off x="7696200" y="1709525"/>
            <a:ext cx="242988" cy="305849"/>
          </a:xfrm>
          <a:custGeom>
            <a:avLst/>
            <a:gdLst/>
            <a:ahLst/>
            <a:cxnLst/>
            <a:rect b="b" l="l" r="r" t="t"/>
            <a:pathLst>
              <a:path h="304800" w="304800">
                <a:moveTo>
                  <a:pt x="133350" y="0"/>
                </a:moveTo>
                <a:lnTo>
                  <a:pt x="0" y="0"/>
                </a:lnTo>
                <a:lnTo>
                  <a:pt x="0" y="304800"/>
                </a:lnTo>
                <a:lnTo>
                  <a:pt x="228600" y="304800"/>
                </a:lnTo>
                <a:lnTo>
                  <a:pt x="228600" y="95231"/>
                </a:lnTo>
                <a:lnTo>
                  <a:pt x="133350" y="0"/>
                </a:lnTo>
                <a:close/>
                <a:moveTo>
                  <a:pt x="113519" y="114300"/>
                </a:moveTo>
                <a:lnTo>
                  <a:pt x="113519" y="38100"/>
                </a:lnTo>
                <a:lnTo>
                  <a:pt x="189719" y="114300"/>
                </a:lnTo>
                <a:lnTo>
                  <a:pt x="113519" y="114300"/>
                </a:lnTo>
                <a:close/>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46" name="Freeform 46"/>
          <p:cNvSpPr/>
          <p:nvPr/>
        </p:nvSpPr>
        <p:spPr>
          <a:xfrm rot="0">
            <a:off x="5091113" y="1711835"/>
            <a:ext cx="263652" cy="331859"/>
          </a:xfrm>
          <a:custGeom>
            <a:avLst/>
            <a:gdLst/>
            <a:ahLst/>
            <a:cxnLst/>
            <a:rect b="b" l="l" r="r" t="t"/>
            <a:pathLst>
              <a:path h="304800" w="304800">
                <a:moveTo>
                  <a:pt x="133350" y="0"/>
                </a:moveTo>
                <a:lnTo>
                  <a:pt x="0" y="0"/>
                </a:lnTo>
                <a:lnTo>
                  <a:pt x="0" y="304800"/>
                </a:lnTo>
                <a:lnTo>
                  <a:pt x="228600" y="304800"/>
                </a:lnTo>
                <a:lnTo>
                  <a:pt x="228600" y="95231"/>
                </a:lnTo>
                <a:lnTo>
                  <a:pt x="133350" y="0"/>
                </a:lnTo>
                <a:close/>
                <a:moveTo>
                  <a:pt x="113519" y="114300"/>
                </a:moveTo>
                <a:lnTo>
                  <a:pt x="113519" y="38100"/>
                </a:lnTo>
                <a:lnTo>
                  <a:pt x="189719" y="114300"/>
                </a:lnTo>
                <a:lnTo>
                  <a:pt x="113519" y="114300"/>
                </a:lnTo>
                <a:close/>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Tree>
  </p:cSld>
  <p:clrMapOvr>
    <a:masterClrMapping/>
  </p:clrMapOvr>
  <p:extLst>
    <p:ext uri="http://schemas.baidu.com/office/drawing/2023/templateData">
      <bd:templateData xmlns:bd="http://schemas.baidu.com/office/drawing/2023/templateData">eyJtZCI6IiMjIOaAu+e7k+S4juWxleacm1xuIyMjIOmhueebruaIkOaenOaAu+e7kyIsInRwbGlkIjoiNjgiLCJ0cGxOYW1lIjoidGl0bGVHcmFwaF9wcm8zMyIsImVkaXRlZCI6ImZhbHNlIn0=</bd:templateData>
    </p:ext>
  </p:extLst>
</p:sld>
</file>

<file path=ppt/slides/slide24.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AutoShape 2"/>
          <p:cNvSpPr/>
          <p:nvPr/>
        </p:nvSpPr>
        <p:spPr>
          <a:xfrm rot="0">
            <a:off x="9534473" y="4000845"/>
            <a:ext cx="656663" cy="656663"/>
          </a:xfrm>
          <a:prstGeom prst="ellipse">
            <a:avLst/>
          </a:prstGeom>
          <a:solidFill>
            <a:schemeClr val="accent2">
              <a:alpha val="100000"/>
            </a:schemeClr>
          </a:solidFill>
          <a:ln/>
        </p:spPr>
        <p:extLst>
          <p:ext uri="http://schemas.baidu.com/office/drawing/2023/templateData">
            <bd:templateData xmlns:bd="http://schemas.baidu.com/office/drawing/2023/templateData">eyJfdGVtcGxhdGVEYXRhIjp7ImxpbmVDb3VudCI6IjQiLCJ3b3JkQ291bnQiOiIzIn0sInRhZyI6Im5vRWRpdCJ9</bd:templateData>
          </p:ext>
        </p:extLst>
      </p:sp>
      <p:sp>
        <p:nvSpPr>
          <p:cNvPr id="3" name="Freeform 3"/>
          <p:cNvSpPr/>
          <p:nvPr/>
        </p:nvSpPr>
        <p:spPr>
          <a:xfrm rot="0">
            <a:off x="3930110" y="5062157"/>
            <a:ext cx="4331779" cy="1163669"/>
          </a:xfrm>
          <a:custGeom>
            <a:avLst/>
            <a:gdLst/>
            <a:ahLst/>
            <a:cxnLst/>
            <a:rect b="b" l="l" r="r" t="t"/>
            <a:pathLst>
              <a:path h="1163642" w="4622178">
                <a:moveTo>
                  <a:pt x="3079" y="0"/>
                </a:moveTo>
                <a:lnTo>
                  <a:pt x="11932" y="86006"/>
                </a:lnTo>
                <a:cubicBezTo>
                  <a:pt x="130283" y="657697"/>
                  <a:pt x="1114484" y="1103820"/>
                  <a:pt x="2311089" y="1103820"/>
                </a:cubicBezTo>
                <a:cubicBezTo>
                  <a:pt x="3507695" y="1103820"/>
                  <a:pt x="4491895" y="657697"/>
                  <a:pt x="4610246" y="86006"/>
                </a:cubicBezTo>
                <a:lnTo>
                  <a:pt x="4619099" y="0"/>
                </a:lnTo>
                <a:lnTo>
                  <a:pt x="4622178" y="29911"/>
                </a:lnTo>
                <a:cubicBezTo>
                  <a:pt x="4622178" y="656053"/>
                  <a:pt x="3587468" y="1163642"/>
                  <a:pt x="2311089" y="1163642"/>
                </a:cubicBezTo>
                <a:cubicBezTo>
                  <a:pt x="1034710" y="1163642"/>
                  <a:pt x="0" y="656053"/>
                  <a:pt x="0" y="29911"/>
                </a:cubicBezTo>
                <a:lnTo>
                  <a:pt x="3079" y="0"/>
                </a:lnTo>
              </a:path>
            </a:pathLst>
          </a:custGeom>
          <a:gradFill>
            <a:gsLst>
              <a:gs pos="0">
                <a:schemeClr val="accent1">
                  <a:alpha val="19838"/>
                </a:schemeClr>
              </a:gs>
              <a:gs pos="100000">
                <a:schemeClr val="accent1">
                  <a:alpha val="19834"/>
                </a:schemeClr>
              </a:gs>
            </a:gsLst>
            <a:lin ang="0"/>
          </a:gradFill>
          <a:ln/>
        </p:spPr>
        <p:extLst>
          <p:ext uri="http://schemas.baidu.com/office/drawing/2023/templateData">
            <bd:templateData xmlns:bd="http://schemas.baidu.com/office/drawing/2023/templateData">eyJ0YWciOiJub0VkaXQifQ==</bd:templateData>
          </p:ext>
        </p:extLst>
      </p:sp>
      <p:sp>
        <p:nvSpPr>
          <p:cNvPr id="4" name="Freeform 4"/>
          <p:cNvSpPr/>
          <p:nvPr/>
        </p:nvSpPr>
        <p:spPr>
          <a:xfrm rot="0">
            <a:off x="3930110" y="3908488"/>
            <a:ext cx="4331779" cy="2267426"/>
          </a:xfrm>
          <a:custGeom>
            <a:avLst/>
            <a:gdLst/>
            <a:ahLst/>
            <a:cxnLst/>
            <a:rect b="b" l="l" r="r" t="t"/>
            <a:pathLst>
              <a:path h="2267462" w="4622178">
                <a:moveTo>
                  <a:pt x="2311089" y="0"/>
                </a:moveTo>
                <a:cubicBezTo>
                  <a:pt x="3587468" y="0"/>
                  <a:pt x="4622178" y="507589"/>
                  <a:pt x="4622178" y="1133731"/>
                </a:cubicBezTo>
                <a:cubicBezTo>
                  <a:pt x="4622178" y="1759873"/>
                  <a:pt x="3587468" y="2267462"/>
                  <a:pt x="2311089" y="2267462"/>
                </a:cubicBezTo>
                <a:cubicBezTo>
                  <a:pt x="1034710" y="2267462"/>
                  <a:pt x="0" y="1759873"/>
                  <a:pt x="0" y="1133731"/>
                </a:cubicBezTo>
                <a:cubicBezTo>
                  <a:pt x="0" y="507589"/>
                  <a:pt x="1034710" y="0"/>
                  <a:pt x="2311089" y="0"/>
                </a:cubicBezTo>
                <a:close/>
                <a:moveTo>
                  <a:pt x="2311089" y="815947"/>
                </a:moveTo>
                <a:cubicBezTo>
                  <a:pt x="1659921" y="815947"/>
                  <a:pt x="1132045" y="958224"/>
                  <a:pt x="1132045" y="1133731"/>
                </a:cubicBezTo>
                <a:cubicBezTo>
                  <a:pt x="1132045" y="1309238"/>
                  <a:pt x="1659921" y="1451515"/>
                  <a:pt x="2311089" y="1451515"/>
                </a:cubicBezTo>
                <a:cubicBezTo>
                  <a:pt x="2962257" y="1451515"/>
                  <a:pt x="3490133" y="1309238"/>
                  <a:pt x="3490133" y="1133731"/>
                </a:cubicBezTo>
                <a:cubicBezTo>
                  <a:pt x="3490133" y="958224"/>
                  <a:pt x="2962257" y="815947"/>
                  <a:pt x="2311089" y="815947"/>
                </a:cubicBezTo>
                <a:close/>
              </a:path>
            </a:pathLst>
          </a:custGeom>
          <a:gradFill>
            <a:gsLst>
              <a:gs pos="0">
                <a:schemeClr val="accent1">
                  <a:alpha val="100000"/>
                </a:schemeClr>
              </a:gs>
              <a:gs pos="100000">
                <a:schemeClr val="accent1">
                  <a:alpha val="100000"/>
                </a:schemeClr>
              </a:gs>
            </a:gsLst>
            <a:lin ang="0"/>
          </a:gradFill>
          <a:ln/>
        </p:spPr>
        <p:extLst>
          <p:ext uri="http://schemas.baidu.com/office/drawing/2023/templateData">
            <bd:templateData xmlns:bd="http://schemas.baidu.com/office/drawing/2023/templateData">eyJ0YWciOiJub0VkaXQifQ==</bd:templateData>
          </p:ext>
        </p:extLst>
      </p:sp>
      <p:sp>
        <p:nvSpPr>
          <p:cNvPr id="5" name="Freeform 5"/>
          <p:cNvSpPr/>
          <p:nvPr/>
        </p:nvSpPr>
        <p:spPr>
          <a:xfrm rot="0">
            <a:off x="3930110" y="3731514"/>
            <a:ext cx="4331779" cy="1163669"/>
          </a:xfrm>
          <a:custGeom>
            <a:avLst/>
            <a:gdLst/>
            <a:ahLst/>
            <a:cxnLst/>
            <a:rect b="b" l="l" r="r" t="t"/>
            <a:pathLst>
              <a:path h="1163642" w="4622178">
                <a:moveTo>
                  <a:pt x="3079" y="0"/>
                </a:moveTo>
                <a:lnTo>
                  <a:pt x="11932" y="86006"/>
                </a:lnTo>
                <a:cubicBezTo>
                  <a:pt x="130283" y="657697"/>
                  <a:pt x="1114484" y="1103820"/>
                  <a:pt x="2311089" y="1103820"/>
                </a:cubicBezTo>
                <a:cubicBezTo>
                  <a:pt x="3507695" y="1103820"/>
                  <a:pt x="4491895" y="657697"/>
                  <a:pt x="4610246" y="86006"/>
                </a:cubicBezTo>
                <a:lnTo>
                  <a:pt x="4619099" y="0"/>
                </a:lnTo>
                <a:lnTo>
                  <a:pt x="4622178" y="29911"/>
                </a:lnTo>
                <a:cubicBezTo>
                  <a:pt x="4622178" y="656053"/>
                  <a:pt x="3587468" y="1163642"/>
                  <a:pt x="2311089" y="1163642"/>
                </a:cubicBezTo>
                <a:cubicBezTo>
                  <a:pt x="1034710" y="1163642"/>
                  <a:pt x="0" y="656053"/>
                  <a:pt x="0" y="29911"/>
                </a:cubicBezTo>
                <a:lnTo>
                  <a:pt x="3079" y="0"/>
                </a:lnTo>
              </a:path>
            </a:pathLst>
          </a:custGeom>
          <a:gradFill>
            <a:gsLst>
              <a:gs pos="0">
                <a:schemeClr val="accent4">
                  <a:alpha val="100000"/>
                  <a:lumMod val="40000"/>
                  <a:lumOff val="60000"/>
                </a:schemeClr>
              </a:gs>
              <a:gs pos="100000">
                <a:schemeClr val="accent4">
                  <a:alpha val="100000"/>
                  <a:lumMod val="40000"/>
                  <a:lumOff val="60000"/>
                </a:schemeClr>
              </a:gs>
            </a:gsLst>
            <a:lin ang="0"/>
          </a:gradFill>
          <a:ln/>
        </p:spPr>
        <p:extLst>
          <p:ext uri="http://schemas.baidu.com/office/drawing/2023/templateData">
            <bd:templateData xmlns:bd="http://schemas.baidu.com/office/drawing/2023/templateData">eyJ0YWciOiJub0VkaXQifQ==</bd:templateData>
          </p:ext>
        </p:extLst>
      </p:sp>
      <p:sp>
        <p:nvSpPr>
          <p:cNvPr id="6" name="Freeform 6"/>
          <p:cNvSpPr/>
          <p:nvPr/>
        </p:nvSpPr>
        <p:spPr>
          <a:xfrm rot="0">
            <a:off x="3930110" y="2576989"/>
            <a:ext cx="4331779" cy="2267426"/>
          </a:xfrm>
          <a:custGeom>
            <a:avLst/>
            <a:gdLst/>
            <a:ahLst/>
            <a:cxnLst/>
            <a:rect b="b" l="l" r="r" t="t"/>
            <a:pathLst>
              <a:path h="2267462" w="4622178">
                <a:moveTo>
                  <a:pt x="2311089" y="0"/>
                </a:moveTo>
                <a:cubicBezTo>
                  <a:pt x="3587468" y="0"/>
                  <a:pt x="4622178" y="507589"/>
                  <a:pt x="4622178" y="1133731"/>
                </a:cubicBezTo>
                <a:cubicBezTo>
                  <a:pt x="4622178" y="1759873"/>
                  <a:pt x="3587468" y="2267462"/>
                  <a:pt x="2311089" y="2267462"/>
                </a:cubicBezTo>
                <a:cubicBezTo>
                  <a:pt x="1034710" y="2267462"/>
                  <a:pt x="0" y="1759873"/>
                  <a:pt x="0" y="1133731"/>
                </a:cubicBezTo>
                <a:cubicBezTo>
                  <a:pt x="0" y="507589"/>
                  <a:pt x="1034710" y="0"/>
                  <a:pt x="2311089" y="0"/>
                </a:cubicBezTo>
                <a:close/>
                <a:moveTo>
                  <a:pt x="2311089" y="815947"/>
                </a:moveTo>
                <a:cubicBezTo>
                  <a:pt x="1659921" y="815947"/>
                  <a:pt x="1132045" y="958224"/>
                  <a:pt x="1132045" y="1133731"/>
                </a:cubicBezTo>
                <a:cubicBezTo>
                  <a:pt x="1132045" y="1309238"/>
                  <a:pt x="1659921" y="1451515"/>
                  <a:pt x="2311089" y="1451515"/>
                </a:cubicBezTo>
                <a:cubicBezTo>
                  <a:pt x="2962257" y="1451515"/>
                  <a:pt x="3490133" y="1309238"/>
                  <a:pt x="3490133" y="1133731"/>
                </a:cubicBezTo>
                <a:cubicBezTo>
                  <a:pt x="3490133" y="958224"/>
                  <a:pt x="2962257" y="815947"/>
                  <a:pt x="2311089" y="815947"/>
                </a:cubicBezTo>
                <a:close/>
              </a:path>
            </a:pathLst>
          </a:custGeom>
          <a:gradFill>
            <a:gsLst>
              <a:gs pos="0">
                <a:schemeClr val="accent3">
                  <a:alpha val="85000"/>
                </a:schemeClr>
              </a:gs>
              <a:gs pos="100000">
                <a:schemeClr val="accent3">
                  <a:alpha val="100000"/>
                </a:schemeClr>
              </a:gs>
            </a:gsLst>
            <a:lin ang="0"/>
          </a:gradFill>
          <a:ln/>
        </p:spPr>
        <p:extLst>
          <p:ext uri="http://schemas.baidu.com/office/drawing/2023/templateData">
            <bd:templateData xmlns:bd="http://schemas.baidu.com/office/drawing/2023/templateData">eyJ0YWciOiJub0VkaXQifQ==</bd:templateData>
          </p:ext>
        </p:extLst>
      </p:sp>
      <p:sp>
        <p:nvSpPr>
          <p:cNvPr id="7" name="TextBox 7"/>
          <p:cNvSpPr txBox="1"/>
          <p:nvPr/>
        </p:nvSpPr>
        <p:spPr>
          <a:xfrm rot="0">
            <a:off x="4633871" y="4253184"/>
            <a:ext cx="2888502" cy="266700"/>
          </a:xfrm>
          <a:prstGeom prst="rect">
            <a:avLst/>
          </a:prstGeom>
          <a:noFill/>
          <a:ln/>
        </p:spPr>
        <p:txBody>
          <a:bodyPr anchor="t" anchorCtr="0" bIns="0" lIns="0" rIns="0" rtlCol="0" tIns="0" vert="horz" wrap="none">
            <a:spAutoFit/>
          </a:bodyPr>
          <a:lstStyle/>
          <a:p>
            <a:pPr algn="ctr">
              <a:lnSpc>
                <a:spcPct val="100000"/>
              </a:lnSpc>
              <a:spcBef>
                <a:spcPct val="0"/>
              </a:spcBef>
            </a:pPr>
            <a:r>
              <a:rPr lang="en-US" sz="1599">
                <a:solidFill>
                  <a:srgbClr val="FDFAFA">
                    <a:alpha val="100000"/>
                  </a:srgbClr>
                </a:solidFill>
                <a:latin typeface="Noto Sans SC"/>
                <a:ea typeface="Noto Sans SC"/>
                <a:cs typeface="Noto Sans SC"/>
              </a:rPr>
              <a:t>改进方向</a:t>
            </a:r>
          </a:p>
        </p:txBody>
        <p:extLst>
          <p:ext uri="http://schemas.baidu.com/office/drawing/2023/templateData">
            <bd:templateData xmlns:bd="http://schemas.baidu.com/office/drawing/2023/templateData">eyJfdGVtcGxhdGVEYXRhIjp7ImxpbmVDb3VudCI6IjEiLCJ3b3JkQ291bnQiOiIyIn0sInRhZyI6Im5vRWRpdCJ9</bd:templateData>
          </p:ext>
        </p:extLst>
      </p:sp>
      <p:sp>
        <p:nvSpPr>
          <p:cNvPr id="8" name="TextBox 8"/>
          <p:cNvSpPr txBox="1"/>
          <p:nvPr/>
        </p:nvSpPr>
        <p:spPr>
          <a:xfrm rot="0">
            <a:off x="6096000" y="1912106"/>
            <a:ext cx="1647825" cy="266700"/>
          </a:xfrm>
          <a:prstGeom prst="rect">
            <a:avLst/>
          </a:prstGeom>
          <a:noFill/>
          <a:ln/>
        </p:spPr>
        <p:txBody>
          <a:bodyPr anchor="t" anchorCtr="0" bIns="0" lIns="0" rIns="0" rtlCol="0" tIns="0" vert="horz" wrap="none">
            <a:spAutoFit/>
          </a:bodyPr>
          <a:lstStyle/>
          <a:p>
            <a:pPr algn="ctr">
              <a:lnSpc>
                <a:spcPct val="100000"/>
              </a:lnSpc>
              <a:spcBef>
                <a:spcPct val="0"/>
              </a:spcBef>
            </a:pPr>
            <a:r>
              <a:rPr lang="en-US" sz="1599">
                <a:solidFill>
                  <a:schemeClr val="dk1">
                    <a:alpha val="100000"/>
                  </a:schemeClr>
                </a:solidFill>
                <a:latin typeface="Noto Sans SC"/>
                <a:ea typeface="Noto Sans SC"/>
                <a:cs typeface="Noto Sans SC"/>
              </a:rPr>
              <a:t>信息缺</a:t>
            </a:r>
          </a:p>
        </p:txBody>
        <p:extLst>
          <p:ext uri="http://schemas.baidu.com/office/drawing/2023/templateData">
            <bd:templateData xmlns:bd="http://schemas.baidu.com/office/drawing/2023/templateData">eyJfdGVtcGxhdGVEYXRhIjp7ImxpbmVDb3VudCI6IjEiLCJ3b3JkQ291bnQiOiIyIn0sInRhZyI6Im5vRWRpdCJ9</bd:templateData>
          </p:ext>
        </p:extLst>
      </p:sp>
      <p:cxnSp>
        <p:nvCxnSpPr>
          <p:cNvPr id="9" name="Connector 9"/>
          <p:cNvCxnSpPr/>
          <p:nvPr/>
        </p:nvCxnSpPr>
        <p:spPr>
          <a:xfrm flipV="1">
            <a:off x="6910554" y="2375599"/>
            <a:ext cx="0" cy="3155935"/>
          </a:xfrm>
          <a:prstGeom prst="line">
            <a:avLst/>
          </a:prstGeom>
          <a:ln w="6350">
            <a:solidFill>
              <a:schemeClr val="accent1"/>
            </a:solidFill>
            <a:prstDash val="dash"/>
            <a:headEnd type="none"/>
            <a:tailEnd type="oval"/>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sp>
        <p:nvSpPr>
          <p:cNvPr id="10" name="TextBox 10"/>
          <p:cNvSpPr txBox="1"/>
          <p:nvPr/>
        </p:nvSpPr>
        <p:spPr>
          <a:xfrm rot="0">
            <a:off x="4746060" y="1332127"/>
            <a:ext cx="2776313" cy="266700"/>
          </a:xfrm>
          <a:prstGeom prst="rect">
            <a:avLst/>
          </a:prstGeom>
          <a:noFill/>
          <a:ln/>
        </p:spPr>
        <p:txBody>
          <a:bodyPr anchor="t" anchorCtr="0" bIns="0" lIns="0" rIns="0" rtlCol="0" tIns="0" vert="horz" wrap="none">
            <a:spAutoFit/>
          </a:bodyPr>
          <a:lstStyle/>
          <a:p>
            <a:pPr algn="ctr">
              <a:lnSpc>
                <a:spcPct val="100000"/>
              </a:lnSpc>
              <a:spcBef>
                <a:spcPct val="0"/>
              </a:spcBef>
            </a:pPr>
            <a:r>
              <a:rPr lang="en-US" sz="1599">
                <a:solidFill>
                  <a:schemeClr val="dk1">
                    <a:alpha val="100000"/>
                  </a:schemeClr>
                </a:solidFill>
                <a:latin typeface="Noto Sans SC"/>
                <a:ea typeface="Noto Sans SC"/>
                <a:cs typeface="Noto Sans SC"/>
              </a:rPr>
              <a:t>沟通差</a:t>
            </a:r>
          </a:p>
        </p:txBody>
        <p:extLst>
          <p:ext uri="http://schemas.baidu.com/office/drawing/2023/templateData">
            <bd:templateData xmlns:bd="http://schemas.baidu.com/office/drawing/2023/templateData">eyJfdGVtcGxhdGVEYXRhIjp7ImxpbmVDb3VudCI6IjEiLCJ3b3JkQ291bnQiOiIyIn0sInRhZyI6Im5vRWRpdCJ9</bd:templateData>
          </p:ext>
        </p:extLst>
      </p:sp>
      <p:cxnSp>
        <p:nvCxnSpPr>
          <p:cNvPr id="11" name="Connector 11"/>
          <p:cNvCxnSpPr/>
          <p:nvPr/>
        </p:nvCxnSpPr>
        <p:spPr>
          <a:xfrm flipV="1">
            <a:off x="6102007" y="1795620"/>
            <a:ext cx="0" cy="3849027"/>
          </a:xfrm>
          <a:prstGeom prst="line">
            <a:avLst/>
          </a:prstGeom>
          <a:ln w="6350">
            <a:solidFill>
              <a:schemeClr val="accent1"/>
            </a:solidFill>
            <a:prstDash val="dash"/>
            <a:headEnd type="none"/>
            <a:tailEnd type="oval"/>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sp>
        <p:nvSpPr>
          <p:cNvPr id="12" name="TextBox 12"/>
          <p:cNvSpPr txBox="1"/>
          <p:nvPr/>
        </p:nvSpPr>
        <p:spPr>
          <a:xfrm rot="0">
            <a:off x="4456775" y="1779643"/>
            <a:ext cx="1639225" cy="266700"/>
          </a:xfrm>
          <a:prstGeom prst="rect">
            <a:avLst/>
          </a:prstGeom>
          <a:noFill/>
          <a:ln/>
        </p:spPr>
        <p:txBody>
          <a:bodyPr anchor="t" anchorCtr="0" bIns="0" lIns="0" rIns="0" rtlCol="0" tIns="0" vert="horz" wrap="none">
            <a:spAutoFit/>
          </a:bodyPr>
          <a:lstStyle/>
          <a:p>
            <a:pPr algn="ctr">
              <a:lnSpc>
                <a:spcPct val="100000"/>
              </a:lnSpc>
              <a:spcBef>
                <a:spcPct val="0"/>
              </a:spcBef>
            </a:pPr>
            <a:r>
              <a:rPr lang="en-US" sz="1599">
                <a:solidFill>
                  <a:schemeClr val="dk1">
                    <a:alpha val="100000"/>
                  </a:schemeClr>
                </a:solidFill>
                <a:latin typeface="Noto Sans SC"/>
                <a:ea typeface="Noto Sans SC"/>
                <a:cs typeface="Noto Sans SC"/>
              </a:rPr>
              <a:t>效率低</a:t>
            </a:r>
          </a:p>
        </p:txBody>
        <p:extLst>
          <p:ext uri="http://schemas.baidu.com/office/drawing/2023/templateData">
            <bd:templateData xmlns:bd="http://schemas.baidu.com/office/drawing/2023/templateData">eyJfdGVtcGxhdGVEYXRhIjp7ImxpbmVDb3VudCI6IjEiLCJ3b3JkQ291bnQiOiIyIn0sInRhZyI6Im5vRWRpdCJ9</bd:templateData>
          </p:ext>
        </p:extLst>
      </p:sp>
      <p:cxnSp>
        <p:nvCxnSpPr>
          <p:cNvPr id="13" name="Connector 13"/>
          <p:cNvCxnSpPr/>
          <p:nvPr/>
        </p:nvCxnSpPr>
        <p:spPr>
          <a:xfrm flipV="1">
            <a:off x="5237760" y="2243136"/>
            <a:ext cx="0" cy="3155935"/>
          </a:xfrm>
          <a:prstGeom prst="line">
            <a:avLst/>
          </a:prstGeom>
          <a:ln w="6350">
            <a:solidFill>
              <a:schemeClr val="accent1"/>
            </a:solidFill>
            <a:prstDash val="dash"/>
            <a:headEnd type="none"/>
            <a:tailEnd type="oval"/>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sp>
        <p:nvSpPr>
          <p:cNvPr id="14" name="AutoShape 14"/>
          <p:cNvSpPr/>
          <p:nvPr/>
        </p:nvSpPr>
        <p:spPr>
          <a:xfrm flipH="1" rot="0">
            <a:off x="366061" y="1266493"/>
            <a:ext cx="3107328" cy="2427980"/>
          </a:xfrm>
          <a:prstGeom prst="roundRect">
            <a:avLst>
              <a:gd fmla="val 0"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15" name="AutoShape 15"/>
          <p:cNvSpPr/>
          <p:nvPr/>
        </p:nvSpPr>
        <p:spPr>
          <a:xfrm flipH="1" rot="0">
            <a:off x="366061" y="1266492"/>
            <a:ext cx="3107327" cy="408385"/>
          </a:xfrm>
          <a:prstGeom prst="roundRect">
            <a:avLst>
              <a:gd fmla="val 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16" name="TextBox 16"/>
          <p:cNvSpPr txBox="1"/>
          <p:nvPr/>
        </p:nvSpPr>
        <p:spPr>
          <a:xfrm rot="0">
            <a:off x="580792" y="1358201"/>
            <a:ext cx="2765990" cy="257175"/>
          </a:xfrm>
          <a:prstGeom prst="rect">
            <a:avLst/>
          </a:prstGeom>
          <a:noFill/>
          <a:ln/>
        </p:spPr>
        <p:txBody>
          <a:bodyPr anchor="t" anchorCtr="0" bIns="0" lIns="0" rIns="0" rtlCol="0" tIns="0" vert="horz" wrap="square">
            <a:spAutoFit/>
          </a:bodyPr>
          <a:lstStyle/>
          <a:p>
            <a:pPr algn="l">
              <a:lnSpc>
                <a:spcPct val="100000"/>
              </a:lnSpc>
              <a:spcBef>
                <a:spcPct val="0"/>
              </a:spcBef>
            </a:pPr>
            <a:r>
              <a:rPr lang="en-US" sz="1500">
                <a:solidFill>
                  <a:srgbClr val="FBF8F8">
                    <a:alpha val="100000"/>
                  </a:srgbClr>
                </a:solidFill>
                <a:latin typeface="Noto Sans SC"/>
                <a:ea typeface="Noto Sans SC"/>
                <a:cs typeface="Noto Sans SC"/>
              </a:rPr>
              <a:t>优化贡献评估流程</a:t>
            </a:r>
          </a:p>
        </p:txBody>
        <p:extLst>
          <p:ext uri="http://schemas.baidu.com/office/drawing/2023/templateData">
            <bd:templateData xmlns:bd="http://schemas.baidu.com/office/drawing/2023/templateData">eyJfdGVtcGxhdGVEYXRhIjp7ImxpbmVDb3VudCI6IjEiLCJ3b3JkQ291bnQiOiIxMCJ9LCJ0YWciOiJub0VkaXQifQ==</bd:templateData>
          </p:ext>
        </p:extLst>
      </p:sp>
      <p:sp>
        <p:nvSpPr>
          <p:cNvPr id="17" name="TextBox 17"/>
          <p:cNvSpPr txBox="1"/>
          <p:nvPr/>
        </p:nvSpPr>
        <p:spPr>
          <a:xfrm rot="0">
            <a:off x="489336" y="2174058"/>
            <a:ext cx="2916555" cy="453390"/>
          </a:xfrm>
          <a:prstGeom prst="rect">
            <a:avLst/>
          </a:prstGeom>
          <a:noFill/>
          <a:ln/>
        </p:spPr>
        <p:txBody>
          <a:bodyPr anchor="t" anchorCtr="0" bIns="45720" lIns="91440" rIns="91440" rtlCol="0" tIns="45720" vert="horz" wrap="square">
            <a:spAutoFit/>
          </a:bodyPr>
          <a:lstStyle/>
          <a:p>
            <a:pPr algn="l">
              <a:lnSpc>
                <a:spcPct val="113999"/>
              </a:lnSpc>
              <a:spcBef>
                <a:spcPct val="0"/>
              </a:spcBef>
            </a:pPr>
            <a:r>
              <a:rPr lang="en-US" sz="999">
                <a:solidFill>
                  <a:schemeClr val="dk1">
                    <a:alpha val="100000"/>
                  </a:schemeClr>
                </a:solidFill>
                <a:latin typeface="Noto Sans SC"/>
                <a:ea typeface="Noto Sans SC"/>
                <a:cs typeface="Noto Sans SC"/>
              </a:rPr>
              <a:t>重构评估指标权重体系，首先验证现有指标的科学性，剔除过时指标，增加新兴贡献维度</a:t>
            </a:r>
          </a:p>
        </p:txBody>
        <p:extLst>
          <p:ext uri="http://schemas.baidu.com/office/drawing/2023/templateData">
            <bd:templateData xmlns:bd="http://schemas.baidu.com/office/drawing/2023/templateData">eyJfdGVtcGxhdGVEYXRhIjp7ImxpbmVDb3VudCI6IjIiLCJ3b3JkQ291bnQiOiIyMCJ9LCJ0YWciOiJub0VkaXQifQ==</bd:templateData>
          </p:ext>
        </p:extLst>
      </p:sp>
      <p:sp>
        <p:nvSpPr>
          <p:cNvPr id="18" name="TextBox 18"/>
          <p:cNvSpPr txBox="1"/>
          <p:nvPr/>
        </p:nvSpPr>
        <p:spPr>
          <a:xfrm rot="0">
            <a:off x="4633871" y="5609112"/>
            <a:ext cx="2888502" cy="266700"/>
          </a:xfrm>
          <a:prstGeom prst="rect">
            <a:avLst/>
          </a:prstGeom>
          <a:noFill/>
          <a:ln/>
        </p:spPr>
        <p:txBody>
          <a:bodyPr anchor="t" anchorCtr="0" bIns="0" lIns="0" rIns="0" rtlCol="0" tIns="0" vert="horz" wrap="none">
            <a:spAutoFit/>
          </a:bodyPr>
          <a:lstStyle/>
          <a:p>
            <a:pPr algn="ctr">
              <a:lnSpc>
                <a:spcPct val="100000"/>
              </a:lnSpc>
              <a:spcBef>
                <a:spcPct val="0"/>
              </a:spcBef>
            </a:pPr>
            <a:r>
              <a:rPr lang="en-US" sz="1599">
                <a:solidFill>
                  <a:srgbClr val="FBF9F9">
                    <a:alpha val="100000"/>
                  </a:srgbClr>
                </a:solidFill>
                <a:latin typeface="Noto Sans SC"/>
                <a:ea typeface="Noto Sans SC"/>
                <a:cs typeface="Noto Sans SC"/>
              </a:rPr>
              <a:t>现存问题</a:t>
            </a:r>
          </a:p>
        </p:txBody>
        <p:extLst>
          <p:ext uri="http://schemas.baidu.com/office/drawing/2023/templateData">
            <bd:templateData xmlns:bd="http://schemas.baidu.com/office/drawing/2023/templateData">eyJ0YWciOiJub0VkaXQifQ==</bd:templateData>
          </p:ext>
        </p:extLst>
      </p:sp>
      <p:sp>
        <p:nvSpPr>
          <p:cNvPr id="19" name="AutoShape 19"/>
          <p:cNvSpPr/>
          <p:nvPr/>
        </p:nvSpPr>
        <p:spPr>
          <a:xfrm rot="0">
            <a:off x="8721673" y="4000845"/>
            <a:ext cx="656663" cy="656663"/>
          </a:xfrm>
          <a:prstGeom prst="ellipse">
            <a:avLst/>
          </a:prstGeom>
          <a:solidFill>
            <a:schemeClr val="accent2">
              <a:alpha val="100000"/>
            </a:schemeClr>
          </a:solidFill>
          <a:ln/>
        </p:spPr>
        <p:txBody>
          <a:bodyPr anchor="t" anchorCtr="0" bIns="45720" lIns="91440" rIns="91440" rtlCol="0" tIns="45720" vert="horz" wrap="square">
            <a:normAutofit/>
          </a:bodyPr>
          <a:lstStyle/>
          <a:p>
            <a:pPr algn="l">
              <a:lnSpc>
                <a:spcPct val="100000"/>
              </a:lnSpc>
              <a:spcBef>
                <a:spcPts val="375"/>
              </a:spcBef>
              <a:defRPr/>
            </a:pPr>
            <a:r>
              <a:rPr lang="en-US" sz="900">
                <a:solidFill>
                  <a:srgbClr val="FFFFFF">
                    <a:alpha val="100000"/>
                  </a:srgbClr>
                </a:solidFill>
                <a:latin typeface="Noto Sans SC"/>
                <a:ea typeface="Noto Sans SC"/>
                <a:cs typeface="Noto Sans SC"/>
              </a:rPr>
              <a:t/>
            </a:r>
            <a:endParaRPr lang="en-US" sz="1100"/>
          </a:p>
        </p:txBody>
        <p:extLst>
          <p:ext uri="http://schemas.baidu.com/office/drawing/2023/templateData">
            <bd:templateData xmlns:bd="http://schemas.baidu.com/office/drawing/2023/templateData">eyJ0YWciOiJub0VkaXQifQ==</bd:templateData>
          </p:ext>
        </p:extLst>
      </p:sp>
      <p:sp>
        <p:nvSpPr>
          <p:cNvPr id="20" name="TextBox 20"/>
          <p:cNvSpPr txBox="1"/>
          <p:nvPr/>
        </p:nvSpPr>
        <p:spPr>
          <a:xfrm rot="0">
            <a:off x="489336" y="3091558"/>
            <a:ext cx="2916555" cy="453390"/>
          </a:xfrm>
          <a:prstGeom prst="rect">
            <a:avLst/>
          </a:prstGeom>
          <a:noFill/>
          <a:ln/>
        </p:spPr>
        <p:txBody>
          <a:bodyPr anchor="t" anchorCtr="0" bIns="45720" lIns="91440" rIns="91440" rtlCol="0" tIns="45720" vert="horz" wrap="square">
            <a:spAutoFit/>
          </a:bodyPr>
          <a:lstStyle/>
          <a:p>
            <a:pPr algn="l">
              <a:lnSpc>
                <a:spcPct val="113999"/>
              </a:lnSpc>
              <a:spcBef>
                <a:spcPct val="0"/>
              </a:spcBef>
            </a:pPr>
            <a:r>
              <a:rPr lang="en-US" sz="999">
                <a:solidFill>
                  <a:schemeClr val="dk1">
                    <a:alpha val="100000"/>
                  </a:schemeClr>
                </a:solidFill>
                <a:latin typeface="Noto Sans SC"/>
                <a:ea typeface="Noto Sans SC"/>
                <a:cs typeface="Noto Sans SC"/>
              </a:rPr>
              <a:t>部署智能分析模块，基于开发者行为数据自动生成影响力报告，减少人工干预环节</a:t>
            </a:r>
          </a:p>
        </p:txBody>
        <p:extLst>
          <p:ext uri="http://schemas.baidu.com/office/drawing/2023/templateData">
            <bd:templateData xmlns:bd="http://schemas.baidu.com/office/drawing/2023/templateData">eyJfdGVtcGxhdGVEYXRhIjp7ImxpbmVDb3VudCI6IjIiLCJ3b3JkQ291bnQiOiIyMCJ9LCJ0YWciOiJub0VkaXQifQ==</bd:templateData>
          </p:ext>
        </p:extLst>
      </p:sp>
      <p:sp>
        <p:nvSpPr>
          <p:cNvPr id="21" name="AutoShape 21"/>
          <p:cNvSpPr/>
          <p:nvPr/>
        </p:nvSpPr>
        <p:spPr>
          <a:xfrm flipH="1" rot="0">
            <a:off x="8721673" y="4993943"/>
            <a:ext cx="3107328" cy="1461946"/>
          </a:xfrm>
          <a:prstGeom prst="roundRect">
            <a:avLst>
              <a:gd fmla="val 0"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22" name="AutoShape 22"/>
          <p:cNvSpPr/>
          <p:nvPr/>
        </p:nvSpPr>
        <p:spPr>
          <a:xfrm flipH="1" rot="0">
            <a:off x="8721673" y="4915391"/>
            <a:ext cx="3107328" cy="408385"/>
          </a:xfrm>
          <a:prstGeom prst="roundRect">
            <a:avLst>
              <a:gd fmla="val 0" name="adj"/>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23" name="TextBox 23"/>
          <p:cNvSpPr txBox="1"/>
          <p:nvPr/>
        </p:nvSpPr>
        <p:spPr>
          <a:xfrm rot="0">
            <a:off x="8930278" y="5003482"/>
            <a:ext cx="2766402" cy="257175"/>
          </a:xfrm>
          <a:prstGeom prst="rect">
            <a:avLst/>
          </a:prstGeom>
          <a:noFill/>
          <a:ln/>
        </p:spPr>
        <p:txBody>
          <a:bodyPr anchor="t" anchorCtr="0" bIns="0" lIns="0" rIns="0" rtlCol="0" tIns="0" vert="horz" wrap="square">
            <a:spAutoFit/>
          </a:bodyPr>
          <a:lstStyle/>
          <a:p>
            <a:pPr algn="l">
              <a:lnSpc>
                <a:spcPct val="100000"/>
              </a:lnSpc>
              <a:spcBef>
                <a:spcPct val="0"/>
              </a:spcBef>
            </a:pPr>
            <a:r>
              <a:rPr lang="en-US" sz="1500">
                <a:solidFill>
                  <a:srgbClr val="FBF9F9">
                    <a:alpha val="100000"/>
                  </a:srgbClr>
                </a:solidFill>
                <a:latin typeface="Noto Sans SC"/>
                <a:ea typeface="Noto Sans SC"/>
                <a:cs typeface="Noto Sans SC"/>
              </a:rPr>
              <a:t>协作断层</a:t>
            </a:r>
          </a:p>
        </p:txBody>
        <p:extLst>
          <p:ext uri="http://schemas.baidu.com/office/drawing/2023/templateData">
            <bd:templateData xmlns:bd="http://schemas.baidu.com/office/drawing/2023/templateData">eyJfdGVtcGxhdGVEYXRhIjp7ImxpbmVDb3VudCI6IjEiLCJ3b3JkQ291bnQiOiIxMyJ9LCJ0YWciOiJub0VkaXQifQ==</bd:templateData>
          </p:ext>
        </p:extLst>
      </p:sp>
      <p:sp>
        <p:nvSpPr>
          <p:cNvPr id="24" name="TextBox 24"/>
          <p:cNvSpPr txBox="1"/>
          <p:nvPr/>
        </p:nvSpPr>
        <p:spPr>
          <a:xfrm rot="0">
            <a:off x="8844948" y="5595937"/>
            <a:ext cx="2916555" cy="634365"/>
          </a:xfrm>
          <a:prstGeom prst="rect">
            <a:avLst/>
          </a:prstGeom>
          <a:noFill/>
          <a:ln/>
        </p:spPr>
        <p:txBody>
          <a:bodyPr anchor="t" anchorCtr="0" bIns="45720" lIns="91440" rIns="91440" rtlCol="0" tIns="45720" vert="horz" wrap="square">
            <a:spAutoFit/>
          </a:bodyPr>
          <a:lstStyle/>
          <a:p>
            <a:pPr algn="l">
              <a:lnSpc>
                <a:spcPct val="113999"/>
              </a:lnSpc>
              <a:spcBef>
                <a:spcPct val="0"/>
              </a:spcBef>
            </a:pPr>
            <a:r>
              <a:rPr lang="en-US" sz="999">
                <a:solidFill>
                  <a:schemeClr val="dk1">
                    <a:alpha val="100000"/>
                  </a:schemeClr>
                </a:solidFill>
                <a:latin typeface="Noto Sans SC"/>
                <a:ea typeface="Noto Sans SC"/>
                <a:cs typeface="Noto Sans SC"/>
              </a:rPr>
              <a:t>跨时区协作导致响应延迟，新人引导机制缺失造成核心开发者负担过重，需建立分层沟通体系</a:t>
            </a:r>
          </a:p>
        </p:txBody>
        <p:extLst>
          <p:ext uri="http://schemas.baidu.com/office/drawing/2023/templateData">
            <bd:templateData xmlns:bd="http://schemas.baidu.com/office/drawing/2023/templateData">eyJfdGVtcGxhdGVEYXRhIjp7ImxpbmVDb3VudCI6IjMiLCJ3b3JkQ291bnQiOiIyMCJ9LCJ0YWciOiJub0VkaXQifQ==</bd:templateData>
          </p:ext>
        </p:extLst>
      </p:sp>
      <p:sp>
        <p:nvSpPr>
          <p:cNvPr id="25" name="AutoShape 25"/>
          <p:cNvSpPr/>
          <p:nvPr/>
        </p:nvSpPr>
        <p:spPr>
          <a:xfrm flipH="1" rot="0">
            <a:off x="8718611" y="1266493"/>
            <a:ext cx="3107328" cy="2427980"/>
          </a:xfrm>
          <a:prstGeom prst="roundRect">
            <a:avLst>
              <a:gd fmla="val 0"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26" name="AutoShape 26"/>
          <p:cNvSpPr/>
          <p:nvPr/>
        </p:nvSpPr>
        <p:spPr>
          <a:xfrm flipH="1" rot="0">
            <a:off x="8718611" y="1266492"/>
            <a:ext cx="3107327" cy="408385"/>
          </a:xfrm>
          <a:prstGeom prst="roundRect">
            <a:avLst>
              <a:gd fmla="val 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27" name="TextBox 27"/>
          <p:cNvSpPr txBox="1"/>
          <p:nvPr/>
        </p:nvSpPr>
        <p:spPr>
          <a:xfrm rot="0">
            <a:off x="8930278" y="1358201"/>
            <a:ext cx="2422414" cy="257175"/>
          </a:xfrm>
          <a:prstGeom prst="rect">
            <a:avLst/>
          </a:prstGeom>
          <a:noFill/>
          <a:ln/>
        </p:spPr>
        <p:txBody>
          <a:bodyPr anchor="t" anchorCtr="0" bIns="0" lIns="0" rIns="0" rtlCol="0" tIns="0" vert="horz" wrap="square">
            <a:spAutoFit/>
          </a:bodyPr>
          <a:lstStyle/>
          <a:p>
            <a:pPr algn="l">
              <a:lnSpc>
                <a:spcPct val="100000"/>
              </a:lnSpc>
              <a:spcBef>
                <a:spcPct val="0"/>
              </a:spcBef>
            </a:pPr>
            <a:r>
              <a:rPr lang="en-US" sz="1500">
                <a:solidFill>
                  <a:srgbClr val="FFFBFB">
                    <a:alpha val="100000"/>
                  </a:srgbClr>
                </a:solidFill>
                <a:latin typeface="Noto Sans SC"/>
                <a:ea typeface="Noto Sans SC"/>
                <a:cs typeface="Noto Sans SC"/>
              </a:rPr>
              <a:t>建立社区沟通机制</a:t>
            </a:r>
          </a:p>
        </p:txBody>
        <p:extLst>
          <p:ext uri="http://schemas.baidu.com/office/drawing/2023/templateData">
            <bd:templateData xmlns:bd="http://schemas.baidu.com/office/drawing/2023/templateData">eyJfdGVtcGxhdGVEYXRhIjp7ImxpbmVDb3VudCI6IjEiLCJ3b3JkQ291bnQiOiIxMCJ9LCJ0YWciOiJub0VkaXQifQ==</bd:templateData>
          </p:ext>
        </p:extLst>
      </p:sp>
      <p:sp>
        <p:nvSpPr>
          <p:cNvPr id="28" name="TextBox 28"/>
          <p:cNvSpPr txBox="1"/>
          <p:nvPr/>
        </p:nvSpPr>
        <p:spPr>
          <a:xfrm rot="0">
            <a:off x="8841886" y="2174058"/>
            <a:ext cx="2916555" cy="272415"/>
          </a:xfrm>
          <a:prstGeom prst="rect">
            <a:avLst/>
          </a:prstGeom>
          <a:noFill/>
          <a:ln/>
        </p:spPr>
        <p:txBody>
          <a:bodyPr anchor="t" anchorCtr="0" bIns="45720" lIns="91440" rIns="91440" rtlCol="0" tIns="45720" vert="horz" wrap="square">
            <a:spAutoFit/>
          </a:bodyPr>
          <a:lstStyle/>
          <a:p>
            <a:pPr algn="l">
              <a:lnSpc>
                <a:spcPct val="113999"/>
              </a:lnSpc>
              <a:spcBef>
                <a:spcPct val="0"/>
              </a:spcBef>
            </a:pPr>
            <a:r>
              <a:rPr lang="en-US" sz="999">
                <a:solidFill>
                  <a:schemeClr val="dk1">
                    <a:alpha val="100000"/>
                  </a:schemeClr>
                </a:solidFill>
                <a:latin typeface="Noto Sans SC"/>
                <a:ea typeface="Noto Sans SC"/>
                <a:cs typeface="Noto Sans SC"/>
              </a:rPr>
              <a:t>每月举办核心贡献者圆桌会议，同步项目进展与技术路线</a:t>
            </a:r>
          </a:p>
        </p:txBody>
        <p:extLst>
          <p:ext uri="http://schemas.baidu.com/office/drawing/2023/templateData">
            <bd:templateData xmlns:bd="http://schemas.baidu.com/office/drawing/2023/templateData">eyJfdGVtcGxhdGVEYXRhIjp7ImxpbmVDb3VudCI6IjEiLCJ3b3JkQ291bnQiOiIyMCJ9LCJ0YWciOiJub0VkaXQifQ==</bd:templateData>
          </p:ext>
        </p:extLst>
      </p:sp>
      <p:sp>
        <p:nvSpPr>
          <p:cNvPr id="29" name="TextBox 29"/>
          <p:cNvSpPr txBox="1"/>
          <p:nvPr/>
        </p:nvSpPr>
        <p:spPr>
          <a:xfrm rot="0">
            <a:off x="8841886" y="2925064"/>
            <a:ext cx="2916555" cy="634365"/>
          </a:xfrm>
          <a:prstGeom prst="rect">
            <a:avLst/>
          </a:prstGeom>
          <a:noFill/>
          <a:ln/>
        </p:spPr>
        <p:txBody>
          <a:bodyPr anchor="t" anchorCtr="0" bIns="45720" lIns="91440" rIns="91440" rtlCol="0" tIns="45720" vert="horz" wrap="square">
            <a:spAutoFit/>
          </a:bodyPr>
          <a:lstStyle/>
          <a:p>
            <a:pPr algn="l">
              <a:lnSpc>
                <a:spcPct val="113999"/>
              </a:lnSpc>
              <a:spcBef>
                <a:spcPct val="0"/>
              </a:spcBef>
            </a:pPr>
            <a:r>
              <a:rPr lang="en-US" sz="999">
                <a:solidFill>
                  <a:schemeClr val="dk1">
                    <a:alpha val="100000"/>
                  </a:schemeClr>
                </a:solidFill>
                <a:latin typeface="Noto Sans SC"/>
                <a:ea typeface="Noto Sans SC"/>
                <a:cs typeface="Noto Sans SC"/>
              </a:rPr>
              <a:t>搭建社区知识图谱平台，整合代码提交、issue讨论等数据流，实现贡献追溯可视化</a:t>
            </a:r>
          </a:p>
        </p:txBody>
        <p:extLst>
          <p:ext uri="http://schemas.baidu.com/office/drawing/2023/templateData">
            <bd:templateData xmlns:bd="http://schemas.baidu.com/office/drawing/2023/templateData">eyJfdGVtcGxhdGVEYXRhIjp7ImxpbmVDb3VudCI6IjMiLCJ3b3JkQ291bnQiOiIyMCJ9LCJ0YWciOiJub0VkaXQifQ==</bd:templateData>
          </p:ext>
        </p:extLst>
      </p:sp>
      <p:sp>
        <p:nvSpPr>
          <p:cNvPr id="30" name="AutoShape 30"/>
          <p:cNvSpPr/>
          <p:nvPr/>
        </p:nvSpPr>
        <p:spPr>
          <a:xfrm flipH="1" rot="0">
            <a:off x="367382" y="4993943"/>
            <a:ext cx="3107328" cy="1461946"/>
          </a:xfrm>
          <a:prstGeom prst="roundRect">
            <a:avLst>
              <a:gd fmla="val 0" name="adj"/>
            </a:avLst>
          </a:prstGeom>
          <a:solidFill>
            <a:schemeClr val="lt2">
              <a:alpha val="100000"/>
            </a:schemeClr>
          </a:solidFill>
          <a:ln/>
        </p:spPr>
        <p:extLst>
          <p:ext uri="http://schemas.baidu.com/office/drawing/2023/templateData">
            <bd:templateData xmlns:bd="http://schemas.baidu.com/office/drawing/2023/templateData">eyJ0YWciOiJub0VkaXQifQ==</bd:templateData>
          </p:ext>
        </p:extLst>
      </p:sp>
      <p:sp>
        <p:nvSpPr>
          <p:cNvPr id="31" name="AutoShape 31"/>
          <p:cNvSpPr/>
          <p:nvPr/>
        </p:nvSpPr>
        <p:spPr>
          <a:xfrm flipH="1" rot="0">
            <a:off x="367382" y="4993942"/>
            <a:ext cx="3107327" cy="408385"/>
          </a:xfrm>
          <a:prstGeom prst="roundRect">
            <a:avLst>
              <a:gd fmla="val 0" name="adj"/>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32" name="TextBox 32"/>
          <p:cNvSpPr txBox="1"/>
          <p:nvPr/>
        </p:nvSpPr>
        <p:spPr>
          <a:xfrm rot="0">
            <a:off x="582113" y="5085651"/>
            <a:ext cx="2895600" cy="238125"/>
          </a:xfrm>
          <a:prstGeom prst="rect">
            <a:avLst/>
          </a:prstGeom>
          <a:noFill/>
          <a:ln/>
        </p:spPr>
        <p:txBody>
          <a:bodyPr anchor="t" anchorCtr="0" bIns="0" lIns="0" rIns="0" rtlCol="0" tIns="0" vert="horz" wrap="square">
            <a:spAutoFit/>
          </a:bodyPr>
          <a:lstStyle/>
          <a:p>
            <a:pPr algn="l">
              <a:lnSpc>
                <a:spcPct val="100000"/>
              </a:lnSpc>
              <a:spcBef>
                <a:spcPct val="0"/>
              </a:spcBef>
            </a:pPr>
            <a:r>
              <a:rPr lang="en-US" sz="1500">
                <a:solidFill>
                  <a:srgbClr val="FFFEFE">
                    <a:alpha val="100000"/>
                  </a:srgbClr>
                </a:solidFill>
                <a:latin typeface="Noto Sans SC"/>
                <a:ea typeface="Noto Sans SC"/>
                <a:cs typeface="Noto Sans SC"/>
              </a:rPr>
              <a:t>评估体系缺陷</a:t>
            </a:r>
          </a:p>
        </p:txBody>
        <p:extLst>
          <p:ext uri="http://schemas.baidu.com/office/drawing/2023/templateData">
            <bd:templateData xmlns:bd="http://schemas.baidu.com/office/drawing/2023/templateData">eyJfdGVtcGxhdGVEYXRhIjp7ImxpbmVDb3VudCI6IjEiLCJ3b3JkQ291bnQiOiIxMyJ9LCJ0YWciOiJub0VkaXQifQ==</bd:templateData>
          </p:ext>
        </p:extLst>
      </p:sp>
      <p:sp>
        <p:nvSpPr>
          <p:cNvPr id="33" name="TextBox 33"/>
          <p:cNvSpPr txBox="1"/>
          <p:nvPr/>
        </p:nvSpPr>
        <p:spPr>
          <a:xfrm rot="0">
            <a:off x="490657" y="5595937"/>
            <a:ext cx="2916555" cy="634365"/>
          </a:xfrm>
          <a:prstGeom prst="rect">
            <a:avLst/>
          </a:prstGeom>
          <a:noFill/>
          <a:ln/>
        </p:spPr>
        <p:txBody>
          <a:bodyPr anchor="t" anchorCtr="0" bIns="45720" lIns="91440" rIns="91440" rtlCol="0" tIns="45720" vert="horz" wrap="square">
            <a:spAutoFit/>
          </a:bodyPr>
          <a:lstStyle/>
          <a:p>
            <a:pPr algn="l">
              <a:lnSpc>
                <a:spcPct val="113999"/>
              </a:lnSpc>
              <a:spcBef>
                <a:spcPct val="0"/>
              </a:spcBef>
            </a:pPr>
            <a:r>
              <a:rPr lang="en-US" sz="999">
                <a:solidFill>
                  <a:schemeClr val="dk1">
                    <a:alpha val="100000"/>
                  </a:schemeClr>
                </a:solidFill>
                <a:latin typeface="Noto Sans SC"/>
                <a:ea typeface="Noto Sans SC"/>
                <a:cs typeface="Noto Sans SC"/>
              </a:rPr>
              <a:t>当前影响力评估模型未能充分反映非代码贡献价值，文档维护、社区答疑等关键活动缺乏量化标准</a:t>
            </a:r>
          </a:p>
        </p:txBody>
        <p:extLst>
          <p:ext uri="http://schemas.baidu.com/office/drawing/2023/templateData">
            <bd:templateData xmlns:bd="http://schemas.baidu.com/office/drawing/2023/templateData">eyJfdGVtcGxhdGVEYXRhIjp7ImxpbmVDb3VudCI6IjMiLCJ3b3JkQ291bnQiOiIyMCJ9LCJ0YWciOiJub0VkaXQifQ==</bd:templateData>
          </p:ext>
        </p:extLst>
      </p:sp>
      <p:sp>
        <p:nvSpPr>
          <p:cNvPr id="34" name="Freeform 34"/>
          <p:cNvSpPr/>
          <p:nvPr/>
        </p:nvSpPr>
        <p:spPr>
          <a:xfrm rot="0">
            <a:off x="8930278" y="4153304"/>
            <a:ext cx="285637" cy="340022"/>
          </a:xfrm>
          <a:custGeom>
            <a:avLst/>
            <a:gdLst/>
            <a:ahLst/>
            <a:cxnLst/>
            <a:rect b="b" l="l" r="r" t="t"/>
            <a:pathLst>
              <a:path h="478" w="401">
                <a:moveTo>
                  <a:pt x="401" y="89"/>
                </a:moveTo>
                <a:lnTo>
                  <a:pt x="401" y="293"/>
                </a:lnTo>
                <a:cubicBezTo>
                  <a:pt x="292" y="212"/>
                  <a:pt x="182" y="375"/>
                  <a:pt x="73" y="293"/>
                </a:cubicBezTo>
                <a:lnTo>
                  <a:pt x="73" y="89"/>
                </a:lnTo>
                <a:cubicBezTo>
                  <a:pt x="182" y="171"/>
                  <a:pt x="292" y="7"/>
                  <a:pt x="401" y="89"/>
                </a:cubicBezTo>
                <a:close/>
              </a:path>
              <a:path h="478" w="401">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35" name="AutoShape 35"/>
          <p:cNvSpPr/>
          <p:nvPr/>
        </p:nvSpPr>
        <p:spPr>
          <a:xfrm rot="0">
            <a:off x="10347273" y="4000845"/>
            <a:ext cx="656663" cy="656663"/>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36" name="AutoShape 36"/>
          <p:cNvSpPr/>
          <p:nvPr/>
        </p:nvSpPr>
        <p:spPr>
          <a:xfrm rot="0">
            <a:off x="2000864" y="4000845"/>
            <a:ext cx="656663" cy="656663"/>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37" name="AutoShape 37"/>
          <p:cNvSpPr/>
          <p:nvPr/>
        </p:nvSpPr>
        <p:spPr>
          <a:xfrm rot="0">
            <a:off x="1188064" y="4000845"/>
            <a:ext cx="656663" cy="656663"/>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38" name="Freeform 38"/>
          <p:cNvSpPr/>
          <p:nvPr/>
        </p:nvSpPr>
        <p:spPr>
          <a:xfrm rot="0">
            <a:off x="1396669" y="4153304"/>
            <a:ext cx="285637" cy="340022"/>
          </a:xfrm>
          <a:custGeom>
            <a:avLst/>
            <a:gdLst/>
            <a:ahLst/>
            <a:cxnLst/>
            <a:rect b="b" l="l" r="r" t="t"/>
            <a:pathLst>
              <a:path h="478" w="401">
                <a:moveTo>
                  <a:pt x="401" y="89"/>
                </a:moveTo>
                <a:lnTo>
                  <a:pt x="401" y="293"/>
                </a:lnTo>
                <a:cubicBezTo>
                  <a:pt x="292" y="212"/>
                  <a:pt x="182" y="375"/>
                  <a:pt x="73" y="293"/>
                </a:cubicBezTo>
                <a:lnTo>
                  <a:pt x="73" y="89"/>
                </a:lnTo>
                <a:cubicBezTo>
                  <a:pt x="182" y="171"/>
                  <a:pt x="292" y="7"/>
                  <a:pt x="401" y="89"/>
                </a:cubicBezTo>
                <a:close/>
              </a:path>
              <a:path h="478" w="401">
                <a:moveTo>
                  <a:pt x="39" y="0"/>
                </a:moveTo>
                <a:cubicBezTo>
                  <a:pt x="18" y="0"/>
                  <a:pt x="0" y="17"/>
                  <a:pt x="0" y="39"/>
                </a:cubicBezTo>
                <a:cubicBezTo>
                  <a:pt x="0" y="54"/>
                  <a:pt x="9" y="68"/>
                  <a:pt x="23" y="74"/>
                </a:cubicBezTo>
                <a:lnTo>
                  <a:pt x="23" y="478"/>
                </a:lnTo>
                <a:lnTo>
                  <a:pt x="56" y="478"/>
                </a:lnTo>
                <a:lnTo>
                  <a:pt x="56" y="74"/>
                </a:lnTo>
                <a:cubicBezTo>
                  <a:pt x="69" y="68"/>
                  <a:pt x="78" y="54"/>
                  <a:pt x="78" y="39"/>
                </a:cubicBezTo>
                <a:cubicBezTo>
                  <a:pt x="78" y="17"/>
                  <a:pt x="61" y="0"/>
                  <a:pt x="39" y="0"/>
                </a:cubicBezTo>
              </a:path>
            </a:pathLst>
          </a:custGeom>
          <a:solidFill>
            <a:srgbClr val="FFFFFF">
              <a:alpha val="100000"/>
            </a:srgbClr>
          </a:solidFill>
          <a:ln/>
        </p:spPr>
        <p:extLst>
          <p:ext uri="http://schemas.baidu.com/office/drawing/2023/templateData">
            <bd:templateData xmlns:bd="http://schemas.baidu.com/office/drawing/2023/templateData">eyJfdGVtcGxhdGVEYXRhIjp7ImxpbmVDb3VudCI6IjEiLCJ3b3JkQ291bnQiOiIifSwidGFnIjoibm9FZGl0In0=</bd:templateData>
          </p:ext>
        </p:extLst>
      </p:sp>
      <p:sp>
        <p:nvSpPr>
          <p:cNvPr id="39" name="AutoShape 39"/>
          <p:cNvSpPr/>
          <p:nvPr/>
        </p:nvSpPr>
        <p:spPr>
          <a:xfrm rot="0">
            <a:off x="2813664" y="4000845"/>
            <a:ext cx="656663" cy="656663"/>
          </a:xfrm>
          <a:prstGeom prst="ellipse">
            <a:avLst/>
          </a:prstGeom>
          <a:solidFill>
            <a:schemeClr val="accent2">
              <a:alpha val="100000"/>
            </a:schemeClr>
          </a:solidFill>
          <a:ln/>
        </p:spPr>
        <p:extLst>
          <p:ext uri="http://schemas.baidu.com/office/drawing/2023/templateData">
            <bd:templateData xmlns:bd="http://schemas.baidu.com/office/drawing/2023/templateData">eyJ0YWciOiJub0VkaXQifQ==</bd:templateData>
          </p:ext>
        </p:extLst>
      </p:sp>
      <p:sp>
        <p:nvSpPr>
          <p:cNvPr id="40" name="TextBox 40"/>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未来改进方向</a:t>
            </a:r>
          </a:p>
        </p:txBody>
        <p:extLst>
          <p:ext uri="http://schemas.baidu.com/office/drawing/2023/templateData">
            <bd:templateData xmlns:bd="http://schemas.baidu.com/office/drawing/2023/templateData">eyJfdGVtcGxhdGVEYXRhIjp7ImNvbnRlbnRUeXBlIjoiJHRpdGxlIiwibGluZUNvdW50IjoiMSIsIndvcmRDb3VudCI6IjI4In0sInRhZyI6Im5vRWRpdCJ9</bd:templateData>
          </p:ext>
        </p:extLst>
      </p:sp>
      <p:sp>
        <p:nvSpPr>
          <p:cNvPr id="41" name="Freeform 41"/>
          <p:cNvSpPr/>
          <p:nvPr/>
        </p:nvSpPr>
        <p:spPr>
          <a:xfrm rot="0">
            <a:off x="2072808" y="4135371"/>
            <a:ext cx="512775" cy="387612"/>
          </a:xfrm>
          <a:custGeom>
            <a:avLst/>
            <a:gdLst/>
            <a:ahLst/>
            <a:cxnLst/>
            <a:rect b="b" l="l" r="r" t="t"/>
            <a:pathLst>
              <a:path h="304800" w="304800">
                <a:moveTo>
                  <a:pt x="147409" y="185366"/>
                </a:moveTo>
                <a:lnTo>
                  <a:pt x="66913" y="266338"/>
                </a:lnTo>
                <a:lnTo>
                  <a:pt x="66913" y="47987"/>
                </a:lnTo>
                <a:lnTo>
                  <a:pt x="228371" y="47987"/>
                </a:lnTo>
                <a:lnTo>
                  <a:pt x="228371" y="266338"/>
                </a:lnTo>
                <a:lnTo>
                  <a:pt x="147409" y="185366"/>
                </a:lnTo>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42" name="Freeform 42"/>
          <p:cNvSpPr/>
          <p:nvPr/>
        </p:nvSpPr>
        <p:spPr>
          <a:xfrm rot="0">
            <a:off x="9624336" y="4180302"/>
            <a:ext cx="497501" cy="330057"/>
          </a:xfrm>
          <a:custGeom>
            <a:avLst/>
            <a:gdLst/>
            <a:ahLst/>
            <a:cxnLst/>
            <a:rect b="b" l="l" r="r" t="t"/>
            <a:pathLst>
              <a:path h="304800" w="304800">
                <a:moveTo>
                  <a:pt x="147409" y="185366"/>
                </a:moveTo>
                <a:lnTo>
                  <a:pt x="66913" y="266338"/>
                </a:lnTo>
                <a:lnTo>
                  <a:pt x="66913" y="47987"/>
                </a:lnTo>
                <a:lnTo>
                  <a:pt x="228371" y="47987"/>
                </a:lnTo>
                <a:lnTo>
                  <a:pt x="228371" y="266338"/>
                </a:lnTo>
                <a:lnTo>
                  <a:pt x="147409" y="185366"/>
                </a:lnTo>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43" name="Freeform 43"/>
          <p:cNvSpPr/>
          <p:nvPr/>
        </p:nvSpPr>
        <p:spPr>
          <a:xfrm rot="0">
            <a:off x="2937209" y="4124390"/>
            <a:ext cx="409574" cy="409574"/>
          </a:xfrm>
          <a:custGeom>
            <a:avLst/>
            <a:gdLst/>
            <a:ahLst/>
            <a:cxnLst/>
            <a:rect b="b" l="l" r="r" t="t"/>
            <a:pathLst>
              <a:path h="304800" w="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44" name="Freeform 44"/>
          <p:cNvSpPr/>
          <p:nvPr/>
        </p:nvSpPr>
        <p:spPr>
          <a:xfrm rot="0">
            <a:off x="10470818" y="4124390"/>
            <a:ext cx="409574" cy="409574"/>
          </a:xfrm>
          <a:custGeom>
            <a:avLst/>
            <a:gdLst/>
            <a:ahLst/>
            <a:cxnLst/>
            <a:rect b="b" l="l" r="r" t="t"/>
            <a:pathLst>
              <a:path h="304800" w="304800">
                <a:moveTo>
                  <a:pt x="304800" y="171155"/>
                </a:moveTo>
                <a:lnTo>
                  <a:pt x="304800" y="133055"/>
                </a:lnTo>
                <a:lnTo>
                  <a:pt x="259261" y="114081"/>
                </a:lnTo>
                <a:cubicBezTo>
                  <a:pt x="257994" y="110509"/>
                  <a:pt x="256661" y="107051"/>
                  <a:pt x="255022" y="103661"/>
                </a:cubicBezTo>
                <a:lnTo>
                  <a:pt x="273406" y="57893"/>
                </a:lnTo>
                <a:lnTo>
                  <a:pt x="246459" y="30956"/>
                </a:lnTo>
                <a:lnTo>
                  <a:pt x="201101" y="49635"/>
                </a:lnTo>
                <a:cubicBezTo>
                  <a:pt x="197644" y="47958"/>
                  <a:pt x="194110" y="46549"/>
                  <a:pt x="190462" y="45244"/>
                </a:cubicBezTo>
                <a:lnTo>
                  <a:pt x="171155" y="0"/>
                </a:lnTo>
                <a:lnTo>
                  <a:pt x="133055" y="0"/>
                </a:lnTo>
                <a:lnTo>
                  <a:pt x="114224" y="45091"/>
                </a:lnTo>
                <a:cubicBezTo>
                  <a:pt x="110433" y="46434"/>
                  <a:pt x="106785" y="47844"/>
                  <a:pt x="103175" y="49559"/>
                </a:cubicBezTo>
                <a:lnTo>
                  <a:pt x="57893" y="31366"/>
                </a:lnTo>
                <a:lnTo>
                  <a:pt x="30956" y="58303"/>
                </a:lnTo>
                <a:lnTo>
                  <a:pt x="49416" y="103175"/>
                </a:lnTo>
                <a:cubicBezTo>
                  <a:pt x="47625" y="106861"/>
                  <a:pt x="46177" y="110614"/>
                  <a:pt x="44796" y="114491"/>
                </a:cubicBezTo>
                <a:lnTo>
                  <a:pt x="0" y="133645"/>
                </a:lnTo>
                <a:lnTo>
                  <a:pt x="0" y="171745"/>
                </a:lnTo>
                <a:lnTo>
                  <a:pt x="44834" y="190424"/>
                </a:lnTo>
                <a:cubicBezTo>
                  <a:pt x="46215" y="194291"/>
                  <a:pt x="47701" y="198053"/>
                  <a:pt x="49482" y="201740"/>
                </a:cubicBezTo>
                <a:lnTo>
                  <a:pt x="31366" y="246907"/>
                </a:lnTo>
                <a:lnTo>
                  <a:pt x="58303" y="273844"/>
                </a:lnTo>
                <a:lnTo>
                  <a:pt x="103289" y="255318"/>
                </a:lnTo>
                <a:cubicBezTo>
                  <a:pt x="106899" y="257032"/>
                  <a:pt x="110585" y="258404"/>
                  <a:pt x="114376" y="259709"/>
                </a:cubicBezTo>
                <a:lnTo>
                  <a:pt x="133645" y="304800"/>
                </a:lnTo>
                <a:lnTo>
                  <a:pt x="171745" y="304800"/>
                </a:lnTo>
                <a:lnTo>
                  <a:pt x="190605" y="259480"/>
                </a:lnTo>
                <a:cubicBezTo>
                  <a:pt x="194215" y="258137"/>
                  <a:pt x="197787" y="256727"/>
                  <a:pt x="201206" y="255089"/>
                </a:cubicBezTo>
                <a:lnTo>
                  <a:pt x="246898" y="273396"/>
                </a:lnTo>
                <a:lnTo>
                  <a:pt x="273834" y="246459"/>
                </a:lnTo>
                <a:lnTo>
                  <a:pt x="255079" y="200997"/>
                </a:lnTo>
                <a:cubicBezTo>
                  <a:pt x="256680" y="197577"/>
                  <a:pt x="257985" y="194110"/>
                  <a:pt x="259251" y="190576"/>
                </a:cubicBezTo>
                <a:lnTo>
                  <a:pt x="304800" y="171155"/>
                </a:lnTo>
                <a:close/>
                <a:moveTo>
                  <a:pt x="152105" y="209550"/>
                </a:moveTo>
                <a:cubicBezTo>
                  <a:pt x="120558" y="209550"/>
                  <a:pt x="94955" y="183947"/>
                  <a:pt x="94955" y="152400"/>
                </a:cubicBezTo>
                <a:cubicBezTo>
                  <a:pt x="94955" y="120853"/>
                  <a:pt x="120558" y="95250"/>
                  <a:pt x="152105" y="95250"/>
                </a:cubicBezTo>
                <a:cubicBezTo>
                  <a:pt x="183652" y="95250"/>
                  <a:pt x="209255" y="120853"/>
                  <a:pt x="209255" y="152400"/>
                </a:cubicBezTo>
                <a:cubicBezTo>
                  <a:pt x="209255" y="183947"/>
                  <a:pt x="183652" y="209550"/>
                  <a:pt x="152105" y="209550"/>
                </a:cubicBezTo>
                <a:close/>
              </a:path>
            </a:pathLst>
          </a:cu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45" name="AutoShape 45"/>
          <p:cNvSpPr/>
          <p:nvPr/>
        </p:nvSpPr>
        <p:spPr>
          <a:xfrm rot="0">
            <a:off x="569690" y="1849279"/>
            <a:ext cx="1431174" cy="285369"/>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46" name="TextBox 46"/>
          <p:cNvSpPr txBox="1"/>
          <p:nvPr/>
        </p:nvSpPr>
        <p:spPr>
          <a:xfrm rot="0">
            <a:off x="896207" y="1905286"/>
            <a:ext cx="952500"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rgbClr val="FFFEFE">
                    <a:alpha val="100000"/>
                  </a:srgbClr>
                </a:solidFill>
                <a:latin typeface="Noto Sans SC"/>
                <a:ea typeface="Noto Sans SC"/>
                <a:cs typeface="Noto Sans SC"/>
              </a:rPr>
              <a:t>策略1</a:t>
            </a:r>
          </a:p>
        </p:txBody>
        <p:extLst>
          <p:ext uri="http://schemas.baidu.com/office/drawing/2023/templateData">
            <bd:templateData xmlns:bd="http://schemas.baidu.com/office/drawing/2023/templateData">eyJ0YWciOiJub0VkaXQifQ==</bd:templateData>
          </p:ext>
        </p:extLst>
      </p:sp>
      <p:sp>
        <p:nvSpPr>
          <p:cNvPr id="47" name="AutoShape 47"/>
          <p:cNvSpPr/>
          <p:nvPr/>
        </p:nvSpPr>
        <p:spPr>
          <a:xfrm rot="0">
            <a:off x="611219" y="1882616"/>
            <a:ext cx="218694" cy="218694"/>
          </a:xfrm>
          <a:prstGeom prst="ellipse">
            <a:avLst/>
          </a:pr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48" name="Freeform 48"/>
          <p:cNvSpPr/>
          <p:nvPr/>
        </p:nvSpPr>
        <p:spPr>
          <a:xfrm rot="2700000">
            <a:off x="694468" y="1927670"/>
            <a:ext cx="57245" cy="98108"/>
          </a:xfrm>
          <a:custGeom>
            <a:avLst/>
            <a:gdLst/>
            <a:ahLst/>
            <a:cxnLst/>
            <a:rect b="b" l="l" r="r" t="t"/>
            <a:pathLst>
              <a:path h="415436" w="218174">
                <a:moveTo>
                  <a:pt x="218174" y="0"/>
                </a:moveTo>
                <a:lnTo>
                  <a:pt x="218174" y="415436"/>
                </a:lnTo>
                <a:lnTo>
                  <a:pt x="0" y="415436"/>
                </a:lnTo>
              </a:path>
            </a:pathLst>
          </a:custGeom>
          <a:noFill/>
          <a:ln w="38100">
            <a:solidFill>
              <a:schemeClr val="accent3">
                <a:alpha val="100000"/>
              </a:schemeClr>
            </a:solidFill>
            <a:prstDash val="solid"/>
          </a:ln>
        </p:spPr>
        <p:extLst>
          <p:ext uri="http://schemas.baidu.com/office/drawing/2023/templateData">
            <bd:templateData xmlns:bd="http://schemas.baidu.com/office/drawing/2023/templateData">eyJ0YWciOiJub0VkaXQifQ==</bd:templateData>
          </p:ext>
        </p:extLst>
      </p:sp>
      <p:sp>
        <p:nvSpPr>
          <p:cNvPr id="49" name="AutoShape 49"/>
          <p:cNvSpPr/>
          <p:nvPr/>
        </p:nvSpPr>
        <p:spPr>
          <a:xfrm rot="0">
            <a:off x="569690" y="2766727"/>
            <a:ext cx="1431174" cy="285369"/>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50" name="TextBox 50"/>
          <p:cNvSpPr txBox="1"/>
          <p:nvPr/>
        </p:nvSpPr>
        <p:spPr>
          <a:xfrm rot="0">
            <a:off x="896207" y="2822734"/>
            <a:ext cx="952500"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rgbClr val="FDFAFA">
                    <a:alpha val="100000"/>
                  </a:srgbClr>
                </a:solidFill>
                <a:latin typeface="Noto Sans SC"/>
                <a:ea typeface="Noto Sans SC"/>
                <a:cs typeface="Noto Sans SC"/>
              </a:rPr>
              <a:t>策略2</a:t>
            </a:r>
          </a:p>
        </p:txBody>
        <p:extLst>
          <p:ext uri="http://schemas.baidu.com/office/drawing/2023/templateData">
            <bd:templateData xmlns:bd="http://schemas.baidu.com/office/drawing/2023/templateData">eyJ0YWciOiJub0VkaXQifQ==</bd:templateData>
          </p:ext>
        </p:extLst>
      </p:sp>
      <p:sp>
        <p:nvSpPr>
          <p:cNvPr id="51" name="AutoShape 51"/>
          <p:cNvSpPr/>
          <p:nvPr/>
        </p:nvSpPr>
        <p:spPr>
          <a:xfrm rot="0">
            <a:off x="611219" y="2800160"/>
            <a:ext cx="218694" cy="218694"/>
          </a:xfrm>
          <a:prstGeom prst="ellipse">
            <a:avLst/>
          </a:pr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52" name="Freeform 52"/>
          <p:cNvSpPr/>
          <p:nvPr/>
        </p:nvSpPr>
        <p:spPr>
          <a:xfrm rot="2700000">
            <a:off x="694468" y="2845213"/>
            <a:ext cx="57245" cy="98108"/>
          </a:xfrm>
          <a:custGeom>
            <a:avLst/>
            <a:gdLst/>
            <a:ahLst/>
            <a:cxnLst/>
            <a:rect b="b" l="l" r="r" t="t"/>
            <a:pathLst>
              <a:path h="415436" w="218174">
                <a:moveTo>
                  <a:pt x="218174" y="0"/>
                </a:moveTo>
                <a:lnTo>
                  <a:pt x="218174" y="415436"/>
                </a:lnTo>
                <a:lnTo>
                  <a:pt x="0" y="415436"/>
                </a:lnTo>
              </a:path>
            </a:pathLst>
          </a:custGeom>
          <a:noFill/>
          <a:ln w="38100">
            <a:solidFill>
              <a:schemeClr val="accent3">
                <a:alpha val="100000"/>
              </a:schemeClr>
            </a:solidFill>
            <a:prstDash val="solid"/>
          </a:ln>
        </p:spPr>
        <p:extLst>
          <p:ext uri="http://schemas.baidu.com/office/drawing/2023/templateData">
            <bd:templateData xmlns:bd="http://schemas.baidu.com/office/drawing/2023/templateData">eyJ0YWciOiJub0VkaXQifQ==</bd:templateData>
          </p:ext>
        </p:extLst>
      </p:sp>
      <p:sp>
        <p:nvSpPr>
          <p:cNvPr id="53" name="AutoShape 53"/>
          <p:cNvSpPr/>
          <p:nvPr/>
        </p:nvSpPr>
        <p:spPr>
          <a:xfrm rot="0">
            <a:off x="8922258" y="1849279"/>
            <a:ext cx="1548560" cy="285369"/>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54" name="TextBox 54"/>
          <p:cNvSpPr txBox="1"/>
          <p:nvPr/>
        </p:nvSpPr>
        <p:spPr>
          <a:xfrm rot="0">
            <a:off x="9248775" y="1905286"/>
            <a:ext cx="1095375"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rgbClr val="FDFBFB">
                    <a:alpha val="100000"/>
                  </a:srgbClr>
                </a:solidFill>
                <a:latin typeface="Noto Sans SC"/>
                <a:ea typeface="Noto Sans SC"/>
                <a:cs typeface="Noto Sans SC"/>
              </a:rPr>
              <a:t>措施1</a:t>
            </a:r>
          </a:p>
        </p:txBody>
        <p:extLst>
          <p:ext uri="http://schemas.baidu.com/office/drawing/2023/templateData">
            <bd:templateData xmlns:bd="http://schemas.baidu.com/office/drawing/2023/templateData">eyJ0YWciOiJub0VkaXQifQ==</bd:templateData>
          </p:ext>
        </p:extLst>
      </p:sp>
      <p:sp>
        <p:nvSpPr>
          <p:cNvPr id="55" name="AutoShape 55"/>
          <p:cNvSpPr/>
          <p:nvPr/>
        </p:nvSpPr>
        <p:spPr>
          <a:xfrm rot="0">
            <a:off x="8963787" y="1882616"/>
            <a:ext cx="218694" cy="218694"/>
          </a:xfrm>
          <a:prstGeom prst="ellipse">
            <a:avLst/>
          </a:pr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56" name="Freeform 56"/>
          <p:cNvSpPr/>
          <p:nvPr/>
        </p:nvSpPr>
        <p:spPr>
          <a:xfrm rot="2700000">
            <a:off x="9047036" y="1927670"/>
            <a:ext cx="57245" cy="98108"/>
          </a:xfrm>
          <a:custGeom>
            <a:avLst/>
            <a:gdLst/>
            <a:ahLst/>
            <a:cxnLst/>
            <a:rect b="b" l="l" r="r" t="t"/>
            <a:pathLst>
              <a:path h="415436" w="218174">
                <a:moveTo>
                  <a:pt x="218174" y="0"/>
                </a:moveTo>
                <a:lnTo>
                  <a:pt x="218174" y="415436"/>
                </a:lnTo>
                <a:lnTo>
                  <a:pt x="0" y="415436"/>
                </a:lnTo>
              </a:path>
            </a:pathLst>
          </a:custGeom>
          <a:noFill/>
          <a:ln w="38100">
            <a:solidFill>
              <a:schemeClr val="accent3">
                <a:alpha val="100000"/>
              </a:schemeClr>
            </a:solidFill>
            <a:prstDash val="solid"/>
          </a:ln>
        </p:spPr>
        <p:extLst>
          <p:ext uri="http://schemas.baidu.com/office/drawing/2023/templateData">
            <bd:templateData xmlns:bd="http://schemas.baidu.com/office/drawing/2023/templateData">eyJ0YWciOiJub0VkaXQifQ==</bd:templateData>
          </p:ext>
        </p:extLst>
      </p:sp>
      <p:sp>
        <p:nvSpPr>
          <p:cNvPr id="57" name="AutoShape 57"/>
          <p:cNvSpPr/>
          <p:nvPr/>
        </p:nvSpPr>
        <p:spPr>
          <a:xfrm rot="0">
            <a:off x="8922258" y="2600230"/>
            <a:ext cx="1548560" cy="285369"/>
          </a:xfrm>
          <a:prstGeom prst="roundRect">
            <a:avLst>
              <a:gd fmla="val 50000" name="adj"/>
            </a:avLst>
          </a:prstGeom>
          <a:solidFill>
            <a:schemeClr val="accent3">
              <a:alpha val="100000"/>
            </a:schemeClr>
          </a:solidFill>
          <a:ln/>
        </p:spPr>
        <p:extLst>
          <p:ext uri="http://schemas.baidu.com/office/drawing/2023/templateData">
            <bd:templateData xmlns:bd="http://schemas.baidu.com/office/drawing/2023/templateData">eyJ0YWciOiJub0VkaXQifQ==</bd:templateData>
          </p:ext>
        </p:extLst>
      </p:sp>
      <p:sp>
        <p:nvSpPr>
          <p:cNvPr id="58" name="TextBox 58"/>
          <p:cNvSpPr txBox="1"/>
          <p:nvPr/>
        </p:nvSpPr>
        <p:spPr>
          <a:xfrm rot="0">
            <a:off x="9248775" y="2656237"/>
            <a:ext cx="1095375" cy="200025"/>
          </a:xfrm>
          <a:prstGeom prst="rect">
            <a:avLst/>
          </a:prstGeom>
          <a:noFill/>
          <a:ln/>
        </p:spPr>
        <p:txBody>
          <a:bodyPr anchor="t" anchorCtr="0" bIns="0" lIns="0" rIns="0" rtlCol="0" tIns="0" vert="horz" wrap="none">
            <a:spAutoFit/>
          </a:bodyPr>
          <a:lstStyle/>
          <a:p>
            <a:pPr algn="ctr">
              <a:lnSpc>
                <a:spcPct val="100000"/>
              </a:lnSpc>
              <a:spcBef>
                <a:spcPct val="0"/>
              </a:spcBef>
            </a:pPr>
            <a:r>
              <a:rPr lang="en-US" sz="1200">
                <a:solidFill>
                  <a:srgbClr val="FBF9F9">
                    <a:alpha val="100000"/>
                  </a:srgbClr>
                </a:solidFill>
                <a:latin typeface="Noto Sans SC"/>
                <a:ea typeface="Noto Sans SC"/>
                <a:cs typeface="Noto Sans SC"/>
              </a:rPr>
              <a:t>措施2</a:t>
            </a:r>
          </a:p>
        </p:txBody>
        <p:extLst>
          <p:ext uri="http://schemas.baidu.com/office/drawing/2023/templateData">
            <bd:templateData xmlns:bd="http://schemas.baidu.com/office/drawing/2023/templateData">eyJ0YWciOiJub0VkaXQifQ==</bd:templateData>
          </p:ext>
        </p:extLst>
      </p:sp>
      <p:sp>
        <p:nvSpPr>
          <p:cNvPr id="59" name="AutoShape 59"/>
          <p:cNvSpPr/>
          <p:nvPr/>
        </p:nvSpPr>
        <p:spPr>
          <a:xfrm rot="0">
            <a:off x="8963787" y="2633663"/>
            <a:ext cx="218694" cy="218694"/>
          </a:xfrm>
          <a:prstGeom prst="ellipse">
            <a:avLst/>
          </a:prstGeom>
          <a:solidFill>
            <a:srgbClr val="FFFFFF">
              <a:alpha val="100000"/>
            </a:srgbClr>
          </a:solidFill>
          <a:ln/>
        </p:spPr>
        <p:extLst>
          <p:ext uri="http://schemas.baidu.com/office/drawing/2023/templateData">
            <bd:templateData xmlns:bd="http://schemas.baidu.com/office/drawing/2023/templateData">eyJ0YWciOiJub0VkaXQifQ==</bd:templateData>
          </p:ext>
        </p:extLst>
      </p:sp>
      <p:sp>
        <p:nvSpPr>
          <p:cNvPr id="60" name="Freeform 60"/>
          <p:cNvSpPr/>
          <p:nvPr/>
        </p:nvSpPr>
        <p:spPr>
          <a:xfrm rot="2700000">
            <a:off x="9047036" y="2678716"/>
            <a:ext cx="57245" cy="98108"/>
          </a:xfrm>
          <a:custGeom>
            <a:avLst/>
            <a:gdLst/>
            <a:ahLst/>
            <a:cxnLst/>
            <a:rect b="b" l="l" r="r" t="t"/>
            <a:pathLst>
              <a:path h="415436" w="218174">
                <a:moveTo>
                  <a:pt x="218174" y="0"/>
                </a:moveTo>
                <a:lnTo>
                  <a:pt x="218174" y="415436"/>
                </a:lnTo>
                <a:lnTo>
                  <a:pt x="0" y="415436"/>
                </a:lnTo>
              </a:path>
            </a:pathLst>
          </a:custGeom>
          <a:noFill/>
          <a:ln w="38100">
            <a:solidFill>
              <a:schemeClr val="accent3">
                <a:alpha val="100000"/>
              </a:schemeClr>
            </a:solidFill>
            <a:prstDash val="solid"/>
          </a:ln>
        </p:spPr>
        <p:extLst>
          <p:ext uri="http://schemas.baidu.com/office/drawing/2023/templateData">
            <bd:templateData xmlns:bd="http://schemas.baidu.com/office/drawing/2023/templateData">eyJ0YWciOiJub0VkaXQifQ==</bd:templateData>
          </p:ext>
        </p:extLst>
      </p:sp>
    </p:spTree>
  </p:cSld>
  <p:clrMapOvr>
    <a:masterClrMapping/>
  </p:clrMapOvr>
  <p:extLst>
    <p:ext uri="http://schemas.baidu.com/office/drawing/2023/templateData">
      <bd:templateData xmlns:bd="http://schemas.baidu.com/office/drawing/2023/templateData">eyJtZCI6IiMjIOaAu+e7k+S4juWxleacm1xuIyMjIOacquadpeaUuei/m+aWueWQkSIsInRwbGlkIjoiNjgiLCJ0cGxOYW1lIjoidGl0bGVHcmFwaF9wcm8yMiIsImVkaXRlZCI6ImZhbHNlIn0=</bd:templateData>
    </p:ext>
  </p:extLst>
</p:sld>
</file>

<file path=ppt/slides/slide25.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1297192" y="1308287"/>
            <a:ext cx="4348638" cy="60579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可持续发展机制</a:t>
            </a:r>
          </a:p>
        </p:txBody>
        <p:extLst>
          <p:ext uri="http://schemas.baidu.com/office/drawing/2023/templateData">
            <bd:templateData xmlns:bd="http://schemas.baidu.com/office/drawing/2023/templateData">eyJfdGVtcGxhdGVEYXRhIjp7ImNvbnRlbnRUeXBlIjoiJGl0ZW0xX3RpdGxlIiwibGluZUNvdW50IjoiMSIsIndvcmRDb3VudCI6IjE1In0sInRhZyI6IiRpdGVtMV90aXRsZSJ9</bd:templateData>
          </p:ext>
        </p:extLst>
      </p:sp>
      <p:sp>
        <p:nvSpPr>
          <p:cNvPr id="3" name="TextBox 3"/>
          <p:cNvSpPr txBox="1"/>
          <p:nvPr/>
        </p:nvSpPr>
        <p:spPr>
          <a:xfrm rot="0">
            <a:off x="6865764" y="1308287"/>
            <a:ext cx="4493572" cy="60579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商业协作范式革新</a:t>
            </a:r>
          </a:p>
        </p:txBody>
        <p:extLst>
          <p:ext uri="http://schemas.baidu.com/office/drawing/2023/templateData">
            <bd:templateData xmlns:bd="http://schemas.baidu.com/office/drawing/2023/templateData">eyJfdGVtcGxhdGVEYXRhIjp7ImNvbnRlbnRUeXBlIjoiJGl0ZW00X3RpdGxlIiwibGluZUNvdW50IjoiMSIsIndvcmRDb3VudCI6IjE1In0sInRhZyI6IiRpdGVtNF90aXRsZSJ9</bd:templateData>
          </p:ext>
        </p:extLst>
      </p:sp>
      <p:sp>
        <p:nvSpPr>
          <p:cNvPr id="4" name="TextBox 4"/>
          <p:cNvSpPr txBox="1"/>
          <p:nvPr/>
        </p:nvSpPr>
        <p:spPr>
          <a:xfrm rot="0">
            <a:off x="6865764" y="4000377"/>
            <a:ext cx="4493572" cy="60579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社区健康诊断</a:t>
            </a:r>
          </a:p>
        </p:txBody>
        <p:extLst>
          <p:ext uri="http://schemas.baidu.com/office/drawing/2023/templateData">
            <bd:templateData xmlns:bd="http://schemas.baidu.com/office/drawing/2023/templateData">eyJfdGVtcGxhdGVEYXRhIjp7ImNvbnRlbnRUeXBlIjoiJGl0ZW01X3RpdGxlIiwibGluZUNvdW50IjoiMSIsIndvcmRDb3VudCI6IjE1In0sInRhZyI6IiRpdGVtNV90aXRsZSJ9</bd:templateData>
          </p:ext>
        </p:extLst>
      </p:sp>
      <p:sp>
        <p:nvSpPr>
          <p:cNvPr id="5" name="TextBox 5"/>
          <p:cNvSpPr txBox="1"/>
          <p:nvPr/>
        </p:nvSpPr>
        <p:spPr>
          <a:xfrm rot="0">
            <a:off x="1297192" y="4762018"/>
            <a:ext cx="4414526" cy="62484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技术民主化加速</a:t>
            </a:r>
          </a:p>
        </p:txBody>
        <p:extLst>
          <p:ext uri="http://schemas.baidu.com/office/drawing/2023/templateData">
            <bd:templateData xmlns:bd="http://schemas.baidu.com/office/drawing/2023/templateData">eyJfdGVtcGxhdGVEYXRhIjp7ImNvbnRlbnRUeXBlIjoiJGl0ZW0zX3RpdGxlIiwibGluZUNvdW50IjoiMSIsIndvcmRDb3VudCI6IjE1In0sInRhZyI6IiRpdGVtM190aXRsZSJ9</bd:templateData>
          </p:ext>
        </p:extLst>
      </p:sp>
      <p:sp>
        <p:nvSpPr>
          <p:cNvPr id="6" name="TextBox 6"/>
          <p:cNvSpPr txBox="1"/>
          <p:nvPr/>
        </p:nvSpPr>
        <p:spPr>
          <a:xfrm rot="0">
            <a:off x="1297192" y="3025846"/>
            <a:ext cx="4348638" cy="605790"/>
          </a:xfrm>
          <a:prstGeom prst="rect">
            <a:avLst/>
          </a:prstGeom>
          <a:ln/>
        </p:spPr>
        <p:txBody>
          <a:bodyPr anchor="ctr" anchorCtr="0" bIns="123825" lIns="123825" rIns="57150" rtlCol="0" tIns="123825" vert="horz" wrap="square">
            <a:noAutofit/>
          </a:bodyPr>
          <a:lstStyle/>
          <a:p>
            <a:pPr>
              <a:lnSpc>
                <a:spcPct val="120000"/>
              </a:lnSpc>
              <a:spcBef>
                <a:spcPts val="450"/>
              </a:spcBef>
            </a:pPr>
            <a:r>
              <a:rPr b="1" lang="en-US" sz="2000">
                <a:solidFill>
                  <a:schemeClr val="accent1">
                    <a:alpha val="100000"/>
                  </a:schemeClr>
                </a:solidFill>
                <a:latin typeface="Noto Sans SC"/>
                <a:ea typeface="Noto Sans SC"/>
                <a:cs typeface="Noto Sans SC"/>
              </a:rPr>
              <a:t>人才流动促进</a:t>
            </a:r>
          </a:p>
        </p:txBody>
        <p:extLst>
          <p:ext uri="http://schemas.baidu.com/office/drawing/2023/templateData">
            <bd:templateData xmlns:bd="http://schemas.baidu.com/office/drawing/2023/templateData">eyJfdGVtcGxhdGVEYXRhIjp7ImNvbnRlbnRUeXBlIjoiJGl0ZW0yX3RpdGxlIiwibGluZUNvdW50IjoiMSIsIndvcmRDb3VudCI6IjE1In0sInRhZyI6IiRpdGVtMl90aXRsZSJ9</bd:templateData>
          </p:ext>
        </p:extLst>
      </p:sp>
      <p:grpSp>
        <p:nvGrpSpPr>
          <p:cNvPr id="7" name="Group 7"/>
          <p:cNvGrpSpPr/>
          <p:nvPr/>
        </p:nvGrpSpPr>
        <p:grpSpPr>
          <a:xfrm rot="0">
            <a:off x="839115" y="1512589"/>
            <a:ext cx="197186" cy="5357334"/>
            <a:chOff x="839115" y="1512589"/>
            <a:chExt cx="197186" cy="5357334"/>
          </a:xfrm>
        </p:grpSpPr>
        <p:sp>
          <p:nvSpPr>
            <p:cNvPr id="8" name="AutoShape 8"/>
            <p:cNvSpPr/>
            <p:nvPr/>
          </p:nvSpPr>
          <p:spPr>
            <a:xfrm rot="0">
              <a:off x="839115" y="1512589"/>
              <a:ext cx="197186" cy="197186"/>
            </a:xfrm>
            <a:prstGeom prst="ellipse">
              <a:avLst/>
            </a:prstGeom>
            <a:solidFill>
              <a:schemeClr val="accent1">
                <a:alpha val="100000"/>
              </a:schemeClr>
            </a:solidFill>
            <a:ln/>
          </p:spPr>
        </p:sp>
        <p:sp>
          <p:nvSpPr>
            <p:cNvPr id="9" name="AutoShape 9"/>
            <p:cNvSpPr/>
            <p:nvPr/>
          </p:nvSpPr>
          <p:spPr>
            <a:xfrm rot="0">
              <a:off x="839115" y="3230148"/>
              <a:ext cx="197186" cy="197186"/>
            </a:xfrm>
            <a:prstGeom prst="ellipse">
              <a:avLst/>
            </a:prstGeom>
            <a:solidFill>
              <a:schemeClr val="accent1">
                <a:alpha val="100000"/>
              </a:schemeClr>
            </a:solidFill>
            <a:ln/>
          </p:spPr>
        </p:sp>
        <p:sp>
          <p:nvSpPr>
            <p:cNvPr id="10" name="AutoShape 10"/>
            <p:cNvSpPr/>
            <p:nvPr/>
          </p:nvSpPr>
          <p:spPr>
            <a:xfrm rot="0">
              <a:off x="839115" y="4975845"/>
              <a:ext cx="197186" cy="197186"/>
            </a:xfrm>
            <a:prstGeom prst="ellipse">
              <a:avLst/>
            </a:prstGeom>
            <a:solidFill>
              <a:schemeClr val="accent1">
                <a:alpha val="100000"/>
              </a:schemeClr>
            </a:solidFill>
            <a:ln/>
          </p:spPr>
        </p:sp>
        <p:cxnSp>
          <p:nvCxnSpPr>
            <p:cNvPr id="11" name="Connector 11"/>
            <p:cNvCxnSpPr/>
            <p:nvPr/>
          </p:nvCxnSpPr>
          <p:spPr>
            <a:xfrm>
              <a:off x="937708" y="1624780"/>
              <a:ext cx="0" cy="5245143"/>
            </a:xfrm>
            <a:prstGeom prst="line">
              <a:avLst/>
            </a:prstGeom>
            <a:ln w="1905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grpSp>
      <p:sp>
        <p:nvSpPr>
          <p:cNvPr id="12" name="TextBox 12"/>
          <p:cNvSpPr txBox="1"/>
          <p:nvPr/>
        </p:nvSpPr>
        <p:spPr>
          <a:xfrm rot="0">
            <a:off x="476023" y="265328"/>
            <a:ext cx="11239500" cy="914400"/>
          </a:xfrm>
          <a:prstGeom prst="rect">
            <a:avLst/>
          </a:prstGeom>
          <a:ln/>
        </p:spPr>
        <p:txBody>
          <a:bodyPr anchor="ctr" anchorCtr="0" bIns="123825" lIns="123825" rIns="57150" rtlCol="0" tIns="123825" vert="horz" wrap="square">
            <a:noAutofit/>
          </a:bodyPr>
          <a:lstStyle/>
          <a:p>
            <a:pPr>
              <a:lnSpc>
                <a:spcPct val="140000"/>
              </a:lnSpc>
            </a:pPr>
            <a:r>
              <a:rPr b="1" lang="en-US" sz="3000">
                <a:solidFill>
                  <a:schemeClr val="dk2">
                    <a:alpha val="100000"/>
                  </a:schemeClr>
                </a:solidFill>
                <a:latin typeface="Noto Sans SC"/>
                <a:ea typeface="Noto Sans SC"/>
                <a:cs typeface="Noto Sans SC"/>
              </a:rPr>
              <a:t>开源生态长期价值</a:t>
            </a:r>
          </a:p>
        </p:txBody>
        <p:extLst>
          <p:ext uri="http://schemas.baidu.com/office/drawing/2023/templateData">
            <bd:templateData xmlns:bd="http://schemas.baidu.com/office/drawing/2023/templateData">eyJfdGVtcGxhdGVEYXRhIjp7ImNvbnRlbnRUeXBlIjoiJHRpdGxlIiwibGluZUNvdW50IjoiMSIsIndvcmRDb3VudCI6IjI4In0sInRhZyI6IiR0aXRsZSJ9</bd:templateData>
          </p:ext>
        </p:extLst>
      </p:sp>
      <p:sp>
        <p:nvSpPr>
          <p:cNvPr id="13" name="AutoShape 13"/>
          <p:cNvSpPr/>
          <p:nvPr/>
        </p:nvSpPr>
        <p:spPr>
          <a:xfrm rot="0">
            <a:off x="6455568" y="1512589"/>
            <a:ext cx="197186" cy="19718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sp>
        <p:nvSpPr>
          <p:cNvPr id="14" name="AutoShape 14"/>
          <p:cNvSpPr/>
          <p:nvPr/>
        </p:nvSpPr>
        <p:spPr>
          <a:xfrm rot="0">
            <a:off x="6455568" y="4241491"/>
            <a:ext cx="197186" cy="197186"/>
          </a:xfrm>
          <a:prstGeom prst="ellipse">
            <a:avLst/>
          </a:prstGeom>
          <a:solidFill>
            <a:schemeClr val="accent1">
              <a:alpha val="100000"/>
            </a:schemeClr>
          </a:solidFill>
          <a:ln/>
        </p:spPr>
        <p:extLst>
          <p:ext uri="http://schemas.baidu.com/office/drawing/2023/templateData">
            <bd:templateData xmlns:bd="http://schemas.baidu.com/office/drawing/2023/templateData">eyJ0YWciOiJub0VkaXQifQ==</bd:templateData>
          </p:ext>
        </p:extLst>
      </p:sp>
      <p:cxnSp>
        <p:nvCxnSpPr>
          <p:cNvPr id="15" name="Connector 15"/>
          <p:cNvCxnSpPr/>
          <p:nvPr/>
        </p:nvCxnSpPr>
        <p:spPr>
          <a:xfrm>
            <a:off x="6554162" y="1670999"/>
            <a:ext cx="0" cy="5208748"/>
          </a:xfrm>
          <a:prstGeom prst="line">
            <a:avLst/>
          </a:prstGeom>
          <a:ln w="1905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extLst>
          <p:ext uri="http://schemas.baidu.com/office/drawing/2023/templateData">
            <bd:templateData xmlns:bd="http://schemas.baidu.com/office/drawing/2023/templateData">eyJ0YWciOiJub0VkaXQifQ==</bd:templateData>
          </p:ext>
        </p:extLst>
      </p:cxnSp>
      <p:sp>
        <p:nvSpPr>
          <p:cNvPr id="16" name="TextBox 16"/>
          <p:cNvSpPr txBox="1"/>
          <p:nvPr/>
        </p:nvSpPr>
        <p:spPr>
          <a:xfrm rot="0">
            <a:off x="1297192" y="1804349"/>
            <a:ext cx="4486656" cy="1203960"/>
          </a:xfrm>
          <a:prstGeom prst="rect">
            <a:avLst/>
          </a:prstGeom>
          <a:ln/>
        </p:spPr>
        <p:txBody>
          <a:bodyPr anchor="t" anchorCtr="0" bIns="0" lIns="123825" rIns="57150" rtlCol="0" tIns="0" vert="horz" wrap="square">
            <a:noAutofit/>
          </a:bodyPr>
          <a:lstStyle/>
          <a:p>
            <a:pPr>
              <a:lnSpc>
                <a:spcPct val="140000"/>
              </a:lnSpc>
            </a:pPr>
            <a:r>
              <a:rPr lang="en-US" sz="1500">
                <a:solidFill>
                  <a:schemeClr val="dk1">
                    <a:alpha val="100000"/>
                  </a:schemeClr>
                </a:solidFill>
                <a:latin typeface="Noto Sans SC"/>
                <a:ea typeface="Noto Sans SC"/>
                <a:cs typeface="Noto Sans SC"/>
              </a:rPr>
              <a:t>通过精准识别高价值贡献者，帮助基金会和企业制定更合理的资源分配策略，延长项目生命周期。</a:t>
            </a:r>
          </a:p>
        </p:txBody>
        <p:extLst>
          <p:ext uri="http://schemas.baidu.com/office/drawing/2023/templateData">
            <bd:templateData xmlns:bd="http://schemas.baidu.com/office/drawing/2023/templateData">eyJfdGVtcGxhdGVEYXRhIjp7ImNvbnRlbnRUeXBlIjoiJGl0ZW0xX2MiLCJsaW5lQ291bnQiOiIzIiwid29yZENvdW50IjoiMjEifSwidGFnIjoiJGl0ZW0xX2MifQ==</bd:templateData>
          </p:ext>
        </p:extLst>
      </p:sp>
      <p:sp>
        <p:nvSpPr>
          <p:cNvPr id="17" name="TextBox 17"/>
          <p:cNvSpPr txBox="1"/>
          <p:nvPr/>
        </p:nvSpPr>
        <p:spPr>
          <a:xfrm rot="0">
            <a:off x="1297192" y="3543470"/>
            <a:ext cx="4486275" cy="1152525"/>
          </a:xfrm>
          <a:prstGeom prst="rect">
            <a:avLst/>
          </a:prstGeom>
          <a:ln/>
        </p:spPr>
        <p:txBody>
          <a:bodyPr anchor="t" anchorCtr="0" bIns="0" lIns="123825" rIns="57150" rtlCol="0" tIns="0" vert="horz" wrap="square">
            <a:noAutofit/>
          </a:bodyPr>
          <a:lstStyle/>
          <a:p>
            <a:pPr>
              <a:lnSpc>
                <a:spcPct val="140000"/>
              </a:lnSpc>
            </a:pPr>
            <a:r>
              <a:rPr lang="en-US" sz="1500">
                <a:solidFill>
                  <a:schemeClr val="dk1">
                    <a:alpha val="100000"/>
                  </a:schemeClr>
                </a:solidFill>
                <a:latin typeface="Noto Sans SC"/>
                <a:ea typeface="Noto Sans SC"/>
                <a:cs typeface="Noto Sans SC"/>
              </a:rPr>
              <a:t>建立开发者能力认证体系，使开源贡献成为技术人才职业发展的重要可信凭证。</a:t>
            </a:r>
          </a:p>
        </p:txBody>
        <p:extLst>
          <p:ext uri="http://schemas.baidu.com/office/drawing/2023/templateData">
            <bd:templateData xmlns:bd="http://schemas.baidu.com/office/drawing/2023/templateData">eyJfdGVtcGxhdGVEYXRhIjp7ImNvbnRlbnRUeXBlIjoiJGl0ZW0yX2MiLCJsaW5lQ291bnQiOiIzIiwid29yZENvdW50IjoiMjEifSwidGFnIjoiJGl0ZW0yX2MifQ==</bd:templateData>
          </p:ext>
        </p:extLst>
      </p:sp>
      <p:sp>
        <p:nvSpPr>
          <p:cNvPr id="18" name="TextBox 18"/>
          <p:cNvSpPr txBox="1"/>
          <p:nvPr/>
        </p:nvSpPr>
        <p:spPr>
          <a:xfrm rot="0">
            <a:off x="1297192" y="5282464"/>
            <a:ext cx="4486275" cy="1152525"/>
          </a:xfrm>
          <a:prstGeom prst="rect">
            <a:avLst/>
          </a:prstGeom>
          <a:ln/>
        </p:spPr>
        <p:txBody>
          <a:bodyPr anchor="t" anchorCtr="0" bIns="0" lIns="123825" rIns="57150" rtlCol="0" tIns="0" vert="horz" wrap="square">
            <a:noAutofit/>
          </a:bodyPr>
          <a:lstStyle/>
          <a:p>
            <a:pPr>
              <a:lnSpc>
                <a:spcPct val="140000"/>
              </a:lnSpc>
            </a:pPr>
            <a:r>
              <a:rPr lang="en-US" sz="1500">
                <a:solidFill>
                  <a:schemeClr val="dk1">
                    <a:alpha val="100000"/>
                  </a:schemeClr>
                </a:solidFill>
                <a:latin typeface="Noto Sans SC"/>
                <a:ea typeface="Noto Sans SC"/>
                <a:cs typeface="Noto Sans SC"/>
              </a:rPr>
              <a:t>降低优质开源项目的参与门槛，推动前沿技术（如AI、区块链）的快速普及和迭代。</a:t>
            </a:r>
          </a:p>
        </p:txBody>
        <p:extLst>
          <p:ext uri="http://schemas.baidu.com/office/drawing/2023/templateData">
            <bd:templateData xmlns:bd="http://schemas.baidu.com/office/drawing/2023/templateData">eyJfdGVtcGxhdGVEYXRhIjp7ImNvbnRlbnRUeXBlIjoiJGl0ZW0zX2MiLCJsaW5lQ291bnQiOiIzIiwid29yZENvdW50IjoiMjEifSwidGFnIjoiJGl0ZW0zX2MifQ==</bd:templateData>
          </p:ext>
        </p:extLst>
      </p:sp>
      <p:sp>
        <p:nvSpPr>
          <p:cNvPr id="19" name="TextBox 19"/>
          <p:cNvSpPr txBox="1"/>
          <p:nvPr/>
        </p:nvSpPr>
        <p:spPr>
          <a:xfrm rot="0">
            <a:off x="6865764" y="1804349"/>
            <a:ext cx="4486275" cy="1152525"/>
          </a:xfrm>
          <a:prstGeom prst="rect">
            <a:avLst/>
          </a:prstGeom>
          <a:ln/>
        </p:spPr>
        <p:txBody>
          <a:bodyPr anchor="t" anchorCtr="0" bIns="0" lIns="123825" rIns="57150" rtlCol="0" tIns="0" vert="horz" wrap="square">
            <a:noAutofit/>
          </a:bodyPr>
          <a:lstStyle/>
          <a:p>
            <a:pPr>
              <a:lnSpc>
                <a:spcPct val="140000"/>
              </a:lnSpc>
            </a:pPr>
            <a:r>
              <a:rPr lang="en-US" sz="1500">
                <a:solidFill>
                  <a:schemeClr val="dk1">
                    <a:alpha val="100000"/>
                  </a:schemeClr>
                </a:solidFill>
                <a:latin typeface="Noto Sans SC"/>
                <a:ea typeface="Noto Sans SC"/>
                <a:cs typeface="Noto Sans SC"/>
              </a:rPr>
              <a:t>为企业提供科学的开源参与ROI分析工具，促进更多跨组织协同开发模式的诞生。</a:t>
            </a:r>
          </a:p>
        </p:txBody>
        <p:extLst>
          <p:ext uri="http://schemas.baidu.com/office/drawing/2023/templateData">
            <bd:templateData xmlns:bd="http://schemas.baidu.com/office/drawing/2023/templateData">eyJfdGVtcGxhdGVEYXRhIjp7ImNvbnRlbnRUeXBlIjoiJGl0ZW00X2MiLCJsaW5lQ291bnQiOiIzIiwid29yZENvdW50IjoiMjEifSwidGFnIjoiJGl0ZW00X2MifQ==</bd:templateData>
          </p:ext>
        </p:extLst>
      </p:sp>
      <p:sp>
        <p:nvSpPr>
          <p:cNvPr id="20" name="TextBox 20"/>
          <p:cNvSpPr txBox="1"/>
          <p:nvPr/>
        </p:nvSpPr>
        <p:spPr>
          <a:xfrm rot="0">
            <a:off x="6865764" y="4518000"/>
            <a:ext cx="4486275" cy="1152525"/>
          </a:xfrm>
          <a:prstGeom prst="rect">
            <a:avLst/>
          </a:prstGeom>
          <a:ln/>
        </p:spPr>
        <p:txBody>
          <a:bodyPr anchor="t" anchorCtr="0" bIns="0" lIns="123825" rIns="57150" rtlCol="0" tIns="0" vert="horz" wrap="square">
            <a:noAutofit/>
          </a:bodyPr>
          <a:lstStyle/>
          <a:p>
            <a:pPr>
              <a:lnSpc>
                <a:spcPct val="140000"/>
              </a:lnSpc>
            </a:pPr>
            <a:r>
              <a:rPr lang="en-US" sz="1500">
                <a:solidFill>
                  <a:schemeClr val="dk1">
                    <a:alpha val="100000"/>
                  </a:schemeClr>
                </a:solidFill>
                <a:latin typeface="Noto Sans SC"/>
                <a:ea typeface="Noto Sans SC"/>
                <a:cs typeface="Noto Sans SC"/>
              </a:rPr>
              <a:t>持续监测社区多样性、新人留存率等指标，预警潜在的中心化风险或人才断层危机。</a:t>
            </a:r>
          </a:p>
        </p:txBody>
        <p:extLst>
          <p:ext uri="http://schemas.baidu.com/office/drawing/2023/templateData">
            <bd:templateData xmlns:bd="http://schemas.baidu.com/office/drawing/2023/templateData">eyJfdGVtcGxhdGVEYXRhIjp7ImNvbnRlbnRUeXBlIjoiJGl0ZW01X2MiLCJsaW5lQ291bnQiOiIzIiwid29yZENvdW50IjoiMjEifSwidGFnIjoiJGl0ZW01X2MifQ==</bd:templateData>
          </p:ext>
        </p:extLst>
      </p:sp>
    </p:spTree>
  </p:cSld>
  <p:clrMapOvr>
    <a:masterClrMapping/>
  </p:clrMapOvr>
  <p:extLst>
    <p:ext uri="http://schemas.baidu.com/office/drawing/2023/templateData">
      <bd:templateData xmlns:bd="http://schemas.baidu.com/office/drawing/2023/templateData">eyJtZCI6IiMjIOW8gOa6kOeUn+aAgemVv+acn+S7t+WAvFxuIyMjIOWPr+aMgee7reWPkeWxleacuuWItlxu6YCa6L+H57K+5YeG6K+G5Yir6auY5Lu35YC86LSh54yu6ICF77yM5biu5Yqp5Z+66YeR5Lya5ZKM5LyB5Lia5Yi25a6a5pu05ZCI55CG55qE6LWE5rqQ5YiG6YWN562W55Wl77yM5bu26ZW/6aG555uu55Sf5ZG95ZGo5pyf44CCXG4jIyMg5Lq65omN5rWB5Yqo5L+D6L+bXG7lu7rnq4vlvIDlj5HogIXog73lipvorqTor4HkvZPns7vvvIzkvb/lvIDmupDotKHnjK7miJDkuLrmioDmnK/kurrmiY3ogYzkuJrlj5HlsZXnmoTph43opoHlj6/kv6Hlh63or4HjgIJcbiMjIyDmioDmnK/msJHkuLvljJbliqDpgJ9cbumZjeS9juS8mOi0qOW8gOa6kOmhueebrueahOWPguS4jumXqOanm++8jOaOqOWKqOWJjeayv+aKgOacr++8iOWmgkFJ44CB5Yy65Z2X6ZO+77yJ55qE5b+r6YCf5pmu5Y+K5ZKM6L+t5Luj44CCXG4jIyMg5ZWG5Lia5Y2P5L2c6IyD5byP6Z2p5pawXG7kuLrkvIHkuJrmj5Dkvpvnp5HlrabnmoTlvIDmupDlj4LkuI5ST0nliIbmnpDlt6XlhbfvvIzkv4Pov5vmm7TlpJrot6jnu4Tnu4fljY/lkIzlvIDlj5HmqKHlvI/nmoTor57nlJ/jgIJcbiMjIyDnpL7ljLrlgaXlurfor4rmlq1cbuaMgee7reebkea1i+ekvuWMuuWkmuagt+aAp+OAgeaWsOS6uueVmeWtmOeOh+etieaMh+agh++8jOmihOitpua9nOWcqOeahOS4reW/g+WMlumjjumZqeaIluS6uuaJjeaWreWxguWNseacuuOAgiIsInRwbGlkIjoiNjgiLCJ0cGxOYW1lIjoibGlzdDVfc2FtZVN0eWxlMHBpYzIiLCJlZGl0ZWQiOiJmYWxzZSJ9</bd:templateData>
    </p:ext>
  </p:extLst>
</p:sld>
</file>

<file path=ppt/slides/slide26.xml><?xml version="1.0" encoding="utf-8"?>
<p:sld xmlns:a="http://schemas.openxmlformats.org/drawingml/2006/main" xmlns:p="http://schemas.openxmlformats.org/presentationml/2006/main" xmlns:r="http://schemas.openxmlformats.org/officeDocument/2006/relationships">
  <p:cSld>
    <p:bg>
      <p:bgPr>
        <a:blipFill dpi="0" rotWithShape="1">
          <a:blip r:embed="rId2">
            <a:alphaModFix amt="100000"/>
          </a:blip>
          <a:srcRect/>
          <a:stretch>
            <a:fillRect b="0" l="0" r="0" t="0"/>
          </a:stretch>
        </a:blipFill>
      </p:bgPr>
    </p:bg>
    <p:spTree>
      <p:nvGrpSpPr>
        <p:cNvPr id="1" name=""/>
        <p:cNvGrpSpPr/>
        <p:nvPr/>
      </p:nvGrpSpPr>
      <p:grpSpPr>
        <a:xfrm>
          <a:off x="0" y="0"/>
          <a:ext cx="0" cy="0"/>
          <a:chOff x="0" y="0"/>
          <a:chExt cx="0" cy="0"/>
        </a:xfrm>
      </p:grpSpPr>
      <p:sp>
        <p:nvSpPr>
          <p:cNvPr id="2" name="TextBox 2"/>
          <p:cNvSpPr txBox="1"/>
          <p:nvPr/>
        </p:nvSpPr>
        <p:spPr>
          <a:xfrm rot="0">
            <a:off x="5266196" y="1968401"/>
            <a:ext cx="5779752" cy="1649151"/>
          </a:xfrm>
          <a:prstGeom prst="rect">
            <a:avLst/>
          </a:prstGeom>
          <a:ln/>
        </p:spPr>
        <p:txBody>
          <a:bodyPr anchor="ctr" anchorCtr="0" bIns="45720" lIns="91440" rIns="91440" rtlCol="0" tIns="45720" vert="horz" wrap="square">
            <a:normAutofit/>
          </a:bodyPr>
          <a:lstStyle/>
          <a:p>
            <a:pPr algn="r">
              <a:lnSpc>
                <a:spcPct val="96000"/>
              </a:lnSpc>
            </a:pPr>
            <a:r>
              <a:rPr b="1" lang="en-US" sz="9225">
                <a:solidFill>
                  <a:srgbClr val="152815">
                    <a:alpha val="100000"/>
                  </a:srgbClr>
                </a:solidFill>
                <a:latin typeface="Noto Sans SC"/>
                <a:ea typeface="Noto Sans SC"/>
                <a:cs typeface="Noto Sans SC"/>
              </a:rPr>
              <a:t>THANKS</a:t>
            </a:r>
          </a:p>
        </p:txBody>
        <p:extLst>
          <p:ext uri="http://schemas.baidu.com/office/drawing/2023/templateData">
            <bd:templateData xmlns:bd="http://schemas.baidu.com/office/drawing/2023/templateData">eyJfdGVtcGxhdGVEYXRhIjp7ImNvbnRlbnRUeXBlIjoiJGVuZGluZ18xIiwibGluZUNvdW50IjoiMSIsIndvcmRDb3VudCI6IjMifSwidGFnIjoibm9FZGl0In0=</bd:templateData>
          </p:ext>
        </p:extLst>
      </p:sp>
      <p:sp>
        <p:nvSpPr>
          <p:cNvPr id="3" name="TextBox 3"/>
          <p:cNvSpPr txBox="1"/>
          <p:nvPr/>
        </p:nvSpPr>
        <p:spPr>
          <a:xfrm rot="0">
            <a:off x="5266196" y="3555870"/>
            <a:ext cx="5779752" cy="716174"/>
          </a:xfrm>
          <a:prstGeom prst="rect">
            <a:avLst/>
          </a:prstGeom>
          <a:ln/>
        </p:spPr>
        <p:txBody>
          <a:bodyPr anchor="ctr" anchorCtr="0" bIns="45720" lIns="91440" rIns="91440" rtlCol="0" tIns="45720" vert="horz" wrap="square">
            <a:normAutofit/>
          </a:bodyPr>
          <a:lstStyle/>
          <a:p>
            <a:pPr algn="r">
              <a:lnSpc>
                <a:spcPct val="90000"/>
              </a:lnSpc>
            </a:pPr>
            <a:r>
              <a:rPr lang="en-US" sz="3000">
                <a:solidFill>
                  <a:srgbClr val="1ACA6E">
                    <a:alpha val="100000"/>
                  </a:srgbClr>
                </a:solidFill>
                <a:latin typeface="Noto Sans SC"/>
                <a:ea typeface="Noto Sans SC"/>
                <a:cs typeface="Noto Sans SC"/>
              </a:rPr>
              <a:t>感谢观看</a:t>
            </a:r>
          </a:p>
        </p:txBody>
        <p:extLst>
          <p:ext uri="http://schemas.baidu.com/office/drawing/2023/templateData">
            <bd:templateData xmlns:bd="http://schemas.baidu.com/office/drawing/2023/templateData">eyJfdGVtcGxhdGVEYXRhIjp7ImNvbnRlbnRUeXBlIjoiJGVuZGluZ18yIiwibGluZUNvdW50IjoiMSIsIndvcmRDb3VudCI6IjEzIn0sInRhZyI6Im5vRWRpdCJ9</bd:templateData>
          </p:ext>
        </p:extLst>
      </p:sp>
    </p:spTree>
  </p:cSld>
  <p:clrMapOvr>
    <a:masterClrMapping/>
  </p:clrMapOvr>
  <p:extLst>
    <p:ext uri="http://schemas.baidu.com/office/drawing/2023/templateData">
      <bd:templateData xmlns:bd="http://schemas.baidu.com/office/drawing/2023/templateData">eyJtZCI6IiIsInRwbGlkIjoiNjgiLCJ0cGxOYW1lIjoiZW5kXzY4Z2xhc3MiLCJlZGl0ZWQiOiJmYWxzZSJ9</bd:templateData>
    </p:ext>
  </p:extLst>
</p:sld>
</file>

<file path=ppt/theme/theme1.xml><?xml version="1.0" encoding="utf-8"?>
<a:theme xmlns:a="http://schemas.openxmlformats.org/drawingml/2006/main" name="Office 主题​​">
  <a:themeElements>
    <a:clrScheme name="Office">
      <a:dk1>
        <a:srgbClr val="152815"/>
      </a:dk1>
      <a:lt1>
        <a:srgbClr val="F9F9F9"/>
      </a:lt1>
      <a:dk2>
        <a:srgbClr val="152815"/>
      </a:dk2>
      <a:lt2>
        <a:srgbClr val="D9DEDA"/>
      </a:lt2>
      <a:accent1>
        <a:srgbClr val="1ACA6E"/>
      </a:accent1>
      <a:accent2>
        <a:srgbClr val="23CCAF"/>
      </a:accent2>
      <a:accent3>
        <a:srgbClr val="3BDB94"/>
      </a:accent3>
      <a:accent4>
        <a:srgbClr val="2ECBDA"/>
      </a:accent4>
      <a:accent5>
        <a:srgbClr val="90AC9D"/>
      </a:accent5>
      <a:accent6>
        <a:srgbClr val="2F572F"/>
      </a:accent6>
      <a:hlink>
        <a:srgbClr val="0563C1"/>
      </a:hlink>
      <a:folHlink>
        <a:srgbClr val="954F72"/>
      </a:folHlink>
    </a:clrScheme>
    <a:fontScheme name="Office">
      <a:majorFont>
        <a:latin panose="020F0302020204030204"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panose="020F0502020204030204"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algn="ctr" cap="flat" cmpd="sng" w="6350">
          <a:solidFill>
            <a:schemeClr val="phClr"/>
          </a:solidFill>
          <a:prstDash val="solid"/>
          <a:miter lim="800000"/>
        </a:ln>
        <a:ln algn="ctr" cap="flat" cmpd="sng" w="12700">
          <a:solidFill>
            <a:schemeClr val="phClr"/>
          </a:solidFill>
          <a:prstDash val="solid"/>
          <a:miter lim="800000"/>
        </a:ln>
        <a:ln algn="ctr" cap="flat" cmpd="sng" w="19050">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id="{62F939B6-93AF-4DB8-9C6B-D6C7DFDC589F}" name="Office Theme"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Macintosh PowerPoint</Application>
  <PresentationFormat>宽屏</PresentationFormat>
  <Paragraphs>0</Paragraphs>
  <Slides>0</Slides>
  <Notes>0</Notes>
  <HiddenSlides>0</HiddenSlides>
  <MMClips>0</MMClips>
  <ScaleCrop>false</ScaleCrop>
  <HeadingPairs>
    <vt:vector baseType="variant" size="6">
      <vt:variant>
        <vt:lpstr>已用的字体</vt:lpstr>
      </vt:variant>
      <vt:variant>
        <vt:i4>3</vt:i4>
      </vt:variant>
      <vt:variant>
        <vt:lpstr>主题</vt:lpstr>
      </vt:variant>
      <vt:variant>
        <vt:i4>1</vt:i4>
      </vt:variant>
      <vt:variant>
        <vt:lpstr>幻灯片标题</vt:lpstr>
      </vt:variant>
      <vt:variant>
        <vt:i4>0</vt:i4>
      </vt:variant>
    </vt:vector>
  </HeadingPairs>
  <TitlesOfParts>
    <vt:vector baseType="lpstr" size="4">
      <vt:lpstr>等线</vt:lpstr>
      <vt:lpstr>等线 Light</vt:lpstr>
      <vt:lpstr>Arial</vt:lpstr>
      <vt:lpstr>Office 主题​​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2025-10-20T11:38:53Z</dcterms:created>
  <dc:creator>zhangqishou</dc:creator>
  <cp:lastModifiedBy>zhangqishou</cp:lastModifiedBy>
  <dcterms:modified xsi:type="dcterms:W3CDTF">2025-10-20T12:04:35Z</dcterms:modified>
  <cp:revision>2</cp:revision>
  <dc:title>PowerPoint 演示文稿</dc:title>
</cp:coreProperties>
</file>

<file path=docProps/custom.xml><?xml version="1.0" encoding="utf-8"?>
<op:Properties xmlns:op="http://schemas.openxmlformats.org/officeDocument/2006/custom-properties" xmlns:vt="http://schemas.openxmlformats.org/officeDocument/2006/docPropsVTypes">
  <op:property fmtid="{D5CDD505-2E9C-101B-9397-08002B2CF9AE}" pid="2" name="AIGC">
    <vt:lpwstr>{"Label":"1","ContentProducer":"001191110000802100433B10001","ProduceID":"84c8426820a7e4da95a069aab48ae7a2_1766813035_6b76d0c1dca9bc38e41145cf25749054","ReservedCode1":"54049c4fa6de8d63af6e42b8a3ad4888bf6b309c83eb50e9a7fd4598de8345cf","ContentPropagator":"001191110000802100433B10001","PropagateID":"84c8426820a7e4da95a069aab48ae7a2_1766813035_6b76d0c1dca9bc38e41145cf25749054","ReservedCode2":"54049c4fa6de8d63af6e42b8a3ad4888bf6b309c83eb50e9a7fd4598de8345cf"}</vt:lpwstr>
  </op:property>
</op:Properties>
</file>